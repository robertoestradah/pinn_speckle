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78" r:id="rId3"/>
    <p:sldId id="283" r:id="rId4"/>
    <p:sldId id="279" r:id="rId5"/>
    <p:sldId id="280" r:id="rId6"/>
    <p:sldId id="281" r:id="rId7"/>
    <p:sldId id="259" r:id="rId8"/>
    <p:sldId id="287" r:id="rId9"/>
    <p:sldId id="258" r:id="rId10"/>
    <p:sldId id="260" r:id="rId11"/>
    <p:sldId id="261" r:id="rId12"/>
    <p:sldId id="262" r:id="rId13"/>
    <p:sldId id="277" r:id="rId14"/>
    <p:sldId id="289" r:id="rId15"/>
    <p:sldId id="290" r:id="rId16"/>
    <p:sldId id="263" r:id="rId17"/>
    <p:sldId id="275" r:id="rId18"/>
    <p:sldId id="264" r:id="rId19"/>
    <p:sldId id="276" r:id="rId20"/>
    <p:sldId id="265" r:id="rId21"/>
    <p:sldId id="274" r:id="rId22"/>
    <p:sldId id="272" r:id="rId23"/>
    <p:sldId id="273" r:id="rId24"/>
    <p:sldId id="266" r:id="rId25"/>
    <p:sldId id="267" r:id="rId26"/>
    <p:sldId id="268" r:id="rId27"/>
    <p:sldId id="269" r:id="rId28"/>
    <p:sldId id="270" r:id="rId29"/>
    <p:sldId id="288" r:id="rId30"/>
    <p:sldId id="271" r:id="rId31"/>
    <p:sldId id="284" r:id="rId32"/>
    <p:sldId id="285" r:id="rId33"/>
    <p:sldId id="286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643A"/>
    <a:srgbClr val="FF0000"/>
    <a:srgbClr val="6792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19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PORTADA - ~0:45 min</a:t>
            </a:r>
          </a:p>
          <a:p>
            <a:r>
              <a:t>Buenos dias. Mi nombre es Roberto Hernandez Estrada, alumno del programa de Maestria en Ciencias de la Computacion de la DACYTI-UJAT.</a:t>
            </a:r>
          </a:p>
          <a:p>
            <a:r>
              <a:t>Presento el segundo avance de mi tesis bajo la direccion del Dr. Hernandez Nolasco y codireccion del Dr. Chavez Bosquez.</a:t>
            </a:r>
          </a:p>
          <a:p>
            <a:r>
              <a:t>En los proximos 20 minutos: motivacion, metodologia y resultados de NB01 y NB02.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64BC-E6AC-D8D2-BC8C-E94FB6C5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A74D15-00AA-6CF3-38D6-E092DF3A0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2DB88-CEE6-4779-6E49-3985E3E33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- 0:30 min</a:t>
            </a:r>
          </a:p>
          <a:p>
            <a:r>
              <a:t>Estructura en tres bloques: contexto y teoria, dos experimentos con resultados, comparativa y proximos pasos.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763C2-AB9E-E7B1-C05D-130D693D5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36969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C2970-363B-3927-3124-027490021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1D7E7-D517-AD0F-16D3-FD2146733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6A813-B594-5574-E621-0BFCD002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- 0:30 min</a:t>
            </a:r>
          </a:p>
          <a:p>
            <a:r>
              <a:t>Estructura en tres bloques: contexto y teoria, dos experimentos con resultados, comparativa y proximos pasos.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71E18-606B-C2C5-0450-F6E1B8170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92027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6CED5-1111-FADC-F953-1855E32C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2594C-187F-1CE5-E8D7-03F34F891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50AEE-FC9D-CD1B-40AA-6AB5DF209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- 0:30 min</a:t>
            </a:r>
          </a:p>
          <a:p>
            <a:r>
              <a:t>Estructura en tres bloques: contexto y teoria, dos experimentos con resultados, comparativa y proximos pasos.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2DF2B-7752-F15B-1D97-1B3A8218F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019468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AE106-0696-2F94-3A59-555A795A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2E6648-F2D9-DD53-9027-CD488FD68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5A257-C190-06FB-818E-1DD2B1F1C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 - 0:30 min</a:t>
            </a:r>
          </a:p>
          <a:p>
            <a:r>
              <a:t>Estructura en tres bloques: contexto y teoria, dos experimentos con resultados, comparativa y proximos pasos.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AE7B2-B902-5CAB-E34D-A1EE91328F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8019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OBJETIVOS - 0:45 min</a:t>
            </a:r>
          </a:p>
          <a:p>
            <a:r>
              <a:t>El objetivo general es la PINN-SIREN para speckle. En este avance: NB01 y NB02 completados con margen amplio. NB03 es el siguiente paso inmediato.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649C5-503E-B3AE-1F15-8DDE394A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42DDA-B4E6-5E73-D46E-8F7ABFA1A1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B88F7-1F5D-21E3-404C-2734A9B66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OBJETIVOS - 0:45 min</a:t>
            </a:r>
          </a:p>
          <a:p>
            <a:r>
              <a:t>El objetivo general es la PINN-SIREN para speckle. En este avance: NB01 y NB02 completados con margen amplio. NB03 es el siguiente paso inmediato.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F6073-39EF-AA33-DAA0-22EF877CC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20002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MOTIVACION - 1:30 min</a:t>
            </a:r>
          </a:p>
          <a:p>
            <a:r>
              <a:t>El speckle optico aparece en aplicaciones criticas. El FEM es preciso pero muy costoso: malla sub-longitud-de-onda, millones de incognitas, y cada perfil de rugosidad exige resolver desde cero. Para estudios estadisticos esto es intratable.</a:t>
            </a:r>
          </a:p>
          <a:p>
            <a:r>
              <a:t>Propuesta: PINN libre de malla, evaluable en milisegundos una vez entrenada.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MARCO TEORICO - 1:30 min</a:t>
            </a:r>
          </a:p>
          <a:p>
            <a:r>
              <a:t>La fisica esta gobernada por la ecuacion de Helmholtz. Descomponemos el campo complejo en partes real e imaginaria.</a:t>
            </a:r>
          </a:p>
          <a:p>
            <a:r>
              <a:t>Para el speckle: el criterio de Goodman es el contraste C = 1. La condicion de frontera de fase aleatoria se implementara en NB03.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PINNS Y SIREN - 1:45 min</a:t>
            </a:r>
          </a:p>
          <a:p>
            <a:r>
              <a:t>Las PINNs minimizan la perdida combinando error en frontera + residuo de la EDP.</a:t>
            </a:r>
          </a:p>
          <a:p>
            <a:r>
              <a:t>SIREN resuelve el problema de derivadas de segundo orden y spectral bias de las activaciones estandar.</a:t>
            </a:r>
          </a:p>
          <a:p>
            <a:r>
              <a:t>ω₀ = 1.0 calibrado para nuestro dominio adimensional.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ARQUITECTURA - 1:30 min</a:t>
            </a:r>
          </a:p>
          <a:p>
            <a:r>
              <a:t>SIREN 5x128: 66,690 parametros. Entrada (x,y), salida (E_real, E_imag).</a:t>
            </a:r>
          </a:p>
          <a:p>
            <a:r>
              <a:t>LHS garantiza cobertura uniforme. Estrategia bifasica: Adam explora globalmente, L-BFGS refina con curvatura.</a:t>
            </a:r>
          </a:p>
          <a:p>
            <a:r>
              <a:t>λ_fis = 0.1 calibrado: λ=1.0 causa explosion de gradientes en float32.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NB01 - 2:00 min</a:t>
            </a:r>
          </a:p>
          <a:p>
            <a:r>
              <a:t>Validacion contra solucion analitica exacta cos(kx). La curva PINN y la exacta son visualmente indistinguibles.</a:t>
            </a:r>
          </a:p>
          <a:p>
            <a:r>
              <a:t>Error L2 = 0.006%: casi 3 ordenes de magnitud por debajo del umbral. R² = 1.000000. L-BFGS: 202 iter.</a:t>
            </a:r>
          </a:p>
          <a:p>
            <a:r>
              <a:t>Factor de mejora x415 respecto a Schoder &amp; Kraxberger (2024) con PINNs tanh.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F1502-91BA-5E5E-AA2F-3BFDC930E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D5C84-6CF4-1E5E-5088-718DC04D9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9BA91-427C-D70E-70DD-4FE0EF283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NB01 - 2:00 min</a:t>
            </a:r>
          </a:p>
          <a:p>
            <a:r>
              <a:t>Validacion contra solucion analitica exacta cos(kx). La curva PINN y la exacta son visualmente indistinguibles.</a:t>
            </a:r>
          </a:p>
          <a:p>
            <a:r>
              <a:t>Error L2 = 0.006%: casi 3 ordenes de magnitud por debajo del umbral. R² = 1.000000. L-BFGS: 202 iter.</a:t>
            </a:r>
          </a:p>
          <a:p>
            <a:r>
              <a:t>Factor de mejora x415 respecto a Schoder &amp; Kraxberger (2024) con PINNs tanh.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F820A-DAB0-0012-6AFD-39D0499BE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29486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NB01 METRICAS - 0:45 min</a:t>
            </a:r>
          </a:p>
          <a:p>
            <a:r>
              <a:t>Histograma: errores del orden de 10^{-5}. Error relativo: media 0.012%. Correlacion PINN vs Exacta: R2 = Pearson = 1.000000.</a:t>
            </a:r>
          </a:p>
          <a:p>
            <a:r>
              <a:t>Concluimos que la arquitectura y el protocolo son correctos. Procedemos con confianza al caso 2D.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2440A-F2BB-0717-F8B0-56121FD10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6DAD3-456A-4915-B231-DD5821CB9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8BFDB-8ECC-C14C-6609-86DD6FA6E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NB01 METRICAS - 0:45 min</a:t>
            </a:r>
          </a:p>
          <a:p>
            <a:r>
              <a:t>Histograma: errores del orden de 10^{-5}. Error relativo: media 0.012%. Correlacion PINN vs Exacta: R2 = Pearson = 1.000000.</a:t>
            </a:r>
          </a:p>
          <a:p>
            <a:r>
              <a:t>Concluimos que la arquitectura y el protocolo son correctos. Procedemos con confianza al caso 2D.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F1371-20AD-D556-BAC9-CA6EF9F712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060968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NB02 - 1:45 min</a:t>
            </a:r>
          </a:p>
          <a:p>
            <a:r>
              <a:t>Mapas de calor: E_real y E_imag. Solucion exacta (arriba) vs PINN (abajo): indistinguibles visualmente.</a:t>
            </a:r>
          </a:p>
          <a:p>
            <a:r>
              <a:t>Error L2 promedio 0.171%: mas de un orden por debajo del umbral. R² &gt; 0.9999. Tiempo: 299 s.</a:t>
            </a:r>
          </a:p>
          <a:p>
            <a:r>
              <a:t>Factor de mejora x11.2 vs Schoder &amp; Kraxberger. Ampliar de d=64 a d=128 fue determinante: 0.436% → 0.171%.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1BCD4-6044-05A8-ADCC-0D35BC2C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F7681-32AE-68FA-980D-87FF6BEEF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29C09-E872-C7DE-1CCE-0660A0C3D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NB02 - 1:45 min</a:t>
            </a:r>
          </a:p>
          <a:p>
            <a:r>
              <a:t>Mapas de calor: E_real y E_imag. Solucion exacta (arriba) vs PINN (abajo): indistinguibles visualmente.</a:t>
            </a:r>
          </a:p>
          <a:p>
            <a:r>
              <a:t>Error L2 promedio 0.171%: mas de un orden por debajo del umbral. R² &gt; 0.9999. Tiempo: 299 s.</a:t>
            </a:r>
          </a:p>
          <a:p>
            <a:r>
              <a:t>Factor de mejora x11.2 vs Schoder &amp; Kraxberger. Ampliar de d=64 a d=128 fue determinante: 0.436% → 0.171%.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4660D-7FB8-2819-67CF-70D7320B3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93578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06017-E559-C147-1832-FD5B42B5C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BCAC3-BDA3-B5A3-E81D-66D3D9B28C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44656-BB39-D4A7-3FEC-42CB77554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NB02 - 1:45 min</a:t>
            </a:r>
          </a:p>
          <a:p>
            <a:r>
              <a:t>Mapas de calor: E_real y E_imag. Solucion exacta (arriba) vs PINN (abajo): indistinguibles visualmente.</a:t>
            </a:r>
          </a:p>
          <a:p>
            <a:r>
              <a:t>Error L2 promedio 0.171%: mas de un orden por debajo del umbral. R² &gt; 0.9999. Tiempo: 299 s.</a:t>
            </a:r>
          </a:p>
          <a:p>
            <a:r>
              <a:t>Factor de mejora x11.2 vs Schoder &amp; Kraxberger. Ampliar de d=64 a d=128 fue determinante: 0.436% → 0.171%.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3C036-4022-C551-0406-0C9BB3F01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69242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27FBE-6724-D9A2-DF3C-1BA23F8F1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9CCF5-3F66-80FA-CB6B-0B27DCDB9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48002-0907-11D0-FADD-9E111AAEF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NB02 - 1:45 min</a:t>
            </a:r>
          </a:p>
          <a:p>
            <a:r>
              <a:t>Mapas de calor: E_real y E_imag. Solucion exacta (arriba) vs PINN (abajo): indistinguibles visualmente.</a:t>
            </a:r>
          </a:p>
          <a:p>
            <a:r>
              <a:t>Error L2 promedio 0.171%: mas de un orden por debajo del umbral. R² &gt; 0.9999. Tiempo: 299 s.</a:t>
            </a:r>
          </a:p>
          <a:p>
            <a:r>
              <a:t>Factor de mejora x11.2 vs Schoder &amp; Kraxberger. Ampliar de d=64 a d=128 fue determinante: 0.436% → 0.171%.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D8A6D-43AA-D3C1-7930-38B5B2DD6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512975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NB02 ROBUSTEZ - 1:00 min</a:t>
            </a:r>
          </a:p>
          <a:p>
            <a:r>
              <a:t>Repetimos con seeds 42, 123, 777. Error entre 0.126% y 0.171%. Media 0.155%, DE 0.020%.</a:t>
            </a:r>
          </a:p>
          <a:p>
            <a:r>
              <a:t>Varianza inter-semilla 13% relativo: el metodo converge robustamente sin importar la inicializacion.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COMPARATIVA - 1:15 min</a:t>
            </a:r>
          </a:p>
          <a:p>
            <a:r>
              <a:t>1D: su error 2.49%, el nuestro 0.006%. Factor x415.</a:t>
            </a:r>
          </a:p>
          <a:p>
            <a:r>
              <a:t>2D: su error 1.91%, el nuestro 0.171%. Factor x11.2.</a:t>
            </a:r>
          </a:p>
          <a:p>
            <a:r>
              <a:t>Comparacion indicativa: ellos en 3D con dominio fisico, nosotros en 1D/2D adimensional con SIREN.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DISCUSION - 1:00 min</a:t>
            </a:r>
          </a:p>
          <a:p>
            <a:r>
              <a:t>NB01 y NB02 completados con amplio margen. NB03 es el siguiente paso.</a:t>
            </a:r>
          </a:p>
          <a:p>
            <a:r>
              <a:t>Hallazgos clave: SIREN supera x415 a tanh; la combinacion Adam + L-BFGS es esencial; calibracion de hiperparametros documentada; robustez multi-semilla confirmada.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TRABAJO FUTURO - 0:45 min</a:t>
            </a:r>
          </a:p>
          <a:p>
            <a:r>
              <a:t>NB03 es la prioridad inmediata: aplicar el modelo validado a la generacion de speckle con fase aleatoria.</a:t>
            </a:r>
          </a:p>
          <a:p>
            <a:r>
              <a:t>NB04: benchmark FEM para cuantificar S = T_FEM / T_PINN.</a:t>
            </a:r>
          </a:p>
          <a:p>
            <a:r>
              <a:t>NB05/NB06: extensiones a medios inhomogeneos y condicion de Sommerfeld.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RESUMEN - 0:20 min</a:t>
            </a:r>
          </a:p>
          <a:p>
            <a:r>
              <a:t>NB01 y NB02 completos: precision muy por debajo del umbral. Robustez multi-semilla confirmada. Infraestructura reproducible lista.</a:t>
            </a:r>
          </a:p>
          <a:p>
            <a:r>
              <a:t>NB03 y NB04 son el trabajo futuro inmediato.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 - 0:10 min</a:t>
            </a:r>
          </a:p>
          <a:p>
            <a:r>
              <a:t>Muchas gracias. Quedo a sus ordenes para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UNIVERSIDAD JUAREZ AUTONOMA DE TABASCO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CCDDEE"/>
                </a:solidFill>
                <a:latin typeface="Calibri"/>
              </a:rPr>
              <a:t>Division Academica de </a:t>
            </a:r>
            <a:r>
              <a:rPr sz="1200" b="0" i="0" dirty="0" err="1">
                <a:solidFill>
                  <a:srgbClr val="CCDDEE"/>
                </a:solidFill>
                <a:latin typeface="Calibri"/>
              </a:rPr>
              <a:t>Ciencias</a:t>
            </a:r>
            <a:r>
              <a:rPr sz="1200" b="0" i="0" dirty="0">
                <a:solidFill>
                  <a:srgbClr val="CCDDEE"/>
                </a:solidFill>
                <a:latin typeface="Calibri"/>
              </a:rPr>
              <a:t> y </a:t>
            </a:r>
            <a:r>
              <a:rPr sz="1200" b="0" i="0" dirty="0" err="1">
                <a:solidFill>
                  <a:srgbClr val="CCDDEE"/>
                </a:solidFill>
                <a:latin typeface="Calibri"/>
              </a:rPr>
              <a:t>Tecnologias</a:t>
            </a:r>
            <a:r>
              <a:rPr sz="1200" b="0" i="0" dirty="0">
                <a:solidFill>
                  <a:srgbClr val="CCDDEE"/>
                </a:solidFill>
                <a:latin typeface="Calibri"/>
              </a:rPr>
              <a:t> de la </a:t>
            </a:r>
            <a:r>
              <a:rPr sz="1200" b="0" i="0" dirty="0" err="1">
                <a:solidFill>
                  <a:srgbClr val="CCDDEE"/>
                </a:solidFill>
                <a:latin typeface="Calibri"/>
              </a:rPr>
              <a:t>Informacion</a:t>
            </a:r>
            <a:r>
              <a:rPr sz="1200" b="0" i="0" dirty="0">
                <a:solidFill>
                  <a:srgbClr val="CCDDEE"/>
                </a:solidFill>
                <a:latin typeface="Calibri"/>
              </a:rPr>
              <a:t> (DACYTI)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078992"/>
            <a:ext cx="9418320" cy="22860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400" b="1" i="0" dirty="0">
                <a:solidFill>
                  <a:srgbClr val="FFFFFF"/>
                </a:solidFill>
                <a:latin typeface="Calibri"/>
              </a:rPr>
              <a:t>SIMULACION ACELERADA DE SPECKLE ÓPTICO: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11247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dirty="0">
                <a:solidFill>
                  <a:schemeClr val="bg1"/>
                </a:solidFill>
              </a:rPr>
              <a:t>UN ENFOQUE BASADO EN REDES NEURONALES FÍSICAMENTE INFORMADAS (PINN’S)</a:t>
            </a:r>
            <a:endParaRPr sz="20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28800" y="2578608"/>
            <a:ext cx="8503920" cy="274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dirty="0">
                <a:solidFill>
                  <a:srgbClr val="CCDDEE"/>
                </a:solidFill>
                <a:latin typeface="Calibri"/>
              </a:rPr>
              <a:t>SEGUNDO</a:t>
            </a:r>
            <a:r>
              <a:rPr sz="1400" b="1" i="0" dirty="0">
                <a:solidFill>
                  <a:srgbClr val="CCDDEE"/>
                </a:solidFill>
                <a:latin typeface="Calibri"/>
              </a:rPr>
              <a:t> AVANCE  -  COLOQUIO DE MAESTRIA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8211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Roberto Hernandez Estrada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0273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  <a:latin typeface="Calibri"/>
              </a:rPr>
              <a:t>Maestria en Ciencias de la Computacion  |  Matricula: 252H21004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023360"/>
            <a:ext cx="8503920" cy="22860"/>
          </a:xfrm>
          <a:prstGeom prst="rect">
            <a:avLst/>
          </a:prstGeom>
          <a:solidFill>
            <a:srgbClr val="80A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133087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FFFFFF"/>
                </a:solidFill>
                <a:latin typeface="Calibri"/>
              </a:rPr>
              <a:t>Director: Dr. Jose Adan Hernandez Nolasco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636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CEE"/>
                </a:solidFill>
                <a:latin typeface="Calibri"/>
              </a:rPr>
              <a:t>Cunduacan, Tabasco  -  Junio 2026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6504CF9F-1D9B-8039-C060-0E02752892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419"/>
          <a:stretch>
            <a:fillRect/>
          </a:stretch>
        </p:blipFill>
        <p:spPr bwMode="auto">
          <a:xfrm>
            <a:off x="235974" y="382382"/>
            <a:ext cx="1268361" cy="162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41DD782E-5155-0E93-D65A-95A75CA89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2974" y="382382"/>
            <a:ext cx="1332571" cy="146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4C775E9-2FC5-C0D6-1D94-F1B4891CAEA8}"/>
              </a:ext>
            </a:extLst>
          </p:cNvPr>
          <p:cNvSpPr txBox="1"/>
          <p:nvPr/>
        </p:nvSpPr>
        <p:spPr>
          <a:xfrm>
            <a:off x="3008180" y="4792570"/>
            <a:ext cx="61451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500" dirty="0">
                <a:solidFill>
                  <a:schemeClr val="bg1"/>
                </a:solidFill>
              </a:rPr>
              <a:t>Jurado revisor:</a:t>
            </a:r>
          </a:p>
          <a:p>
            <a:pPr algn="ctr"/>
            <a:r>
              <a:rPr lang="es-MX" sz="1500" dirty="0">
                <a:solidFill>
                  <a:schemeClr val="bg1"/>
                </a:solidFill>
              </a:rPr>
              <a:t>Dr. Pablo </a:t>
            </a:r>
            <a:r>
              <a:rPr lang="es-MX" sz="1500" dirty="0" err="1">
                <a:solidFill>
                  <a:schemeClr val="bg1"/>
                </a:solidFill>
              </a:rPr>
              <a:t>Pancardo</a:t>
            </a:r>
            <a:r>
              <a:rPr lang="es-MX" sz="1500" dirty="0">
                <a:solidFill>
                  <a:schemeClr val="bg1"/>
                </a:solidFill>
              </a:rPr>
              <a:t> García </a:t>
            </a:r>
          </a:p>
          <a:p>
            <a:pPr algn="ctr"/>
            <a:r>
              <a:rPr lang="es-MX" sz="1500" dirty="0">
                <a:solidFill>
                  <a:schemeClr val="bg1"/>
                </a:solidFill>
              </a:rPr>
              <a:t>Dr. Oscar Alberto Chavez Bosquez </a:t>
            </a:r>
          </a:p>
          <a:p>
            <a:pPr algn="ctr"/>
            <a:r>
              <a:rPr lang="es-MX" sz="1500" dirty="0">
                <a:solidFill>
                  <a:schemeClr val="bg1"/>
                </a:solidFill>
              </a:rPr>
              <a:t>Dr. Miguel Antonio Wister Ovando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F3D69-B8BD-5294-395C-E622E600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C4F805-DE6C-4777-743A-7F6951E487F3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96399-FECC-023B-154F-F72F1008E2B5}"/>
              </a:ext>
            </a:extLst>
          </p:cNvPr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700" b="1" i="0" dirty="0">
                <a:solidFill>
                  <a:srgbClr val="FFFFFF"/>
                </a:solidFill>
                <a:latin typeface="Calibri"/>
              </a:rPr>
              <a:t>CONTENIDO DE LA PRESENTACIÓN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4CE5F1-9133-6341-FEAD-FE8FDAE49FB2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85B222-3B3E-8E20-FD44-61CCA4AE464E}"/>
              </a:ext>
            </a:extLst>
          </p:cNvPr>
          <p:cNvSpPr txBox="1"/>
          <p:nvPr/>
        </p:nvSpPr>
        <p:spPr>
          <a:xfrm>
            <a:off x="365760" y="1328291"/>
            <a:ext cx="57302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rgbClr val="1A527A"/>
                </a:solidFill>
              </a:rPr>
              <a:t>BLOQUE I — Introducción y Marco Teórico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>
                <a:solidFill>
                  <a:srgbClr val="222222"/>
                </a:solidFill>
              </a:rPr>
              <a:t>  Planteamiento del problema y preguntas de investigación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>
                <a:solidFill>
                  <a:srgbClr val="222222"/>
                </a:solidFill>
              </a:rPr>
              <a:t>  Hipótesis, objetivos del avance, cronograma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000" dirty="0">
                <a:solidFill>
                  <a:srgbClr val="222222"/>
                </a:solidFill>
              </a:rPr>
              <a:t>  Marco teórico: Helmholtz, Speckle óptico y PINNs-SIREN</a:t>
            </a:r>
          </a:p>
          <a:p>
            <a:endParaRPr lang="es-MX" sz="2000" dirty="0"/>
          </a:p>
          <a:p>
            <a:r>
              <a:rPr lang="es-MX" sz="2000" b="1" dirty="0">
                <a:solidFill>
                  <a:srgbClr val="1A6B3A"/>
                </a:solidFill>
              </a:rPr>
              <a:t>BLOQUE II — Metodología y Resultados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s-MX" sz="2000" dirty="0">
                <a:solidFill>
                  <a:srgbClr val="222222"/>
                </a:solidFill>
              </a:rPr>
              <a:t>  Arquitectura SIREN 5×128 y estrategia de entrenamiento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s-MX" sz="2000" dirty="0">
                <a:solidFill>
                  <a:srgbClr val="222222"/>
                </a:solidFill>
              </a:rPr>
              <a:t>  NB01: Validación Helmholtz 1D - L²=0.006%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s-MX" sz="2000" dirty="0">
                <a:solidFill>
                  <a:srgbClr val="222222"/>
                </a:solidFill>
              </a:rPr>
              <a:t>  NB02: Campo complejo 2D - L²=0.171%  |  robustez multi-semilla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473E93-0F45-3405-362A-4FB6CC369365}"/>
              </a:ext>
            </a:extLst>
          </p:cNvPr>
          <p:cNvSpPr txBox="1"/>
          <p:nvPr/>
        </p:nvSpPr>
        <p:spPr>
          <a:xfrm>
            <a:off x="6096000" y="1279356"/>
            <a:ext cx="58924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rgbClr val="B8470F"/>
                </a:solidFill>
              </a:rPr>
              <a:t>BLOQUE III — Evaluación y Próximos Pasos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MX" sz="2000" dirty="0">
                <a:solidFill>
                  <a:srgbClr val="222222"/>
                </a:solidFill>
              </a:rPr>
              <a:t>  Comparativa con el estado del arte (×415, ×11.2)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MX" sz="2000" dirty="0">
                <a:solidFill>
                  <a:srgbClr val="222222"/>
                </a:solidFill>
              </a:rPr>
              <a:t>  Discusión: hallazgos principales del avance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MX" sz="2000" dirty="0">
                <a:solidFill>
                  <a:srgbClr val="222222"/>
                </a:solidFill>
              </a:rPr>
              <a:t>  Trabajo futuro: NB03 (speckle) y NB04 (benchmark FEM)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MX" sz="2000" dirty="0">
                <a:solidFill>
                  <a:srgbClr val="222222"/>
                </a:solidFill>
              </a:rPr>
              <a:t>Resumen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es-MX" sz="2000" dirty="0">
                <a:solidFill>
                  <a:srgbClr val="222222"/>
                </a:solidFill>
              </a:rPr>
              <a:t>Referencias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23BB5F5-5133-6491-502E-A4FE4B3C80A6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559427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7AF13825-3283-EA23-6E11-7D8D50E64DDF}"/>
              </a:ext>
            </a:extLst>
          </p:cNvPr>
          <p:cNvSpPr/>
          <p:nvPr/>
        </p:nvSpPr>
        <p:spPr>
          <a:xfrm>
            <a:off x="6672805" y="2194561"/>
            <a:ext cx="5029200" cy="3352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E8F4940-0A41-E083-D388-796B2D401E07}"/>
              </a:ext>
            </a:extLst>
          </p:cNvPr>
          <p:cNvSpPr/>
          <p:nvPr/>
        </p:nvSpPr>
        <p:spPr>
          <a:xfrm>
            <a:off x="637765" y="2194561"/>
            <a:ext cx="5212080" cy="3352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C11FD-FAD2-2435-31D2-D10CB16A8D8A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654E7A9-A265-C40A-BB86-62A5DF52CD4B}"/>
              </a:ext>
            </a:extLst>
          </p:cNvPr>
          <p:cNvSpPr txBox="1"/>
          <p:nvPr/>
        </p:nvSpPr>
        <p:spPr>
          <a:xfrm>
            <a:off x="303835" y="218450"/>
            <a:ext cx="6140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</a:rPr>
              <a:t>ANTECEDENTES</a:t>
            </a:r>
            <a:endParaRPr lang="es-MX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460725" y="1508761"/>
            <a:ext cx="941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/>
              <a:t>¿Por qué los métodos clásicos no escalan para estudios estadísticos de speckle?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765" y="2194561"/>
            <a:ext cx="5364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solidFill>
                  <a:srgbClr val="C0394B"/>
                </a:solidFill>
              </a:rPr>
              <a:t>Métodos clásicos - Limitaciones</a:t>
            </a:r>
          </a:p>
          <a:p>
            <a:pPr algn="just"/>
            <a:endParaRPr lang="es-MX" dirty="0"/>
          </a:p>
          <a:p>
            <a:pPr algn="just"/>
            <a:r>
              <a:rPr lang="es-MX" dirty="0">
                <a:solidFill>
                  <a:srgbClr val="222222"/>
                </a:solidFill>
              </a:rPr>
              <a:t>FEM: malla con resolución &lt; λ</a:t>
            </a:r>
          </a:p>
          <a:p>
            <a:pPr algn="just"/>
            <a:r>
              <a:rPr lang="es-MX" dirty="0">
                <a:solidFill>
                  <a:srgbClr val="555555"/>
                </a:solidFill>
              </a:rPr>
              <a:t>  → millones de incógnitas por realización.</a:t>
            </a:r>
          </a:p>
          <a:p>
            <a:pPr algn="just"/>
            <a:endParaRPr lang="es-MX" dirty="0">
              <a:solidFill>
                <a:srgbClr val="555555"/>
              </a:solidFill>
            </a:endParaRPr>
          </a:p>
          <a:p>
            <a:pPr algn="just"/>
            <a:r>
              <a:rPr lang="es-MX" dirty="0">
                <a:solidFill>
                  <a:srgbClr val="222222"/>
                </a:solidFill>
              </a:rPr>
              <a:t>Monte Carlo: número masivo de fotones</a:t>
            </a:r>
          </a:p>
          <a:p>
            <a:pPr algn="just"/>
            <a:r>
              <a:rPr lang="es-MX" dirty="0">
                <a:solidFill>
                  <a:srgbClr val="555555"/>
                </a:solidFill>
              </a:rPr>
              <a:t>  → costo por realización muy alto</a:t>
            </a:r>
          </a:p>
          <a:p>
            <a:pPr algn="just"/>
            <a:endParaRPr lang="es-MX" dirty="0">
              <a:solidFill>
                <a:srgbClr val="555555"/>
              </a:solidFill>
            </a:endParaRPr>
          </a:p>
          <a:p>
            <a:pPr algn="just"/>
            <a:r>
              <a:rPr lang="es-MX" dirty="0">
                <a:solidFill>
                  <a:srgbClr val="222222"/>
                </a:solidFill>
              </a:rPr>
              <a:t>Cada perfil de rugosidad: resolver desde cero</a:t>
            </a:r>
          </a:p>
          <a:p>
            <a:pPr algn="just"/>
            <a:r>
              <a:rPr lang="es-MX" dirty="0">
                <a:solidFill>
                  <a:srgbClr val="222222"/>
                </a:solidFill>
              </a:rPr>
              <a:t>Estudios estadísticos (miles de realizaciones): intratable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9845" y="301752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555555"/>
                </a:solidFill>
              </a:rP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2805" y="2194561"/>
            <a:ext cx="5029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b="1" dirty="0">
                <a:solidFill>
                  <a:srgbClr val="1A6B3A"/>
                </a:solidFill>
              </a:rPr>
              <a:t>PINN-SIREN - Ventajas</a:t>
            </a:r>
          </a:p>
          <a:p>
            <a:pPr algn="just"/>
            <a:endParaRPr lang="es-MX" dirty="0"/>
          </a:p>
          <a:p>
            <a:pPr algn="just"/>
            <a:r>
              <a:rPr lang="es-MX" dirty="0">
                <a:solidFill>
                  <a:srgbClr val="222222"/>
                </a:solidFill>
              </a:rPr>
              <a:t>Sin malla: función continua en [0,1]²</a:t>
            </a:r>
          </a:p>
          <a:p>
            <a:pPr algn="just"/>
            <a:r>
              <a:rPr lang="es-MX" dirty="0">
                <a:solidFill>
                  <a:srgbClr val="555555"/>
                </a:solidFill>
              </a:rPr>
              <a:t>  → independiente de resolución de malla</a:t>
            </a:r>
          </a:p>
          <a:p>
            <a:pPr algn="just"/>
            <a:endParaRPr lang="es-MX" dirty="0">
              <a:solidFill>
                <a:srgbClr val="555555"/>
              </a:solidFill>
            </a:endParaRPr>
          </a:p>
          <a:p>
            <a:pPr algn="just"/>
            <a:r>
              <a:rPr lang="es-MX" dirty="0">
                <a:solidFill>
                  <a:srgbClr val="222222"/>
                </a:solidFill>
              </a:rPr>
              <a:t>Física embebida en la función de pérdida</a:t>
            </a:r>
          </a:p>
          <a:p>
            <a:pPr algn="just"/>
            <a:r>
              <a:rPr lang="es-MX" dirty="0">
                <a:solidFill>
                  <a:srgbClr val="222222"/>
                </a:solidFill>
              </a:rPr>
              <a:t>Inferencia en milisegundos (GPU)</a:t>
            </a:r>
          </a:p>
          <a:p>
            <a:pPr algn="just"/>
            <a:r>
              <a:rPr lang="es-MX" dirty="0">
                <a:solidFill>
                  <a:srgbClr val="222222"/>
                </a:solidFill>
              </a:rPr>
              <a:t>Reutilizable para distintos perfiles de frontera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39B206A-F531-E81E-7354-B0AC473877C9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2955559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06626-4E9D-E384-9798-3744E34CA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74D570E-CA95-796F-F570-3A0335172267}"/>
              </a:ext>
            </a:extLst>
          </p:cNvPr>
          <p:cNvSpPr/>
          <p:nvPr/>
        </p:nvSpPr>
        <p:spPr>
          <a:xfrm>
            <a:off x="409394" y="4931811"/>
            <a:ext cx="4890193" cy="13804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091607-EB30-49E4-0ABF-B93792D82CB3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68F3F-1A8C-44B4-0DB1-C84FBE5682C3}"/>
              </a:ext>
            </a:extLst>
          </p:cNvPr>
          <p:cNvSpPr txBox="1"/>
          <p:nvPr/>
        </p:nvSpPr>
        <p:spPr>
          <a:xfrm>
            <a:off x="365760" y="210777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s-ES" sz="2800" b="1" dirty="0">
                <a:solidFill>
                  <a:schemeClr val="bg1"/>
                </a:solidFill>
              </a:rPr>
              <a:t>PLANTEAMIENTO DEL PROBLEMA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D788D7-8155-88F1-18A7-85368423035B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CBE7603-B72F-3A88-2ABB-D20D32343C2C}"/>
              </a:ext>
            </a:extLst>
          </p:cNvPr>
          <p:cNvSpPr txBox="1"/>
          <p:nvPr/>
        </p:nvSpPr>
        <p:spPr>
          <a:xfrm>
            <a:off x="5304875" y="2637840"/>
            <a:ext cx="27149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400" b="1" dirty="0">
                <a:solidFill>
                  <a:srgbClr val="86643A"/>
                </a:solidFill>
              </a:rPr>
              <a:t>Alta resolución, </a:t>
            </a:r>
            <a:r>
              <a:rPr lang="es-MX" sz="1400" b="1" dirty="0">
                <a:solidFill>
                  <a:srgbClr val="86643A"/>
                </a:solidFill>
                <a:latin typeface="+mj-lt"/>
              </a:rPr>
              <a:t>memoria RAM y  tiempos de ejecución</a:t>
            </a:r>
            <a:endParaRPr lang="es-MX" sz="1800" b="1" i="0" dirty="0">
              <a:solidFill>
                <a:srgbClr val="86643A"/>
              </a:solidFill>
              <a:latin typeface="+mj-l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C6A327B-A035-17C1-0E54-0BCA18D2D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10" y="1834949"/>
            <a:ext cx="5166316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problema central es la escalabilidad, por lo cual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MX" altLang="es-MX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basados en malla (FEM)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MX" altLang="es-MX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6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este contexto,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</a:t>
            </a:r>
            <a:r>
              <a:rPr kumimoji="0" lang="es-MX" altLang="es-MX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PINNs</a:t>
            </a:r>
            <a:r>
              <a:rPr kumimoji="0" lang="es-MX" altLang="es-MX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activación sinusoidal (SIREN)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6ECBAE4-F66D-D7B6-8FAF-489E15A5457A}"/>
              </a:ext>
            </a:extLst>
          </p:cNvPr>
          <p:cNvSpPr txBox="1"/>
          <p:nvPr/>
        </p:nvSpPr>
        <p:spPr>
          <a:xfrm>
            <a:off x="7304783" y="6211222"/>
            <a:ext cx="4490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b="0" i="1" dirty="0">
                <a:solidFill>
                  <a:schemeClr val="tx2"/>
                </a:solidFill>
                <a:latin typeface="Calibri"/>
              </a:rPr>
              <a:t>Fig. 1.</a:t>
            </a:r>
            <a:r>
              <a:rPr lang="es-MX" i="1" dirty="0">
                <a:solidFill>
                  <a:schemeClr val="tx2"/>
                </a:solidFill>
                <a:latin typeface="Calibri"/>
              </a:rPr>
              <a:t>0</a:t>
            </a:r>
            <a:r>
              <a:rPr lang="es-MX" sz="1800" b="0" i="1" dirty="0">
                <a:solidFill>
                  <a:schemeClr val="tx2"/>
                </a:solidFill>
                <a:latin typeface="Calibri"/>
              </a:rPr>
              <a:t>: </a:t>
            </a:r>
            <a:r>
              <a:rPr lang="es-MX" i="1" dirty="0">
                <a:solidFill>
                  <a:schemeClr val="tx2"/>
                </a:solidFill>
                <a:latin typeface="Calibri"/>
              </a:rPr>
              <a:t>Comparativa de enfoque discreto FEM vs enfoque </a:t>
            </a:r>
            <a:r>
              <a:rPr lang="es-MX" i="1" dirty="0" err="1">
                <a:solidFill>
                  <a:schemeClr val="tx2"/>
                </a:solidFill>
                <a:latin typeface="Calibri"/>
              </a:rPr>
              <a:t>conitnuo</a:t>
            </a:r>
            <a:r>
              <a:rPr lang="es-MX" i="1" dirty="0">
                <a:solidFill>
                  <a:schemeClr val="tx2"/>
                </a:solidFill>
                <a:latin typeface="Calibri"/>
              </a:rPr>
              <a:t> PINNS.</a:t>
            </a:r>
            <a:endParaRPr lang="es-MX" sz="1800" b="0" i="1" dirty="0">
              <a:solidFill>
                <a:schemeClr val="tx2"/>
              </a:solidFill>
              <a:latin typeface="Calibri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8BD625B0-885C-E2B6-8357-75A0CF8723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419" b="26308"/>
          <a:stretch>
            <a:fillRect/>
          </a:stretch>
        </p:blipFill>
        <p:spPr>
          <a:xfrm>
            <a:off x="8019801" y="1065508"/>
            <a:ext cx="3501639" cy="262144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C76769C-FF0A-03DC-5B51-4B2C056AF4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769" b="26308"/>
          <a:stretch>
            <a:fillRect/>
          </a:stretch>
        </p:blipFill>
        <p:spPr>
          <a:xfrm>
            <a:off x="8215875" y="3664138"/>
            <a:ext cx="3579885" cy="253534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008FA32-523F-C9D0-79F9-6F9B19C4FFE3}"/>
              </a:ext>
            </a:extLst>
          </p:cNvPr>
          <p:cNvSpPr txBox="1"/>
          <p:nvPr/>
        </p:nvSpPr>
        <p:spPr>
          <a:xfrm>
            <a:off x="409394" y="4951475"/>
            <a:ext cx="4640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b="1" dirty="0"/>
              <a:t>¿Puede una red neuronal aprender la física de Helmholtz y luego evaluarlo en nuevas condiciones de frontera sin repetir el entrenamiento complejo?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2447D32-0E3C-A776-ADB0-39D70D4E0912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55623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DA7C7-CE09-8B7C-14E7-89DDD19A6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4BE31A7C-09CD-D2E4-590C-674499E4FC23}"/>
              </a:ext>
            </a:extLst>
          </p:cNvPr>
          <p:cNvSpPr/>
          <p:nvPr/>
        </p:nvSpPr>
        <p:spPr>
          <a:xfrm>
            <a:off x="123887" y="4624701"/>
            <a:ext cx="10397500" cy="960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958DC4E-063F-74B4-4A7F-CDCA2384A170}"/>
              </a:ext>
            </a:extLst>
          </p:cNvPr>
          <p:cNvSpPr/>
          <p:nvPr/>
        </p:nvSpPr>
        <p:spPr>
          <a:xfrm>
            <a:off x="123887" y="3319562"/>
            <a:ext cx="10397500" cy="9601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3E5E0E5-F474-E87C-56DF-18B14037B805}"/>
              </a:ext>
            </a:extLst>
          </p:cNvPr>
          <p:cNvSpPr/>
          <p:nvPr/>
        </p:nvSpPr>
        <p:spPr>
          <a:xfrm>
            <a:off x="123887" y="2136057"/>
            <a:ext cx="10397500" cy="9601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4D18A4-4367-6CAE-B3AA-74A8DFB4A005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7E2C8-FEF9-C646-90EA-4214EFA77187}"/>
              </a:ext>
            </a:extLst>
          </p:cNvPr>
          <p:cNvSpPr txBox="1"/>
          <p:nvPr/>
        </p:nvSpPr>
        <p:spPr>
          <a:xfrm>
            <a:off x="365760" y="210777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s-ES" sz="2800" b="1" dirty="0">
                <a:solidFill>
                  <a:schemeClr val="bg1"/>
                </a:solidFill>
              </a:rPr>
              <a:t>PREGUNTAS DE INVESTIGACIÓN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07565-D87E-942E-E557-3313DECD6E3E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E3BC9-DF1F-C16B-73D1-2F3EB79C6E98}"/>
              </a:ext>
            </a:extLst>
          </p:cNvPr>
          <p:cNvSpPr txBox="1"/>
          <p:nvPr/>
        </p:nvSpPr>
        <p:spPr>
          <a:xfrm>
            <a:off x="123887" y="2136057"/>
            <a:ext cx="9324913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1000"/>
              </a:spcBef>
              <a:buAutoNum type="arabicPeriod"/>
            </a:pPr>
            <a:r>
              <a:rPr lang="es-MX" dirty="0"/>
              <a:t>¿Puede un modelo PINN con activación sinusoidal (SIREN) aproximar con precisión la solución de la ecuación de Helmholtz 2D para la simulación de patrones de </a:t>
            </a:r>
            <a:r>
              <a:rPr lang="es-MX" dirty="0" err="1"/>
              <a:t>speckle</a:t>
            </a:r>
            <a:r>
              <a:rPr lang="es-MX" dirty="0"/>
              <a:t> óptico, logrando un error L2 &lt; 5% respecto a soluciones de referencia? </a:t>
            </a:r>
          </a:p>
          <a:p>
            <a:pPr marL="457200" indent="-457200">
              <a:spcBef>
                <a:spcPts val="1000"/>
              </a:spcBef>
              <a:buAutoNum type="arabicPeriod"/>
            </a:pPr>
            <a:endParaRPr lang="es-MX" dirty="0"/>
          </a:p>
          <a:p>
            <a:pPr marL="457200" indent="-457200">
              <a:spcBef>
                <a:spcPts val="1000"/>
              </a:spcBef>
              <a:buAutoNum type="arabicPeriod"/>
            </a:pPr>
            <a:r>
              <a:rPr lang="es-MX" dirty="0"/>
              <a:t>¿Cuál es la ganancia en eficiencia computacional (tiempo de inferencia y uso de memoria) del enfoque PINN-SIREN respecto al FEM para simular el mismo fenómeno? </a:t>
            </a:r>
          </a:p>
          <a:p>
            <a:pPr marL="457200" indent="-457200">
              <a:spcBef>
                <a:spcPts val="1000"/>
              </a:spcBef>
              <a:buAutoNum type="arabicPeriod"/>
            </a:pPr>
            <a:endParaRPr lang="es-MX" dirty="0"/>
          </a:p>
          <a:p>
            <a:pPr marL="457200" indent="-457200">
              <a:spcBef>
                <a:spcPts val="1000"/>
              </a:spcBef>
              <a:buAutoNum type="arabicPeriod"/>
            </a:pPr>
            <a:r>
              <a:rPr lang="es-MX" dirty="0"/>
              <a:t>¿Presenta el patrón de intensidad simulado las propiedades estadísticas características del </a:t>
            </a:r>
            <a:r>
              <a:rPr lang="es-MX" dirty="0" err="1"/>
              <a:t>speckle</a:t>
            </a:r>
            <a:r>
              <a:rPr lang="es-MX" dirty="0"/>
              <a:t> completamente desarrollado definidas por la teoría de Goodman?</a:t>
            </a:r>
            <a:endParaRPr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55C3800A-68BF-2DFA-38A3-F8E4B41F5F1A}"/>
              </a:ext>
            </a:extLst>
          </p:cNvPr>
          <p:cNvSpPr txBox="1"/>
          <p:nvPr/>
        </p:nvSpPr>
        <p:spPr>
          <a:xfrm>
            <a:off x="10424160" y="2322183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1A5C2A"/>
                </a:solidFill>
                <a:latin typeface="Calibri"/>
              </a:rPr>
              <a:t>Completado</a:t>
            </a:r>
            <a:endParaRPr sz="1400" b="1" i="0" dirty="0">
              <a:solidFill>
                <a:srgbClr val="1A5C2A"/>
              </a:solidFill>
              <a:latin typeface="Calibri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635FAAF-A119-267C-B12A-2BE79E7D9AA9}"/>
              </a:ext>
            </a:extLst>
          </p:cNvPr>
          <p:cNvSpPr txBox="1"/>
          <p:nvPr/>
        </p:nvSpPr>
        <p:spPr>
          <a:xfrm>
            <a:off x="10257012" y="3531310"/>
            <a:ext cx="1705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dirty="0">
                <a:solidFill>
                  <a:srgbClr val="995500"/>
                </a:solidFill>
                <a:latin typeface="Calibri"/>
              </a:rPr>
              <a:t>Pendiente</a:t>
            </a:r>
            <a:endParaRPr lang="es-MX" sz="1800" b="1" i="0" dirty="0">
              <a:solidFill>
                <a:srgbClr val="995500"/>
              </a:solidFill>
              <a:latin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112A30-D043-9D53-274C-E91155B0DF56}"/>
              </a:ext>
            </a:extLst>
          </p:cNvPr>
          <p:cNvSpPr txBox="1"/>
          <p:nvPr/>
        </p:nvSpPr>
        <p:spPr>
          <a:xfrm>
            <a:off x="10257012" y="4720276"/>
            <a:ext cx="1705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dirty="0">
                <a:solidFill>
                  <a:srgbClr val="995500"/>
                </a:solidFill>
                <a:latin typeface="Calibri"/>
              </a:rPr>
              <a:t>Pendiente</a:t>
            </a:r>
            <a:endParaRPr lang="es-MX" sz="1800" b="1" i="0" dirty="0">
              <a:solidFill>
                <a:srgbClr val="995500"/>
              </a:solidFill>
              <a:latin typeface="Calibri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7E14CD-91C6-0B4D-822A-3F865188EDAC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0080372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2E7EB-CC3D-9067-E80B-97A241023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41A27F-78B8-C742-6D78-7267B2DC8F87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BE644-EE6B-A3B0-C120-3D08ECAFA388}"/>
              </a:ext>
            </a:extLst>
          </p:cNvPr>
          <p:cNvSpPr txBox="1"/>
          <p:nvPr/>
        </p:nvSpPr>
        <p:spPr>
          <a:xfrm>
            <a:off x="365760" y="210777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s-ES" sz="2800" b="1" dirty="0">
                <a:solidFill>
                  <a:schemeClr val="bg1"/>
                </a:solidFill>
              </a:rPr>
              <a:t>HIPÓTESIS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55B31-E20B-A935-E01E-43C50BB347F5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8B3B5D-5033-F442-4E5D-0CDC2834F0C3}"/>
              </a:ext>
            </a:extLst>
          </p:cNvPr>
          <p:cNvSpPr txBox="1"/>
          <p:nvPr/>
        </p:nvSpPr>
        <p:spPr>
          <a:xfrm>
            <a:off x="123887" y="2136057"/>
            <a:ext cx="116718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</a:pPr>
            <a:r>
              <a:rPr lang="es-MX" sz="2400" dirty="0"/>
              <a:t>El desarrollo de un modelo PINN-SIREN para la resolución de la ecuación de Helmholtz 2D con campo complejo.</a:t>
            </a:r>
            <a:endParaRPr sz="240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A512B940-29D2-3EE9-BA75-171EAA03F117}"/>
              </a:ext>
            </a:extLst>
          </p:cNvPr>
          <p:cNvSpPr txBox="1"/>
          <p:nvPr/>
        </p:nvSpPr>
        <p:spPr>
          <a:xfrm>
            <a:off x="670560" y="5315028"/>
            <a:ext cx="26552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dirty="0">
                <a:solidFill>
                  <a:srgbClr val="1A5C2A"/>
                </a:solidFill>
                <a:latin typeface="Calibri"/>
              </a:rPr>
              <a:t>i)</a:t>
            </a:r>
            <a:r>
              <a:rPr lang="es-MX" sz="1400" dirty="0"/>
              <a:t> generación de </a:t>
            </a:r>
            <a:r>
              <a:rPr lang="es-MX" sz="1400" dirty="0" err="1"/>
              <a:t>speckle</a:t>
            </a:r>
            <a:r>
              <a:rPr lang="es-MX" sz="1400" dirty="0"/>
              <a:t> óptico</a:t>
            </a:r>
            <a:endParaRPr sz="1400" b="1" i="0" dirty="0">
              <a:solidFill>
                <a:srgbClr val="1A5C2A"/>
              </a:solidFill>
              <a:latin typeface="Calibri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3978A4F-95C2-7D72-5C8F-CFBD0E57C6D3}"/>
              </a:ext>
            </a:extLst>
          </p:cNvPr>
          <p:cNvSpPr txBox="1"/>
          <p:nvPr/>
        </p:nvSpPr>
        <p:spPr>
          <a:xfrm>
            <a:off x="10257012" y="4720276"/>
            <a:ext cx="1705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dirty="0">
                <a:solidFill>
                  <a:srgbClr val="995500"/>
                </a:solidFill>
                <a:latin typeface="Calibri"/>
              </a:rPr>
              <a:t>Pendiente</a:t>
            </a:r>
            <a:endParaRPr lang="es-MX" sz="1800" b="1" i="0" dirty="0">
              <a:solidFill>
                <a:srgbClr val="995500"/>
              </a:solidFill>
              <a:latin typeface="Calibri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A856771-B315-57D2-0C7E-46AF4FA2D128}"/>
              </a:ext>
            </a:extLst>
          </p:cNvPr>
          <p:cNvSpPr/>
          <p:nvPr/>
        </p:nvSpPr>
        <p:spPr>
          <a:xfrm>
            <a:off x="670560" y="3570692"/>
            <a:ext cx="2812648" cy="159216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/>
              <a:t>L2 &lt; 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0D46109E-FBF4-6181-5E66-7483B0985032}"/>
                  </a:ext>
                </a:extLst>
              </p:cNvPr>
              <p:cNvSpPr/>
              <p:nvPr/>
            </p:nvSpPr>
            <p:spPr>
              <a:xfrm>
                <a:off x="4689523" y="3566568"/>
                <a:ext cx="2812648" cy="1592167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3600" b="1" dirty="0"/>
                  <a:t>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3600" b="1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3600" b="1" i="1" dirty="0">
                            <a:latin typeface="Cambria Math" panose="02040503050406030204" pitchFamily="18" charset="0"/>
                          </a:rPr>
                          <m:t>𝑻𝑭𝑬𝑴</m:t>
                        </m:r>
                      </m:num>
                      <m:den>
                        <m:r>
                          <a:rPr lang="es-MX" sz="3600" b="1" i="1" dirty="0">
                            <a:latin typeface="Cambria Math" panose="02040503050406030204" pitchFamily="18" charset="0"/>
                          </a:rPr>
                          <m:t>𝑻𝑷𝑰𝑵𝑵</m:t>
                        </m:r>
                      </m:den>
                    </m:f>
                    <m:r>
                      <a:rPr lang="es-MX" sz="3600" b="1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s-MX" sz="3600" b="1" dirty="0"/>
                  <a:t>&gt; 1</a:t>
                </a:r>
              </a:p>
            </p:txBody>
          </p:sp>
        </mc:Choice>
        <mc:Fallback xmlns="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0D46109E-FBF4-6181-5E66-7483B09850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523" y="3566568"/>
                <a:ext cx="2812648" cy="15921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 12">
            <a:extLst>
              <a:ext uri="{FF2B5EF4-FFF2-40B4-BE49-F238E27FC236}">
                <a16:creationId xmlns:a16="http://schemas.microsoft.com/office/drawing/2014/main" id="{0AAB62F9-AFDA-CBCB-A3C9-DAA5C0637798}"/>
              </a:ext>
            </a:extLst>
          </p:cNvPr>
          <p:cNvSpPr/>
          <p:nvPr/>
        </p:nvSpPr>
        <p:spPr>
          <a:xfrm>
            <a:off x="8708792" y="3566569"/>
            <a:ext cx="2812648" cy="159216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3600" b="1" dirty="0"/>
              <a:t>|C − 1| &lt; 0.1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26E8744-8532-025C-239C-6E575E0DD81A}"/>
              </a:ext>
            </a:extLst>
          </p:cNvPr>
          <p:cNvSpPr txBox="1"/>
          <p:nvPr/>
        </p:nvSpPr>
        <p:spPr>
          <a:xfrm>
            <a:off x="1092883" y="4787905"/>
            <a:ext cx="196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error relativo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61BBA07-BD22-D663-88D6-471554EE5119}"/>
              </a:ext>
            </a:extLst>
          </p:cNvPr>
          <p:cNvSpPr txBox="1"/>
          <p:nvPr/>
        </p:nvSpPr>
        <p:spPr>
          <a:xfrm>
            <a:off x="4971250" y="4793527"/>
            <a:ext cx="224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factor de aceleración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3312DA6-AD88-886A-B013-DD24D00BE73C}"/>
              </a:ext>
            </a:extLst>
          </p:cNvPr>
          <p:cNvSpPr txBox="1"/>
          <p:nvPr/>
        </p:nvSpPr>
        <p:spPr>
          <a:xfrm>
            <a:off x="9132262" y="4751748"/>
            <a:ext cx="224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</a:rPr>
              <a:t>contraste de </a:t>
            </a:r>
            <a:r>
              <a:rPr lang="es-MX" b="1" dirty="0" err="1">
                <a:solidFill>
                  <a:schemeClr val="bg1"/>
                </a:solidFill>
              </a:rPr>
              <a:t>speckle</a:t>
            </a:r>
            <a:endParaRPr lang="es-MX" b="1" dirty="0">
              <a:solidFill>
                <a:schemeClr val="bg1"/>
              </a:solidFill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316B576D-6D34-055A-0A28-F61CF2EA4ACE}"/>
              </a:ext>
            </a:extLst>
          </p:cNvPr>
          <p:cNvSpPr txBox="1"/>
          <p:nvPr/>
        </p:nvSpPr>
        <p:spPr>
          <a:xfrm>
            <a:off x="8866208" y="5198076"/>
            <a:ext cx="2655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dirty="0" err="1">
                <a:solidFill>
                  <a:srgbClr val="1A5C2A"/>
                </a:solidFill>
                <a:latin typeface="Calibri"/>
              </a:rPr>
              <a:t>iii</a:t>
            </a:r>
            <a:r>
              <a:rPr lang="es-MX" sz="1400" b="1" i="0" dirty="0">
                <a:solidFill>
                  <a:srgbClr val="1A5C2A"/>
                </a:solidFill>
                <a:latin typeface="Calibri"/>
              </a:rPr>
              <a:t>) </a:t>
            </a:r>
            <a:r>
              <a:rPr lang="es-MX" sz="1400" dirty="0"/>
              <a:t>criterio de Goodman (2007).</a:t>
            </a:r>
            <a:endParaRPr sz="1400" b="1" i="0" dirty="0">
              <a:solidFill>
                <a:srgbClr val="1A5C2A"/>
              </a:solidFill>
              <a:latin typeface="Calibri"/>
            </a:endParaRP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CF5CBCB2-6EAF-8A65-06DB-EF7E583F6A78}"/>
              </a:ext>
            </a:extLst>
          </p:cNvPr>
          <p:cNvSpPr txBox="1"/>
          <p:nvPr/>
        </p:nvSpPr>
        <p:spPr>
          <a:xfrm>
            <a:off x="4971250" y="5224296"/>
            <a:ext cx="22494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dirty="0" err="1">
                <a:solidFill>
                  <a:srgbClr val="1A5C2A"/>
                </a:solidFill>
                <a:latin typeface="Calibri"/>
              </a:rPr>
              <a:t>ii</a:t>
            </a:r>
            <a:r>
              <a:rPr lang="es-MX" sz="1400" b="1" i="0" dirty="0">
                <a:solidFill>
                  <a:srgbClr val="1A5C2A"/>
                </a:solidFill>
                <a:latin typeface="Calibri"/>
              </a:rPr>
              <a:t>) </a:t>
            </a:r>
            <a:r>
              <a:rPr lang="es-MX" sz="1400" dirty="0"/>
              <a:t>fase de inferencia</a:t>
            </a:r>
            <a:endParaRPr sz="1400" b="1" i="0" dirty="0">
              <a:solidFill>
                <a:srgbClr val="1A5C2A"/>
              </a:solidFill>
              <a:latin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22D0B99-0D93-2B15-D2EA-9938B8FFD03A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7835345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700" b="1" i="0" dirty="0">
                <a:solidFill>
                  <a:srgbClr val="FFFFFF"/>
                </a:solidFill>
                <a:latin typeface="Calibri"/>
              </a:rPr>
              <a:t>OBJETIVOS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5C8C"/>
                </a:solidFill>
                <a:latin typeface="Calibri"/>
              </a:rPr>
              <a:t>Objetivo general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44752"/>
            <a:ext cx="11430000" cy="822960"/>
          </a:xfrm>
          <a:prstGeom prst="rect">
            <a:avLst/>
          </a:prstGeom>
          <a:solidFill>
            <a:srgbClr val="F0F2F5"/>
          </a:solidFill>
          <a:ln w="1270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Calibri"/>
              </a:rPr>
              <a:t>Desarrollar y validar una PINN-SIREN que simule speckle optico resolviendo la ecuacion de Helmholtz 2D con error L2 &lt; 5% y contraste C ≈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5C8C"/>
                </a:solidFill>
                <a:latin typeface="Calibri"/>
              </a:rPr>
              <a:t>Estado de los experimentos en este avance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07792"/>
            <a:ext cx="868680" cy="521207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935224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NB01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80944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Calibri"/>
              </a:rPr>
              <a:t>Validar la arquitectura SIREN con solucion analitica exacta (Helmholtz 1D)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1A5C2A"/>
                </a:solidFill>
                <a:latin typeface="Calibri"/>
              </a:rPr>
              <a:t>Completado</a:t>
            </a:r>
            <a:endParaRPr sz="1400" b="1" i="0" dirty="0">
              <a:solidFill>
                <a:srgbClr val="1A5C2A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3593592"/>
            <a:ext cx="868680" cy="521207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621024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NB02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66744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Calibri"/>
              </a:rPr>
              <a:t>Extender al caso 2D con campo electrico complejo y muestreo LHS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36667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C2A"/>
                </a:solidFill>
                <a:latin typeface="Calibri"/>
              </a:rPr>
              <a:t>Completado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79392"/>
            <a:ext cx="868680" cy="521207"/>
          </a:xfrm>
          <a:prstGeom prst="rect">
            <a:avLst/>
          </a:prstGeom>
          <a:solidFill>
            <a:srgbClr val="99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306824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NB03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52544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C2C2C"/>
                </a:solidFill>
                <a:latin typeface="Calibri"/>
              </a:rPr>
              <a:t>Generar patrones de speckle con validacion estadistica (criterio de Goodman)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43525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995500"/>
                </a:solidFill>
                <a:latin typeface="Calibri"/>
              </a:rPr>
              <a:t>Pendiente</a:t>
            </a:r>
            <a:endParaRPr sz="1400" b="1" i="0" dirty="0">
              <a:solidFill>
                <a:srgbClr val="995500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4965192"/>
            <a:ext cx="868680" cy="521207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992624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371600" y="5038344"/>
                <a:ext cx="8961120" cy="3840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800" b="0" i="0" dirty="0">
                    <a:solidFill>
                      <a:srgbClr val="2C2C2C"/>
                    </a:solidFill>
                    <a:latin typeface="Calibri"/>
                  </a:rPr>
                  <a:t>Error </a:t>
                </a:r>
                <a14:m>
                  <m:oMath xmlns:m="http://schemas.openxmlformats.org/officeDocument/2006/math">
                    <m:r>
                      <a:rPr lang="es-MX" sz="18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s-MX" sz="18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2 &lt; 5%  </m:t>
                    </m:r>
                  </m:oMath>
                </a14:m>
                <a:r>
                  <a:rPr sz="1800" b="0" i="0" dirty="0">
                    <a:solidFill>
                      <a:srgbClr val="2C2C2C"/>
                    </a:solidFill>
                    <a:latin typeface="Calibri"/>
                  </a:rPr>
                  <a:t>|  </a:t>
                </a:r>
                <a:r>
                  <a:rPr sz="1800" b="0" i="0" dirty="0" err="1">
                    <a:solidFill>
                      <a:srgbClr val="2C2C2C"/>
                    </a:solidFill>
                    <a:latin typeface="Calibri"/>
                  </a:rPr>
                  <a:t>Contraste</a:t>
                </a:r>
                <a:r>
                  <a:rPr sz="1800" b="0" i="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s-MX" sz="18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s-MX" sz="18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18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− 1| &lt; 0.1</m:t>
                    </m:r>
                  </m:oMath>
                </a14:m>
                <a:endParaRPr sz="1800" b="0" i="0" dirty="0">
                  <a:solidFill>
                    <a:srgbClr val="2C2C2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038344"/>
                <a:ext cx="8961120" cy="384048"/>
              </a:xfrm>
              <a:prstGeom prst="rect">
                <a:avLst/>
              </a:prstGeom>
              <a:blipFill>
                <a:blip r:embed="rId3"/>
                <a:stretch>
                  <a:fillRect l="-544" t="-9524" b="-1904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ángulo 24">
            <a:extLst>
              <a:ext uri="{FF2B5EF4-FFF2-40B4-BE49-F238E27FC236}">
                <a16:creationId xmlns:a16="http://schemas.microsoft.com/office/drawing/2014/main" id="{EE208FDE-BAD0-69ED-E968-028B337CEE0A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7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0053AB-7174-A166-A10C-E2503558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8EDDB0-F5C6-4788-C7CA-8D464ADB9F8A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95D49-1F53-C4C6-8B87-5B7E729A7E00}"/>
              </a:ext>
            </a:extLst>
          </p:cNvPr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700" b="1" i="0" dirty="0">
                <a:solidFill>
                  <a:srgbClr val="FFFFFF"/>
                </a:solidFill>
                <a:latin typeface="Calibri"/>
              </a:rPr>
              <a:t>CRONOGRAMA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CD192-7010-1467-C987-C65063C4FC02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B49FD1-3278-687C-DDED-D15376E8FA2E}"/>
              </a:ext>
            </a:extLst>
          </p:cNvPr>
          <p:cNvSpPr txBox="1"/>
          <p:nvPr/>
        </p:nvSpPr>
        <p:spPr>
          <a:xfrm>
            <a:off x="365760" y="1051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345C8C"/>
                </a:solidFill>
                <a:latin typeface="Calibri"/>
              </a:rPr>
              <a:t>Objetivo</a:t>
            </a:r>
            <a:r>
              <a:rPr sz="2000" b="1" i="0" dirty="0">
                <a:solidFill>
                  <a:srgbClr val="345C8C"/>
                </a:solidFill>
                <a:latin typeface="Calibri"/>
              </a:rPr>
              <a:t>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D87CFF-0CAA-65E9-6CF3-D90CCE0B62D7}"/>
              </a:ext>
            </a:extLst>
          </p:cNvPr>
          <p:cNvSpPr/>
          <p:nvPr/>
        </p:nvSpPr>
        <p:spPr>
          <a:xfrm>
            <a:off x="365760" y="1444752"/>
            <a:ext cx="11430000" cy="822960"/>
          </a:xfrm>
          <a:prstGeom prst="rect">
            <a:avLst/>
          </a:prstGeom>
          <a:solidFill>
            <a:srgbClr val="F0F2F5"/>
          </a:solidFill>
          <a:ln w="1270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CA4D4A-BC99-2BB3-6585-AD398DA311DC}"/>
              </a:ext>
            </a:extLst>
          </p:cNvPr>
          <p:cNvSpPr txBox="1"/>
          <p:nvPr/>
        </p:nvSpPr>
        <p:spPr>
          <a:xfrm>
            <a:off x="548640" y="150876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800" b="0" i="0" dirty="0">
                <a:solidFill>
                  <a:srgbClr val="2C2C2C"/>
                </a:solidFill>
                <a:latin typeface="Calibri"/>
              </a:rPr>
              <a:t>Se tiene los avances pertinentes hasta el mes de Mayo, como se pued</a:t>
            </a:r>
            <a:r>
              <a:rPr lang="es-MX" dirty="0">
                <a:solidFill>
                  <a:srgbClr val="2C2C2C"/>
                </a:solidFill>
                <a:latin typeface="Calibri"/>
              </a:rPr>
              <a:t>e observar en la Figura 2.</a:t>
            </a:r>
            <a:endParaRPr sz="18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2D4E75-3257-49DD-5AF2-4EAD41092C3E}"/>
              </a:ext>
            </a:extLst>
          </p:cNvPr>
          <p:cNvSpPr/>
          <p:nvPr/>
        </p:nvSpPr>
        <p:spPr>
          <a:xfrm>
            <a:off x="365760" y="2377440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50C94FA7-5EB5-7393-3EEC-FCA6955FF0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44001" y="2565600"/>
            <a:ext cx="7703998" cy="3795124"/>
          </a:xfrm>
          <a:prstGeom prst="rect">
            <a:avLst/>
          </a:prstGeom>
        </p:spPr>
      </p:pic>
      <p:sp>
        <p:nvSpPr>
          <p:cNvPr id="28" name="Corchetes 27">
            <a:extLst>
              <a:ext uri="{FF2B5EF4-FFF2-40B4-BE49-F238E27FC236}">
                <a16:creationId xmlns:a16="http://schemas.microsoft.com/office/drawing/2014/main" id="{52745EF4-8EB9-FE8D-DB84-6F166E55766F}"/>
              </a:ext>
            </a:extLst>
          </p:cNvPr>
          <p:cNvSpPr/>
          <p:nvPr/>
        </p:nvSpPr>
        <p:spPr>
          <a:xfrm>
            <a:off x="5201920" y="3627120"/>
            <a:ext cx="2032000" cy="2286000"/>
          </a:xfrm>
          <a:prstGeom prst="bracketPai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31BE49A-D8E1-D976-7D70-4BA6ADA90CA4}"/>
              </a:ext>
            </a:extLst>
          </p:cNvPr>
          <p:cNvSpPr txBox="1"/>
          <p:nvPr/>
        </p:nvSpPr>
        <p:spPr>
          <a:xfrm>
            <a:off x="1005840" y="6306234"/>
            <a:ext cx="10251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0" i="1" dirty="0">
                <a:solidFill>
                  <a:srgbClr val="7A92AA"/>
                </a:solidFill>
                <a:latin typeface="Calibri"/>
              </a:rPr>
              <a:t>Fig. 2.0</a:t>
            </a:r>
            <a:r>
              <a:rPr lang="es-MX" sz="1400" i="1" dirty="0">
                <a:solidFill>
                  <a:srgbClr val="7A92AA"/>
                </a:solidFill>
                <a:latin typeface="Calibri"/>
              </a:rPr>
              <a:t>. Diagrama de Gantt de actividades.</a:t>
            </a:r>
            <a:endParaRPr lang="es-MX" sz="1400" b="0" i="1" dirty="0">
              <a:solidFill>
                <a:srgbClr val="7A92AA"/>
              </a:solidFill>
              <a:latin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1CD08D4-C525-6EB2-0D06-B0CCBFFB89F2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993902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700" b="1" i="0" dirty="0">
                <a:solidFill>
                  <a:srgbClr val="FFFFFF"/>
                </a:solidFill>
                <a:latin typeface="Calibri"/>
              </a:rPr>
              <a:t>MOTIVACION: ¿POR QUE SIMULAR SPECKLE OPTICO?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5C8C"/>
                </a:solidFill>
                <a:latin typeface="Calibri"/>
              </a:rPr>
              <a:t>El speckle optico aparece en: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303520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C2C2C"/>
                </a:solidFill>
                <a:latin typeface="Calibri"/>
              </a:rPr>
              <a:t> 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Metrologia</a:t>
            </a:r>
            <a:r>
              <a:rPr sz="1800" dirty="0">
                <a:solidFill>
                  <a:srgbClr val="2C2C2C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optica</a:t>
            </a:r>
            <a:r>
              <a:rPr sz="1800" dirty="0">
                <a:solidFill>
                  <a:srgbClr val="2C2C2C"/>
                </a:solidFill>
                <a:latin typeface="Calibri"/>
              </a:rPr>
              <a:t> y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deteccion</a:t>
            </a:r>
            <a:r>
              <a:rPr sz="1800" dirty="0">
                <a:solidFill>
                  <a:srgbClr val="2C2C2C"/>
                </a:solidFill>
                <a:latin typeface="Calibri"/>
              </a:rPr>
              <a:t> de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defectos</a:t>
            </a:r>
            <a:r>
              <a:rPr sz="1800" dirty="0">
                <a:solidFill>
                  <a:srgbClr val="2C2C2C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superficiales</a:t>
            </a:r>
            <a:endParaRPr sz="1800" dirty="0">
              <a:solidFill>
                <a:srgbClr val="2C2C2C"/>
              </a:solidFill>
              <a:latin typeface="Calibri"/>
            </a:endParaRPr>
          </a:p>
          <a:p>
            <a:pPr marL="285750" indent="-285750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C2C2C"/>
                </a:solidFill>
                <a:latin typeface="Calibri"/>
              </a:rPr>
              <a:t> 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Tomografia</a:t>
            </a:r>
            <a:r>
              <a:rPr sz="1800" dirty="0">
                <a:solidFill>
                  <a:srgbClr val="2C2C2C"/>
                </a:solidFill>
                <a:latin typeface="Calibri"/>
              </a:rPr>
              <a:t> de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coherencia</a:t>
            </a:r>
            <a:r>
              <a:rPr sz="1800" dirty="0">
                <a:solidFill>
                  <a:srgbClr val="2C2C2C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optica</a:t>
            </a:r>
            <a:r>
              <a:rPr sz="1800" dirty="0">
                <a:solidFill>
                  <a:srgbClr val="2C2C2C"/>
                </a:solidFill>
                <a:latin typeface="Calibri"/>
              </a:rPr>
              <a:t> (OCT)</a:t>
            </a:r>
          </a:p>
          <a:p>
            <a:pPr marL="285750" indent="-285750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C2C2C"/>
                </a:solidFill>
                <a:latin typeface="Calibri"/>
              </a:rPr>
              <a:t>  Imagenologia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biomedica</a:t>
            </a:r>
            <a:endParaRPr sz="1800" dirty="0">
              <a:solidFill>
                <a:srgbClr val="2C2C2C"/>
              </a:solidFill>
              <a:latin typeface="Calibri"/>
            </a:endParaRPr>
          </a:p>
          <a:p>
            <a:pPr marL="285750" indent="-285750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C2C2C"/>
                </a:solidFill>
                <a:latin typeface="Calibri"/>
              </a:rPr>
              <a:t> 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Criptografia</a:t>
            </a:r>
            <a:r>
              <a:rPr sz="1800" dirty="0">
                <a:solidFill>
                  <a:srgbClr val="2C2C2C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optica</a:t>
            </a:r>
            <a:endParaRPr sz="1800" dirty="0">
              <a:solidFill>
                <a:srgbClr val="2C2C2C"/>
              </a:solidFill>
              <a:latin typeface="Calibri"/>
            </a:endParaRPr>
          </a:p>
          <a:p>
            <a:pPr marL="285750" indent="-285750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2C2C2C"/>
                </a:solidFill>
                <a:latin typeface="Calibri"/>
              </a:rPr>
              <a:t>  Comunicaciones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por</a:t>
            </a:r>
            <a:r>
              <a:rPr sz="1800" dirty="0">
                <a:solidFill>
                  <a:srgbClr val="2C2C2C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fibra</a:t>
            </a:r>
            <a:r>
              <a:rPr sz="1800" dirty="0">
                <a:solidFill>
                  <a:srgbClr val="2C2C2C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C2C2C"/>
                </a:solidFill>
                <a:latin typeface="Calibri"/>
              </a:rPr>
              <a:t>optica</a:t>
            </a:r>
            <a:endParaRPr sz="180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17920" y="1005840"/>
            <a:ext cx="5577840" cy="2468880"/>
          </a:xfrm>
          <a:prstGeom prst="rect">
            <a:avLst/>
          </a:prstGeom>
          <a:solidFill>
            <a:srgbClr val="F0F2F5"/>
          </a:solidFill>
          <a:ln w="1270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5C8C"/>
                </a:solidFill>
                <a:latin typeface="Calibri"/>
              </a:rPr>
              <a:t>El reto computacional con metodos clasicos (FEM):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  Malla debe tener resolucion &lt; longitud de onda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  Millones de incognitas por realizacion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  Cada nuevo perfil de rugosidad: resolver desde cero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>
                <a:solidFill>
                  <a:srgbClr val="2C2C2C"/>
                </a:solidFill>
                <a:latin typeface="Calibri"/>
              </a:rPr>
              <a:t>  Para estudios estadisticos (miles de realizaciones): costo intratable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611880"/>
            <a:ext cx="5577840" cy="182880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3703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Propuesta: PINN libre de malla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Incorporar la fisica directamente en la funcion de perdida de una red neuronal. Una vez entrenada, evalua el campo completo en milisegundos (GPU RTX 5050).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3F4DC08-4C0B-7C4D-50C9-F254EE136111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9</a:t>
            </a: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MARCO TEÓRICO: ECUACION DE HELMHOLTZ Y SPECKLE OPTICO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5C8C"/>
                </a:solidFill>
                <a:latin typeface="Calibri"/>
              </a:rPr>
              <a:t>Ecuacion de Helmholtz escalar 2D: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44752"/>
            <a:ext cx="5486400" cy="1463040"/>
          </a:xfrm>
          <a:prstGeom prst="rect">
            <a:avLst/>
          </a:prstGeom>
          <a:solidFill>
            <a:srgbClr val="F0F2F5"/>
          </a:solidFill>
          <a:ln w="1270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4F72"/>
                </a:solidFill>
                <a:latin typeface="Calibri"/>
              </a:rPr>
              <a:t>∇²E(r) + k²E(r)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8640" y="2011680"/>
                <a:ext cx="5120640" cy="106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ar-AE" sz="14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ar-AE" sz="14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ar-AE" sz="14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4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4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ar-AE" sz="14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ar-AE" sz="1400" b="0" i="0" dirty="0">
                    <a:solidFill>
                      <a:srgbClr val="2C2C2C"/>
                    </a:solidFill>
                    <a:latin typeface="Calibri"/>
                  </a:rPr>
                  <a:t>,   </a:t>
                </a:r>
                <a:r>
                  <a:rPr lang="el-GR" sz="1400" b="0" i="0" dirty="0">
                    <a:solidFill>
                      <a:srgbClr val="2C2C2C"/>
                    </a:solidFill>
                    <a:latin typeface="Calibri"/>
                  </a:rPr>
                  <a:t>λ = 638 </a:t>
                </a:r>
                <a:r>
                  <a:rPr lang="es-MX" sz="1400" b="0" i="0" dirty="0">
                    <a:solidFill>
                      <a:srgbClr val="2C2C2C"/>
                    </a:solidFill>
                    <a:latin typeface="Calibri"/>
                  </a:rPr>
                  <a:t>nm (laser </a:t>
                </a:r>
                <a:r>
                  <a:rPr lang="es-MX" sz="1400" b="0" i="0" dirty="0" err="1">
                    <a:solidFill>
                      <a:srgbClr val="2C2C2C"/>
                    </a:solidFill>
                    <a:latin typeface="Calibri"/>
                  </a:rPr>
                  <a:t>diodo</a:t>
                </a:r>
                <a:r>
                  <a:rPr lang="es-MX" sz="1400" b="0" i="0" dirty="0">
                    <a:solidFill>
                      <a:srgbClr val="2C2C2C"/>
                    </a:solidFill>
                    <a:latin typeface="Calibri"/>
                  </a:rPr>
                  <a:t> rojo)
Dominio</a:t>
                </a:r>
                <a14:m>
                  <m:oMath xmlns:m="http://schemas.openxmlformats.org/officeDocument/2006/math">
                    <m:r>
                      <a:rPr lang="es-MX" sz="14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l-GR" sz="1400" b="0" i="0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sz="1400" b="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l-GR" sz="1400" b="0" i="1" dirty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l-GR" sz="1400" b="0" i="1" dirty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sz="1400" b="0" i="1" dirty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l-GR" sz="1400" b="0" i="1" dirty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l-GR" sz="1400" b="0" i="1" dirty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l-GR" sz="1400" b="0" i="1" dirty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l-GR" sz="1400" b="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400" b="0" i="0" dirty="0">
                    <a:solidFill>
                      <a:srgbClr val="2C2C2C"/>
                    </a:solidFill>
                    <a:latin typeface="Calibri"/>
                  </a:rPr>
                  <a:t>(</a:t>
                </a:r>
                <a:r>
                  <a:rPr lang="es-MX" sz="1400" b="0" i="0" dirty="0" err="1">
                    <a:solidFill>
                      <a:srgbClr val="2C2C2C"/>
                    </a:solidFill>
                    <a:latin typeface="Calibri"/>
                  </a:rPr>
                  <a:t>adimensional</a:t>
                </a:r>
                <a:r>
                  <a:rPr lang="es-MX" sz="1400" b="0" i="0" dirty="0">
                    <a:solidFill>
                      <a:srgbClr val="2C2C2C"/>
                    </a:solidFill>
                    <a:latin typeface="Calibri"/>
                  </a:rPr>
                  <a:t>)
Campo </a:t>
                </a:r>
                <a:r>
                  <a:rPr lang="es-MX" sz="1400" b="0" i="0" dirty="0" err="1">
                    <a:solidFill>
                      <a:srgbClr val="2C2C2C"/>
                    </a:solidFill>
                    <a:latin typeface="Calibri"/>
                  </a:rPr>
                  <a:t>complejo</a:t>
                </a:r>
                <a:r>
                  <a:rPr lang="es-MX" sz="1400" b="0" i="0" dirty="0">
                    <a:solidFill>
                      <a:srgbClr val="2C2C2C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s-MX" sz="14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s-MX" sz="14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s-MX" sz="1400" b="0" i="1" dirty="0" err="1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400" b="0" i="1" dirty="0" err="1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MX" sz="1400" b="0" i="1" dirty="0" err="1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  <m:r>
                      <a:rPr lang="es-MX" sz="1400" b="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s-MX" sz="1400" b="0" i="1" dirty="0" err="1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MX" sz="1400" b="0" i="1" dirty="0" err="1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·</m:t>
                    </m:r>
                    <m:sSub>
                      <m:sSubPr>
                        <m:ctrlPr>
                          <a:rPr lang="es-MX" sz="1400" b="0" i="1" dirty="0" err="1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400" b="0" i="1" dirty="0" err="1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MX" sz="1400" b="0" i="1" dirty="0" err="1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𝑖𝑚𝑎𝑔</m:t>
                        </m:r>
                      </m:sub>
                    </m:sSub>
                  </m:oMath>
                </a14:m>
                <a:endParaRPr lang="es-MX" sz="1400" b="0" i="0" dirty="0">
                  <a:solidFill>
                    <a:srgbClr val="2C2C2C"/>
                  </a:solidFill>
                  <a:latin typeface="Calibri"/>
                </a:endParaRPr>
              </a:p>
              <a:p>
                <a:pPr algn="l"/>
                <a:endParaRPr sz="1400" b="0" i="0" dirty="0">
                  <a:solidFill>
                    <a:srgbClr val="2C2C2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011680"/>
                <a:ext cx="5120640" cy="1061957"/>
              </a:xfrm>
              <a:prstGeom prst="rect">
                <a:avLst/>
              </a:prstGeom>
              <a:blipFill>
                <a:blip r:embed="rId3"/>
                <a:stretch>
                  <a:fillRect l="-3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65760" y="3017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2C2C"/>
                </a:solidFill>
                <a:latin typeface="Calibri"/>
              </a:rPr>
              <a:t>La red predice ambas componentes independientemente: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83280"/>
            <a:ext cx="5486400" cy="777240"/>
          </a:xfrm>
          <a:prstGeom prst="rect">
            <a:avLst/>
          </a:prstGeom>
          <a:solidFill>
            <a:srgbClr val="F0F2F5"/>
          </a:solidFill>
          <a:ln w="1270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48640" y="3456432"/>
                <a:ext cx="5120640" cy="678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1700" b="1" dirty="0">
                    <a:solidFill>
                      <a:srgbClr val="1B4F72"/>
                    </a:solidFill>
                  </a:rPr>
                  <a:t>∇²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b="1" i="1" smtClean="0">
                            <a:solidFill>
                              <a:srgbClr val="1B4F7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MX" sz="1700" b="1" dirty="0">
                            <a:solidFill>
                              <a:srgbClr val="1B4F72"/>
                            </a:solidFill>
                          </a:rPr>
                          <m:t>E</m:t>
                        </m:r>
                      </m:e>
                      <m:sub>
                        <m:r>
                          <m:rPr>
                            <m:nor/>
                          </m:rPr>
                          <a:rPr lang="es-MX" sz="1700" b="1" dirty="0" smtClean="0">
                            <a:solidFill>
                              <a:srgbClr val="1B4F72"/>
                            </a:solidFill>
                          </a:rPr>
                          <m:t>real</m:t>
                        </m:r>
                      </m:sub>
                    </m:sSub>
                  </m:oMath>
                </a14:m>
                <a:r>
                  <a:rPr lang="ar-AE" sz="1700" b="1" i="0" dirty="0">
                    <a:solidFill>
                      <a:srgbClr val="1B4F72"/>
                    </a:solidFill>
                    <a:latin typeface="Calibri"/>
                  </a:rPr>
                  <a:t> + </a:t>
                </a:r>
                <a:r>
                  <a:rPr lang="es-MX" sz="1700" b="1" i="0" dirty="0">
                    <a:solidFill>
                      <a:srgbClr val="1B4F72"/>
                    </a:solidFill>
                    <a:latin typeface="Calibri"/>
                  </a:rPr>
                  <a:t>k²</a:t>
                </a:r>
                <a:r>
                  <a:rPr lang="ar-AE" sz="1700" b="1" dirty="0">
                    <a:solidFill>
                      <a:srgbClr val="1B4F7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b="1" i="1">
                            <a:solidFill>
                              <a:srgbClr val="1B4F7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s-MX" sz="1700" b="1" dirty="0">
                            <a:solidFill>
                              <a:srgbClr val="1B4F72"/>
                            </a:solidFill>
                          </a:rPr>
                          <m:t>E</m:t>
                        </m:r>
                      </m:e>
                      <m:sub>
                        <m:r>
                          <m:rPr>
                            <m:nor/>
                          </m:rPr>
                          <a:rPr lang="es-MX" sz="1700" b="1" dirty="0">
                            <a:solidFill>
                              <a:srgbClr val="1B4F72"/>
                            </a:solidFill>
                          </a:rPr>
                          <m:t>real</m:t>
                        </m:r>
                      </m:sub>
                    </m:sSub>
                  </m:oMath>
                </a14:m>
                <a:r>
                  <a:rPr lang="es-MX" sz="1700" b="1" i="0" dirty="0">
                    <a:solidFill>
                      <a:srgbClr val="1B4F72"/>
                    </a:solidFill>
                    <a:latin typeface="Calibri"/>
                  </a:rPr>
                  <a:t> = 0
∇²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b="1" i="1" smtClean="0">
                            <a:solidFill>
                              <a:srgbClr val="1B4F7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b="1" i="1" smtClean="0">
                            <a:solidFill>
                              <a:srgbClr val="1B4F72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m:rPr>
                            <m:nor/>
                          </m:rPr>
                          <a:rPr lang="es-MX" sz="1700" b="1" dirty="0">
                            <a:solidFill>
                              <a:srgbClr val="1B4F72"/>
                            </a:solidFill>
                          </a:rPr>
                          <m:t>imag</m:t>
                        </m:r>
                      </m:sub>
                    </m:sSub>
                  </m:oMath>
                </a14:m>
                <a:r>
                  <a:rPr lang="ar-AE" sz="1700" b="1" i="0" dirty="0">
                    <a:solidFill>
                      <a:srgbClr val="1B4F72"/>
                    </a:solidFill>
                    <a:latin typeface="Calibri"/>
                  </a:rPr>
                  <a:t> + </a:t>
                </a:r>
                <a:r>
                  <a:rPr lang="es-MX" sz="1700" b="1" i="0" dirty="0">
                    <a:solidFill>
                      <a:srgbClr val="1B4F72"/>
                    </a:solidFill>
                    <a:latin typeface="Calibri"/>
                  </a:rPr>
                  <a:t>k²</a:t>
                </a:r>
                <a:r>
                  <a:rPr lang="ar-AE" sz="1700" b="1" dirty="0">
                    <a:solidFill>
                      <a:srgbClr val="1B4F7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b="1" i="1">
                            <a:solidFill>
                              <a:srgbClr val="1B4F7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b="1" i="1">
                            <a:solidFill>
                              <a:srgbClr val="1B4F72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m:rPr>
                            <m:nor/>
                          </m:rPr>
                          <a:rPr lang="es-MX" sz="1700" b="1" dirty="0">
                            <a:solidFill>
                              <a:srgbClr val="1B4F72"/>
                            </a:solidFill>
                          </a:rPr>
                          <m:t>imag</m:t>
                        </m:r>
                      </m:sub>
                    </m:sSub>
                  </m:oMath>
                </a14:m>
                <a:r>
                  <a:rPr lang="es-MX" sz="1700" b="1" i="0" dirty="0">
                    <a:solidFill>
                      <a:srgbClr val="1B4F72"/>
                    </a:solidFill>
                    <a:latin typeface="Calibri"/>
                  </a:rPr>
                  <a:t> = 0</a:t>
                </a:r>
                <a:endParaRPr sz="1700" b="1" i="0" dirty="0">
                  <a:solidFill>
                    <a:srgbClr val="1B4F72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456432"/>
                <a:ext cx="5120640" cy="678840"/>
              </a:xfrm>
              <a:prstGeom prst="rect">
                <a:avLst/>
              </a:prstGeom>
              <a:blipFill>
                <a:blip r:embed="rId4"/>
                <a:stretch>
                  <a:fillRect l="-714" t="-2703" b="-720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400800" y="1051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5C8C"/>
                </a:solidFill>
                <a:latin typeface="Calibri"/>
              </a:rPr>
              <a:t>Estadistica del speckle completamente desarrollado: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400800" y="1463040"/>
                <a:ext cx="5486400" cy="24969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200"/>
                  </a:spcAft>
                </a:pP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  Intensidad: I = </a:t>
                </a:r>
                <a:r>
                  <a:rPr lang="es-MX" sz="1700" dirty="0">
                    <a:solidFill>
                      <a:schemeClr val="tx1"/>
                    </a:solidFill>
                    <a:latin typeface="Calibri"/>
                  </a:rPr>
                  <a:t>|E|²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ar-AE" sz="17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7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s-MX" sz="17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  <m:sub>
                        <m:r>
                          <m:rPr>
                            <m:nor/>
                          </m:rPr>
                          <a:rPr lang="es-MX" sz="1700" b="1" i="0" smtClean="0">
                            <a:solidFill>
                              <a:schemeClr val="tx1"/>
                            </a:solidFill>
                          </a:rPr>
                          <m:t>real</m:t>
                        </m:r>
                      </m:sub>
                    </m:sSub>
                  </m:oMath>
                </a14:m>
                <a:r>
                  <a:rPr lang="es-MX" sz="1700" dirty="0">
                    <a:solidFill>
                      <a:schemeClr val="tx1"/>
                    </a:solidFill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ar-AE" sz="17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MX" sz="17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s-MX" sz="17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  <m:sub>
                        <m:r>
                          <m:rPr>
                            <m:nor/>
                          </m:rPr>
                          <a:rPr lang="es-MX" sz="1700" b="1" dirty="0">
                            <a:solidFill>
                              <a:schemeClr val="tx1"/>
                            </a:solidFill>
                          </a:rPr>
                          <m:t>imag</m:t>
                        </m:r>
                      </m:sub>
                    </m:sSub>
                  </m:oMath>
                </a14:m>
                <a:endParaRPr lang="ar-AE" sz="1700" b="1" dirty="0">
                  <a:solidFill>
                    <a:srgbClr val="1B4F72"/>
                  </a:solidFill>
                </a:endParaRPr>
              </a:p>
              <a:p>
                <a:pPr>
                  <a:spcBef>
                    <a:spcPts val="600"/>
                  </a:spcBef>
                  <a:spcAft>
                    <a:spcPts val="200"/>
                  </a:spcAft>
                </a:pPr>
                <a:r>
                  <a:rPr lang="ar-AE" sz="1700" dirty="0">
                    <a:solidFill>
                      <a:srgbClr val="2C2C2C"/>
                    </a:solidFill>
                    <a:latin typeface="Calibri"/>
                  </a:rPr>
                  <a:t>  </a:t>
                </a:r>
                <a:r>
                  <a:rPr lang="es-MX" sz="1700" dirty="0" err="1">
                    <a:solidFill>
                      <a:srgbClr val="2C2C2C"/>
                    </a:solidFill>
                    <a:latin typeface="Calibri"/>
                  </a:rPr>
                  <a:t>Distribucion</a:t>
                </a: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700" dirty="0" err="1">
                    <a:solidFill>
                      <a:srgbClr val="2C2C2C"/>
                    </a:solidFill>
                    <a:latin typeface="Calibri"/>
                  </a:rPr>
                  <a:t>teorica</a:t>
                </a: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: </a:t>
                </a:r>
                <a:r>
                  <a:rPr lang="es-MX" sz="1700" dirty="0" err="1">
                    <a:solidFill>
                      <a:srgbClr val="2C2C2C"/>
                    </a:solidFill>
                    <a:latin typeface="Calibri"/>
                  </a:rPr>
                  <a:t>exponencial</a:t>
                </a: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700" dirty="0" err="1">
                    <a:solidFill>
                      <a:srgbClr val="2C2C2C"/>
                    </a:solidFill>
                    <a:latin typeface="Calibri"/>
                  </a:rPr>
                  <a:t>negativa</a:t>
                </a:r>
                <a:endParaRPr lang="es-MX" sz="1700" dirty="0">
                  <a:solidFill>
                    <a:srgbClr val="2C2C2C"/>
                  </a:solidFill>
                  <a:latin typeface="Calibri"/>
                </a:endParaRPr>
              </a:p>
              <a:p>
                <a:pPr>
                  <a:spcBef>
                    <a:spcPts val="600"/>
                  </a:spcBef>
                  <a:spcAft>
                    <a:spcPts val="200"/>
                  </a:spcAft>
                </a:pP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d>
                      <m:dPr>
                        <m:ctrlPr>
                          <a:rPr lang="es-MX" sz="170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1700" i="1" dirty="0" smtClean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1700" i="1" dirty="0" smtClean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⟨"/>
                                <m:endChr m:val="⟩"/>
                                <m:ctrlPr>
                                  <a:rPr lang="es-MX" sz="1700" i="1" dirty="0" smtClean="0">
                                    <a:solidFill>
                                      <a:srgbClr val="2C2C2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MX" sz="1700" i="1" dirty="0" smtClean="0">
                                    <a:solidFill>
                                      <a:srgbClr val="2C2C2C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·</m:t>
                    </m:r>
                    <m:func>
                      <m:funcPr>
                        <m:ctrlPr>
                          <a:rPr lang="es-MX" sz="170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MX" sz="1700" i="0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s-MX" sz="1700" i="1" dirty="0" smtClean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1700" i="1" dirty="0" smtClean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MX" sz="1700" i="1" dirty="0" smtClean="0">
                                    <a:solidFill>
                                      <a:srgbClr val="2C2C2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MX" sz="1700" i="1" dirty="0" smtClean="0">
                                    <a:solidFill>
                                      <a:srgbClr val="2C2C2C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num>
                              <m:den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s-MX" sz="1700" i="1" dirty="0" smtClean="0">
                                        <a:solidFill>
                                          <a:srgbClr val="2C2C2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s-MX" sz="1700" i="1" dirty="0" smtClean="0">
                                        <a:solidFill>
                                          <a:srgbClr val="2C2C2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  </a:t>
                </a:r>
              </a:p>
              <a:p>
                <a:pPr>
                  <a:spcBef>
                    <a:spcPts val="600"/>
                  </a:spcBef>
                  <a:spcAft>
                    <a:spcPts val="200"/>
                  </a:spcAft>
                </a:pP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  </a:t>
                </a:r>
                <a:r>
                  <a:rPr lang="es-MX" sz="1700" dirty="0" err="1">
                    <a:solidFill>
                      <a:srgbClr val="2C2C2C"/>
                    </a:solidFill>
                    <a:latin typeface="Calibri"/>
                  </a:rPr>
                  <a:t>Contraste</a:t>
                </a: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s-MX" sz="170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l-GR" sz="1700" i="1" dirty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sz="1700" i="1" dirty="0" err="1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s-MX" sz="1700" i="1" dirty="0" err="1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⟨"/>
                            <m:endChr m:val="⟩"/>
                            <m:ctrlPr>
                              <a:rPr lang="es-MX" sz="1700" i="1" dirty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MX" sz="1700" i="1" dirty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den>
                    </m:f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s-MX" sz="1700" dirty="0">
                  <a:solidFill>
                    <a:srgbClr val="2C2C2C"/>
                  </a:solidFill>
                  <a:latin typeface="Calibri"/>
                </a:endParaRPr>
              </a:p>
              <a:p>
                <a:pPr>
                  <a:spcBef>
                    <a:spcPts val="600"/>
                  </a:spcBef>
                  <a:spcAft>
                    <a:spcPts val="200"/>
                  </a:spcAft>
                </a:pP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(speckle puro)</a:t>
                </a:r>
              </a:p>
              <a:p>
                <a:pPr>
                  <a:spcBef>
                    <a:spcPts val="600"/>
                  </a:spcBef>
                  <a:spcAft>
                    <a:spcPts val="200"/>
                  </a:spcAft>
                </a:pP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  </a:t>
                </a:r>
                <a:r>
                  <a:rPr lang="es-MX" sz="1700" dirty="0" err="1">
                    <a:solidFill>
                      <a:srgbClr val="2C2C2C"/>
                    </a:solidFill>
                    <a:latin typeface="Calibri"/>
                  </a:rPr>
                  <a:t>Criterio</a:t>
                </a: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700" dirty="0" err="1">
                    <a:solidFill>
                      <a:srgbClr val="2C2C2C"/>
                    </a:solidFill>
                    <a:latin typeface="Calibri"/>
                  </a:rPr>
                  <a:t>validacion</a:t>
                </a:r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| &lt; 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MX" sz="17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s-MX" sz="1700" dirty="0">
                    <a:solidFill>
                      <a:srgbClr val="2C2C2C"/>
                    </a:solidFill>
                    <a:latin typeface="Calibri"/>
                  </a:rPr>
                  <a:t>(Goodman 2007)</a:t>
                </a:r>
                <a:endParaRPr sz="1700" dirty="0">
                  <a:solidFill>
                    <a:srgbClr val="2C2C2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463040"/>
                <a:ext cx="5486400" cy="2496966"/>
              </a:xfrm>
              <a:prstGeom prst="rect">
                <a:avLst/>
              </a:prstGeom>
              <a:blipFill>
                <a:blip r:embed="rId5"/>
                <a:stretch>
                  <a:fillRect l="-778" b="-219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6400800" y="4160520"/>
            <a:ext cx="5486400" cy="2011680"/>
          </a:xfrm>
          <a:prstGeom prst="rect">
            <a:avLst/>
          </a:prstGeom>
          <a:solidFill>
            <a:srgbClr val="7A9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42519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Condicion de frontera para speckle (NB03 - proximo paso):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583680" y="4617720"/>
                <a:ext cx="5120640" cy="1051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ar-AE" sz="15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ar-AE" sz="15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5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ar-AE" sz="15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5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15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ar-AE" sz="15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5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ar-AE" sz="1500" b="0" i="1" dirty="0" err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ar-AE" sz="1500" b="0" i="1" dirty="0" err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ar-AE" sz="1500" b="0" i="1" dirty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500" b="0" i="1" dirty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p>
                    </m:sSup>
                  </m:oMath>
                </a14:m>
                <a:r>
                  <a:rPr lang="ar-AE" sz="1500" b="0" i="0" dirty="0">
                    <a:solidFill>
                      <a:srgbClr val="FFFFFF"/>
                    </a:solidFill>
                    <a:latin typeface="Calibri"/>
                  </a:rPr>
                  <a:t> </a:t>
                </a:r>
                <a:r>
                  <a:rPr lang="es-MX" sz="1500" b="0" i="0" dirty="0">
                    <a:solidFill>
                      <a:srgbClr val="FFFFFF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l-GR" sz="15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l-GR" sz="1500" b="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500" b="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sz="15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∼ </m:t>
                    </m:r>
                    <m:r>
                      <a:rPr lang="es-MX" sz="15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s-MX" sz="1500" b="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500" b="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s-MX" sz="1500" b="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MX" sz="1500" b="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l-GR" sz="1500" b="0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l-GR" sz="1500" b="0" i="0" dirty="0">
                    <a:solidFill>
                      <a:srgbClr val="FFFFFF"/>
                    </a:solidFill>
                    <a:latin typeface="Calibri"/>
                  </a:rPr>
                  <a:t>
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5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500" b="0" i="1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l-GR" sz="1500" b="0" i="1" dirty="0" err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l-GR" sz="15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l-GR" sz="15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256</m:t>
                    </m:r>
                    <m:r>
                      <a:rPr lang="el-GR" sz="1500" b="0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1500" b="0" i="0" dirty="0">
                    <a:solidFill>
                      <a:srgbClr val="FFFFFF"/>
                    </a:solidFill>
                    <a:latin typeface="Calibri"/>
                  </a:rPr>
                  <a:t>puntos </a:t>
                </a:r>
                <a:r>
                  <a:rPr lang="es-MX" sz="1500" b="0" i="0" dirty="0" err="1">
                    <a:solidFill>
                      <a:srgbClr val="FFFFFF"/>
                    </a:solidFill>
                    <a:latin typeface="Calibri"/>
                  </a:rPr>
                  <a:t>en</a:t>
                </a:r>
                <a:r>
                  <a:rPr lang="es-MX" sz="1500" b="0" i="0" dirty="0">
                    <a:solidFill>
                      <a:srgbClr val="FFFFFF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s-MX" sz="15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MX" sz="15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15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MX" sz="1500" b="0" i="0" dirty="0">
                    <a:solidFill>
                      <a:srgbClr val="FFFFFF"/>
                    </a:solidFill>
                    <a:latin typeface="Calibri"/>
                  </a:rPr>
                  <a:t>
Bordes x=0, x=1, y=1: </a:t>
                </a:r>
                <a:r>
                  <a:rPr lang="es-MX" sz="1500" b="0" i="0" dirty="0" err="1">
                    <a:solidFill>
                      <a:srgbClr val="FFFFFF"/>
                    </a:solidFill>
                    <a:latin typeface="Calibri"/>
                  </a:rPr>
                  <a:t>libres</a:t>
                </a:r>
                <a:r>
                  <a:rPr lang="es-MX" sz="1500" b="0" i="0" dirty="0">
                    <a:solidFill>
                      <a:srgbClr val="FFFFFF"/>
                    </a:solidFill>
                    <a:latin typeface="Calibri"/>
                  </a:rPr>
                  <a:t> (sin Dirichlet)
→ </a:t>
                </a:r>
                <a:r>
                  <a:rPr lang="es-MX" sz="1500" b="0" i="0" dirty="0" err="1">
                    <a:solidFill>
                      <a:srgbClr val="FFFFFF"/>
                    </a:solidFill>
                    <a:latin typeface="Calibri"/>
                  </a:rPr>
                  <a:t>Modela</a:t>
                </a:r>
                <a:r>
                  <a:rPr lang="es-MX" sz="1500" b="0" i="0" dirty="0">
                    <a:solidFill>
                      <a:srgbClr val="FFFFFF"/>
                    </a:solidFill>
                    <a:latin typeface="Calibri"/>
                  </a:rPr>
                  <a:t> </a:t>
                </a:r>
                <a:r>
                  <a:rPr lang="es-MX" sz="1500" b="0" i="0" dirty="0" err="1">
                    <a:solidFill>
                      <a:srgbClr val="FFFFFF"/>
                    </a:solidFill>
                    <a:latin typeface="Calibri"/>
                  </a:rPr>
                  <a:t>superficie</a:t>
                </a:r>
                <a:r>
                  <a:rPr lang="es-MX" sz="1500" b="0" i="0" dirty="0">
                    <a:solidFill>
                      <a:srgbClr val="FFFFFF"/>
                    </a:solidFill>
                    <a:latin typeface="Calibri"/>
                  </a:rPr>
                  <a:t> rugosa </a:t>
                </a:r>
                <a:r>
                  <a:rPr lang="es-MX" sz="1500" b="0" i="0" dirty="0" err="1">
                    <a:solidFill>
                      <a:srgbClr val="FFFFFF"/>
                    </a:solidFill>
                    <a:latin typeface="Calibri"/>
                  </a:rPr>
                  <a:t>iluminada</a:t>
                </a:r>
                <a:r>
                  <a:rPr lang="es-MX" sz="1500" b="0" i="0" dirty="0">
                    <a:solidFill>
                      <a:srgbClr val="FFFFFF"/>
                    </a:solidFill>
                    <a:latin typeface="Calibri"/>
                  </a:rPr>
                  <a:t> </a:t>
                </a:r>
                <a:r>
                  <a:rPr lang="es-MX" sz="1500" b="0" i="0" dirty="0" err="1">
                    <a:solidFill>
                      <a:srgbClr val="FFFFFF"/>
                    </a:solidFill>
                    <a:latin typeface="Calibri"/>
                  </a:rPr>
                  <a:t>por</a:t>
                </a:r>
                <a:r>
                  <a:rPr lang="es-MX" sz="1500" b="0" i="0" dirty="0">
                    <a:solidFill>
                      <a:srgbClr val="FFFFFF"/>
                    </a:solidFill>
                    <a:latin typeface="Calibri"/>
                  </a:rPr>
                  <a:t> laser</a:t>
                </a:r>
                <a:endParaRPr sz="1500" b="0" i="0" dirty="0">
                  <a:solidFill>
                    <a:srgbClr val="FFFFFF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4617720"/>
                <a:ext cx="5120640" cy="1051826"/>
              </a:xfrm>
              <a:prstGeom prst="rect">
                <a:avLst/>
              </a:prstGeom>
              <a:blipFill>
                <a:blip r:embed="rId6"/>
                <a:stretch>
                  <a:fillRect l="-476" t="-581" b="-58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ángulo 16">
            <a:extLst>
              <a:ext uri="{FF2B5EF4-FFF2-40B4-BE49-F238E27FC236}">
                <a16:creationId xmlns:a16="http://schemas.microsoft.com/office/drawing/2014/main" id="{5BE1A6AD-5012-4823-3203-F9E678574ABB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10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700" b="1" i="0" dirty="0">
                <a:solidFill>
                  <a:srgbClr val="FFFFFF"/>
                </a:solidFill>
                <a:latin typeface="Calibri"/>
              </a:rPr>
              <a:t>PHYSICS-INFORMED NEURAL NETWORKS Y ARQUITECTURA SIREN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45C8C"/>
                </a:solidFill>
                <a:latin typeface="Calibri"/>
              </a:rPr>
              <a:t>Funcion de perdida PINN: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44752"/>
            <a:ext cx="11430000" cy="640080"/>
          </a:xfrm>
          <a:prstGeom prst="rect">
            <a:avLst/>
          </a:prstGeom>
          <a:solidFill>
            <a:srgbClr val="F0F2F5"/>
          </a:solidFill>
          <a:ln w="1270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48640" y="1536192"/>
                <a:ext cx="1106424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200" b="1" i="1" dirty="0" smtClean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s-MX" sz="2200" b="1" i="1" dirty="0" smtClean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2200" b="1" i="1" dirty="0" smtClean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s-MX" sz="2200" b="1" i="1" dirty="0" smtClean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s-MX" sz="2200" b="1" i="1" dirty="0" err="1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s-MX" sz="2200" b="1" i="1" dirty="0" err="1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MX" sz="2200" b="1" i="1" dirty="0" err="1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𝒅𝒂𝒕𝒐𝒔</m:t>
                      </m:r>
                      <m:r>
                        <a:rPr lang="es-MX" sz="2200" b="1" i="1" dirty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2200" b="1" i="1" dirty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s-MX" sz="2200" b="1" i="1" dirty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)  +  </m:t>
                      </m:r>
                      <m:r>
                        <a:rPr lang="es-MX" sz="2200" b="1" i="1" dirty="0" err="1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s-MX" sz="2200" b="1" i="1" dirty="0" err="1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MX" sz="2200" b="1" i="1" dirty="0" err="1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𝒇𝒊𝒔</m:t>
                      </m:r>
                      <m:r>
                        <a:rPr lang="es-MX" sz="2200" b="1" i="1" dirty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r>
                        <a:rPr lang="es-MX" sz="2200" b="1" i="1" dirty="0" err="1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s-MX" sz="2200" b="1" i="1" dirty="0" err="1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MX" sz="2200" b="1" i="1" dirty="0" err="1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𝒇𝒊𝒔𝒊𝒄𝒂</m:t>
                      </m:r>
                      <m:r>
                        <a:rPr lang="es-MX" sz="2200" b="1" i="1" dirty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MX" sz="2200" b="1" i="1" dirty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s-MX" sz="2200" b="1" i="1" dirty="0">
                          <a:solidFill>
                            <a:srgbClr val="1B4F7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536192"/>
                <a:ext cx="11064240" cy="430887"/>
              </a:xfrm>
              <a:prstGeom prst="rect">
                <a:avLst/>
              </a:prstGeom>
              <a:blipFill>
                <a:blip r:embed="rId3"/>
                <a:stretch>
                  <a:fillRect t="-9859" b="-2676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8640" y="2176272"/>
                <a:ext cx="502920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ar-AE" sz="16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ar-AE" sz="16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𝑑𝑎𝑡𝑜𝑠</m:t>
                        </m:r>
                      </m:sub>
                    </m:sSub>
                  </m:oMath>
                </a14:m>
                <a:r>
                  <a:rPr lang="ar-AE" sz="1600" b="0" i="0" dirty="0">
                    <a:solidFill>
                      <a:srgbClr val="2C2C2C"/>
                    </a:solidFill>
                    <a:latin typeface="Calibri"/>
                  </a:rPr>
                  <a:t>: </a:t>
                </a:r>
                <a:r>
                  <a:rPr lang="es-MX" sz="1600" b="0" i="0" dirty="0">
                    <a:solidFill>
                      <a:srgbClr val="2C2C2C"/>
                    </a:solidFill>
                    <a:latin typeface="Calibri"/>
                  </a:rPr>
                  <a:t>error </a:t>
                </a:r>
                <a:r>
                  <a:rPr lang="es-MX" sz="1600" b="0" i="0" dirty="0" err="1">
                    <a:solidFill>
                      <a:srgbClr val="2C2C2C"/>
                    </a:solidFill>
                    <a:latin typeface="Calibri"/>
                  </a:rPr>
                  <a:t>en</a:t>
                </a:r>
                <a:r>
                  <a:rPr lang="es-MX" sz="1600" b="0" i="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600" b="0" i="0" dirty="0" err="1">
                    <a:solidFill>
                      <a:srgbClr val="2C2C2C"/>
                    </a:solidFill>
                    <a:latin typeface="Calibri"/>
                  </a:rPr>
                  <a:t>condiciones</a:t>
                </a:r>
                <a:r>
                  <a:rPr lang="es-MX" sz="1600" b="0" i="0" dirty="0">
                    <a:solidFill>
                      <a:srgbClr val="2C2C2C"/>
                    </a:solidFill>
                    <a:latin typeface="Calibri"/>
                  </a:rPr>
                  <a:t> de </a:t>
                </a:r>
                <a:r>
                  <a:rPr lang="es-MX" sz="1600" b="0" i="0" dirty="0" err="1">
                    <a:solidFill>
                      <a:srgbClr val="2C2C2C"/>
                    </a:solidFill>
                    <a:latin typeface="Calibri"/>
                  </a:rPr>
                  <a:t>frontera</a:t>
                </a:r>
                <a:endParaRPr sz="1600" b="0" i="0" dirty="0">
                  <a:solidFill>
                    <a:srgbClr val="2C2C2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176272"/>
                <a:ext cx="5029200" cy="338554"/>
              </a:xfrm>
              <a:prstGeom prst="rect">
                <a:avLst/>
              </a:prstGeom>
              <a:blipFill>
                <a:blip r:embed="rId4"/>
                <a:stretch>
                  <a:fillRect t="-7143" b="-2142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217920" y="2176272"/>
                <a:ext cx="5486400" cy="358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ar-AE" sz="16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ar-AE" sz="16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𝑓𝑖𝑠𝑖𝑐𝑎</m:t>
                        </m:r>
                      </m:sub>
                    </m:sSub>
                  </m:oMath>
                </a14:m>
                <a:r>
                  <a:rPr lang="ar-AE" sz="1600" b="0" i="0" dirty="0">
                    <a:solidFill>
                      <a:srgbClr val="2C2C2C"/>
                    </a:solidFill>
                    <a:latin typeface="Calibri"/>
                  </a:rPr>
                  <a:t>: </a:t>
                </a:r>
                <a:r>
                  <a:rPr lang="es-MX" sz="1600" b="0" i="0" dirty="0" err="1">
                    <a:solidFill>
                      <a:srgbClr val="2C2C2C"/>
                    </a:solidFill>
                    <a:latin typeface="Calibri"/>
                  </a:rPr>
                  <a:t>residuo</a:t>
                </a:r>
                <a:r>
                  <a:rPr lang="es-MX" sz="1600" b="0" i="0" dirty="0">
                    <a:solidFill>
                      <a:srgbClr val="2C2C2C"/>
                    </a:solidFill>
                    <a:latin typeface="Calibri"/>
                  </a:rPr>
                  <a:t> de Helmholtz </a:t>
                </a:r>
                <a:r>
                  <a:rPr lang="es-MX" sz="1600" b="0" i="0" dirty="0" err="1">
                    <a:solidFill>
                      <a:srgbClr val="2C2C2C"/>
                    </a:solidFill>
                    <a:latin typeface="Calibri"/>
                  </a:rPr>
                  <a:t>en</a:t>
                </a:r>
                <a:r>
                  <a:rPr lang="es-MX" sz="1600" b="0" i="0" dirty="0">
                    <a:solidFill>
                      <a:srgbClr val="2C2C2C"/>
                    </a:solidFill>
                    <a:latin typeface="Calibri"/>
                  </a:rPr>
                  <a:t> puntos </a:t>
                </a:r>
                <a:r>
                  <a:rPr lang="es-MX" sz="1600" b="0" i="0" dirty="0" err="1">
                    <a:solidFill>
                      <a:srgbClr val="2C2C2C"/>
                    </a:solidFill>
                    <a:latin typeface="Calibri"/>
                  </a:rPr>
                  <a:t>interiores</a:t>
                </a:r>
                <a:endParaRPr sz="1600" b="0" i="0" dirty="0">
                  <a:solidFill>
                    <a:srgbClr val="2C2C2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0" y="2176272"/>
                <a:ext cx="5486400" cy="358303"/>
              </a:xfrm>
              <a:prstGeom prst="rect">
                <a:avLst/>
              </a:prstGeom>
              <a:blipFill>
                <a:blip r:embed="rId5"/>
                <a:stretch>
                  <a:fillRect t="-5085" b="-1694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65760" y="2578608"/>
            <a:ext cx="11430000" cy="228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65760" y="2670048"/>
                <a:ext cx="11430000" cy="384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900" b="1" i="0" dirty="0">
                    <a:solidFill>
                      <a:srgbClr val="345C8C"/>
                    </a:solidFill>
                    <a:latin typeface="Calibri"/>
                  </a:rPr>
                  <a:t>¿Por </a:t>
                </a:r>
                <a:r>
                  <a:rPr sz="1900" b="1" i="0" dirty="0" err="1">
                    <a:solidFill>
                      <a:srgbClr val="345C8C"/>
                    </a:solidFill>
                    <a:latin typeface="Calibri"/>
                  </a:rPr>
                  <a:t>que</a:t>
                </a:r>
                <a:r>
                  <a:rPr sz="1900" b="1" i="0" dirty="0">
                    <a:solidFill>
                      <a:srgbClr val="345C8C"/>
                    </a:solidFill>
                    <a:latin typeface="Calibri"/>
                  </a:rPr>
                  <a:t> SIREN?  </a:t>
                </a:r>
                <a:r>
                  <a:rPr sz="1900" b="1" i="0" dirty="0" err="1">
                    <a:solidFill>
                      <a:srgbClr val="345C8C"/>
                    </a:solidFill>
                    <a:latin typeface="Calibri"/>
                  </a:rPr>
                  <a:t>Activacion</a:t>
                </a:r>
                <a:r>
                  <a:rPr sz="1900" b="1" i="0" dirty="0">
                    <a:solidFill>
                      <a:srgbClr val="345C8C"/>
                    </a:solidFill>
                    <a:latin typeface="Calibri"/>
                  </a:rPr>
                  <a:t> sinusoidal: </a:t>
                </a:r>
                <a14:m>
                  <m:oMath xmlns:m="http://schemas.openxmlformats.org/officeDocument/2006/math">
                    <m: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𝝋</m:t>
                    </m:r>
                    <m: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₀</m:t>
                    </m:r>
                    <m: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s-MX" sz="19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900" b="1" i="0" dirty="0">
                  <a:solidFill>
                    <a:srgbClr val="345C8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2670048"/>
                <a:ext cx="11430000" cy="384721"/>
              </a:xfrm>
              <a:prstGeom prst="rect">
                <a:avLst/>
              </a:prstGeom>
              <a:blipFill>
                <a:blip r:embed="rId6"/>
                <a:stretch>
                  <a:fillRect l="-480" t="-7937" b="-2698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365760" y="3090672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  ReLU / tanh: derivadas de 2.º orden inestables (Helmholtz requiere ∇²E)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  Sesgo espectral (spectral bias): aprenden frecuencias bajas primero, fallan para speckle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  SIREN: sin(ω₀z) → derivadas de cualquier orden son sinusoides → estabilidad numerica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  Inicializacion especial (Sitzmann et al. 2020): distribucion uniforme en [−1, 1] en todas las capas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  ω₀ = 1.0 (calibrado para dominio adimensional k = 2π, vs. ω₀ = 30 para imagenes)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08CB2F6-88C5-4E3E-8087-940DC80CE5B4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11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700" b="1" i="0" dirty="0">
                <a:solidFill>
                  <a:srgbClr val="FFFFFF"/>
                </a:solidFill>
                <a:latin typeface="Calibri"/>
              </a:rPr>
              <a:t>ARQUITECTURA SIREN 5X128 Y ESTRATEGIA DE ENTRENAMIENTO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45C8C"/>
                </a:solidFill>
                <a:latin typeface="Calibri"/>
              </a:rPr>
              <a:t>Arquitectura SIREN 5 x 128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5760" y="1463040"/>
                <a:ext cx="5303520" cy="22898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  Entrada:  (x, y)  →  2 </a:t>
                </a:r>
                <a:r>
                  <a:rPr lang="es-MX" sz="1800" dirty="0" err="1">
                    <a:solidFill>
                      <a:srgbClr val="2C2C2C"/>
                    </a:solidFill>
                    <a:latin typeface="Calibri"/>
                  </a:rPr>
                  <a:t>valores</a:t>
                </a:r>
                <a:endParaRPr lang="es-MX" sz="1800" dirty="0">
                  <a:solidFill>
                    <a:srgbClr val="2C2C2C"/>
                  </a:solidFill>
                  <a:latin typeface="Calibri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  5 </a:t>
                </a:r>
                <a:r>
                  <a:rPr lang="es-MX" sz="1800" dirty="0" err="1">
                    <a:solidFill>
                      <a:srgbClr val="2C2C2C"/>
                    </a:solidFill>
                    <a:latin typeface="Calibri"/>
                  </a:rPr>
                  <a:t>capas</a:t>
                </a: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800" dirty="0" err="1">
                    <a:solidFill>
                      <a:srgbClr val="2C2C2C"/>
                    </a:solidFill>
                    <a:latin typeface="Calibri"/>
                  </a:rPr>
                  <a:t>ocultas</a:t>
                </a: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 x 128 </a:t>
                </a:r>
                <a:r>
                  <a:rPr lang="es-MX" sz="1800" dirty="0" err="1">
                    <a:solidFill>
                      <a:srgbClr val="2C2C2C"/>
                    </a:solidFill>
                    <a:latin typeface="Calibri"/>
                  </a:rPr>
                  <a:t>neuronas</a:t>
                </a:r>
                <a:endParaRPr lang="es-MX" sz="1800" dirty="0">
                  <a:solidFill>
                    <a:srgbClr val="2C2C2C"/>
                  </a:solidFill>
                  <a:latin typeface="Calibri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  </a:t>
                </a:r>
                <a:r>
                  <a:rPr lang="es-MX" sz="1800" dirty="0" err="1">
                    <a:solidFill>
                      <a:srgbClr val="2C2C2C"/>
                    </a:solidFill>
                    <a:latin typeface="Calibri"/>
                  </a:rPr>
                  <a:t>Activacion</a:t>
                </a: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18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s-MX" sz="18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s-MX" sz="18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s-MX" sz="18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₀</m:t>
                    </m:r>
                    <m:r>
                      <a:rPr lang="es-MX" sz="18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es-MX" sz="18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MX" sz="180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,  </a:t>
                </a:r>
                <a:r>
                  <a:rPr lang="el-GR" sz="1800" dirty="0">
                    <a:solidFill>
                      <a:srgbClr val="2C2C2C"/>
                    </a:solidFill>
                    <a:latin typeface="Calibri"/>
                  </a:rPr>
                  <a:t>ω₀ = 1.0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l-GR" sz="1800" dirty="0">
                    <a:solidFill>
                      <a:srgbClr val="2C2C2C"/>
                    </a:solidFill>
                    <a:latin typeface="Calibri"/>
                  </a:rPr>
                  <a:t>  </a:t>
                </a: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Salida lineal: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sz="180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  <m:r>
                      <a:rPr lang="ar-AE" sz="180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ar-AE" sz="1800" i="1" dirty="0" err="1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 i="1" dirty="0" err="1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ar-AE" sz="1800" i="1" dirty="0" err="1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𝑖𝑚𝑎𝑔</m:t>
                        </m:r>
                      </m:sub>
                    </m:sSub>
                  </m:oMath>
                </a14:m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)</a:t>
                </a:r>
                <a:r>
                  <a:rPr lang="ar-AE" dirty="0">
                    <a:solidFill>
                      <a:srgbClr val="2C2C2C"/>
                    </a:solidFill>
                  </a:rPr>
                  <a:t> → </a:t>
                </a:r>
                <a:r>
                  <a:rPr lang="es-MX" dirty="0">
                    <a:solidFill>
                      <a:srgbClr val="2C2C2C"/>
                    </a:solidFill>
                  </a:rPr>
                  <a:t>2 </a:t>
                </a: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neuronas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  </a:t>
                </a:r>
                <a:r>
                  <a:rPr lang="es-MX" sz="1800" dirty="0" err="1">
                    <a:solidFill>
                      <a:srgbClr val="2C2C2C"/>
                    </a:solidFill>
                    <a:latin typeface="Calibri"/>
                  </a:rPr>
                  <a:t>Parametros</a:t>
                </a: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800" dirty="0" err="1">
                    <a:solidFill>
                      <a:srgbClr val="2C2C2C"/>
                    </a:solidFill>
                    <a:latin typeface="Calibri"/>
                  </a:rPr>
                  <a:t>entrenables</a:t>
                </a: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: 66,690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  </a:t>
                </a:r>
                <a:r>
                  <a:rPr lang="es-MX" sz="1800" dirty="0" err="1">
                    <a:solidFill>
                      <a:srgbClr val="2C2C2C"/>
                    </a:solidFill>
                    <a:latin typeface="Calibri"/>
                  </a:rPr>
                  <a:t>Inicializacion</a:t>
                </a:r>
                <a:r>
                  <a:rPr lang="es-MX" sz="1800" dirty="0">
                    <a:solidFill>
                      <a:srgbClr val="2C2C2C"/>
                    </a:solidFill>
                    <a:latin typeface="Calibri"/>
                  </a:rPr>
                  <a:t>: Sitzmann et al. (2020)</a:t>
                </a:r>
                <a:endParaRPr sz="1800" dirty="0">
                  <a:solidFill>
                    <a:srgbClr val="2C2C2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463040"/>
                <a:ext cx="5303520" cy="2289858"/>
              </a:xfrm>
              <a:prstGeom prst="rect">
                <a:avLst/>
              </a:prstGeom>
              <a:blipFill>
                <a:blip r:embed="rId3"/>
                <a:stretch>
                  <a:fillRect l="-690" t="-1330" b="-319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11480" y="4754880"/>
            <a:ext cx="914400" cy="640080"/>
          </a:xfrm>
          <a:prstGeom prst="rect">
            <a:avLst/>
          </a:prstGeom>
          <a:solidFill>
            <a:srgbClr val="7A9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809744"/>
            <a:ext cx="822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(x,y)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5608" y="4754880"/>
            <a:ext cx="914400" cy="64008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81328" y="4809744"/>
            <a:ext cx="82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128
sin(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ω₀z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59736" y="4754880"/>
            <a:ext cx="914400" cy="64008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05456" y="4809744"/>
            <a:ext cx="822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128
sin(ω₀z) ×3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3864" y="4754880"/>
            <a:ext cx="914400" cy="64008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9584" y="4809744"/>
            <a:ext cx="82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128
sin(ω₀z)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7992" y="4754880"/>
            <a:ext cx="914400" cy="6400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4809744"/>
            <a:ext cx="822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(Er,Ei)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937760"/>
            <a:ext cx="228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4937760"/>
            <a:ext cx="228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4937760"/>
            <a:ext cx="228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4937760"/>
            <a:ext cx="228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CCCC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0515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45C8C"/>
                </a:solidFill>
                <a:latin typeface="Calibri"/>
              </a:rPr>
              <a:t>Muestreo y optimizacion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126480" y="1463040"/>
                <a:ext cx="5669280" cy="3846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 Puntos </a:t>
                </a:r>
                <a:r>
                  <a:rPr lang="es-MX" sz="1600" dirty="0" err="1">
                    <a:solidFill>
                      <a:srgbClr val="2C2C2C"/>
                    </a:solidFill>
                    <a:latin typeface="Calibri"/>
                  </a:rPr>
                  <a:t>interiores</a:t>
                </a: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: LHS 3,000 pts (NB02)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  Cobertura uniforme sin patrones redundantes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 Puntos de frontera: 300 pts por borde (x 4 bordes)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 Peso de </a:t>
                </a:r>
                <a:r>
                  <a:rPr lang="es-MX" sz="1600" dirty="0" err="1">
                    <a:solidFill>
                      <a:srgbClr val="2C2C2C"/>
                    </a:solidFill>
                    <a:latin typeface="Calibri"/>
                  </a:rPr>
                  <a:t>fisica</a:t>
                </a: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sz="160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𝑓𝑖𝑠</m:t>
                        </m:r>
                      </m:sub>
                    </m:sSub>
                    <m:r>
                      <a:rPr lang="ar-AE" sz="160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ar-AE" sz="160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60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60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1600" dirty="0">
                  <a:solidFill>
                    <a:srgbClr val="2C2C2C"/>
                  </a:solidFill>
                  <a:latin typeface="Calibri"/>
                </a:endParaRP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ar-AE" sz="1600" dirty="0">
                    <a:solidFill>
                      <a:srgbClr val="2C2C2C"/>
                    </a:solidFill>
                    <a:latin typeface="Calibri"/>
                  </a:rPr>
                  <a:t>   </a:t>
                </a: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[</a:t>
                </a:r>
                <a:r>
                  <a:rPr lang="es-MX" sz="1600" dirty="0" err="1">
                    <a:solidFill>
                      <a:srgbClr val="2C2C2C"/>
                    </a:solidFill>
                    <a:latin typeface="Calibri"/>
                  </a:rPr>
                  <a:t>Ablacion</a:t>
                </a: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: 0.01 → 0.1 (optimo) → 1.0 (colapso)]</a:t>
                </a:r>
              </a:p>
              <a:p>
                <a:pPr>
                  <a:spcBef>
                    <a:spcPts val="600"/>
                  </a:spcBef>
                  <a:spcAft>
                    <a:spcPts val="200"/>
                  </a:spcAft>
                </a:pP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 </a:t>
                </a:r>
              </a:p>
              <a:p>
                <a:pPr>
                  <a:spcBef>
                    <a:spcPts val="600"/>
                  </a:spcBef>
                  <a:spcAft>
                    <a:spcPts val="200"/>
                  </a:spcAft>
                </a:pP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 Fase 1 - Adam: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   </a:t>
                </a:r>
                <a:r>
                  <a:rPr lang="el-GR" sz="1600" dirty="0">
                    <a:solidFill>
                      <a:srgbClr val="2C2C2C"/>
                    </a:solidFill>
                    <a:latin typeface="Calibri"/>
                  </a:rPr>
                  <a:t>η = 10⁻³,  </a:t>
                </a: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max 15,000 </a:t>
                </a:r>
                <a:r>
                  <a:rPr lang="es-MX" sz="1600" dirty="0" err="1">
                    <a:solidFill>
                      <a:srgbClr val="2C2C2C"/>
                    </a:solidFill>
                    <a:latin typeface="Calibri"/>
                  </a:rPr>
                  <a:t>epocas</a:t>
                </a: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,  early stopping</a:t>
                </a:r>
              </a:p>
              <a:p>
                <a:pPr>
                  <a:spcBef>
                    <a:spcPts val="600"/>
                  </a:spcBef>
                  <a:spcAft>
                    <a:spcPts val="200"/>
                  </a:spcAft>
                </a:pP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 Fase 2 - L-BFGS (strong Wolfe):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   Max 1,000 iter,  </a:t>
                </a:r>
                <a:r>
                  <a:rPr lang="es-MX" sz="1600" dirty="0" err="1">
                    <a:solidFill>
                      <a:srgbClr val="2C2C2C"/>
                    </a:solidFill>
                    <a:latin typeface="Calibri"/>
                  </a:rPr>
                  <a:t>historial</a:t>
                </a: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100</a:t>
                </a:r>
              </a:p>
              <a:p>
                <a:pPr marL="285750" indent="-285750">
                  <a:spcBef>
                    <a:spcPts val="600"/>
                  </a:spcBef>
                  <a:spcAft>
                    <a:spcPts val="200"/>
                  </a:spcAft>
                  <a:buFont typeface="Arial" panose="020B0604020202020204" pitchFamily="34" charset="0"/>
                  <a:buChar char="•"/>
                </a:pP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   </a:t>
                </a:r>
                <a:r>
                  <a:rPr lang="es-MX" sz="1600" dirty="0" err="1">
                    <a:solidFill>
                      <a:srgbClr val="2C2C2C"/>
                    </a:solidFill>
                    <a:latin typeface="Calibri"/>
                  </a:rPr>
                  <a:t>Ajuste</a:t>
                </a: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600" dirty="0" err="1">
                    <a:solidFill>
                      <a:srgbClr val="2C2C2C"/>
                    </a:solidFill>
                    <a:latin typeface="Calibri"/>
                  </a:rPr>
                  <a:t>fino</a:t>
                </a: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de </a:t>
                </a:r>
                <a:r>
                  <a:rPr lang="es-MX" sz="1600" dirty="0" err="1">
                    <a:solidFill>
                      <a:srgbClr val="2C2C2C"/>
                    </a:solidFill>
                    <a:latin typeface="Calibri"/>
                  </a:rPr>
                  <a:t>alta</a:t>
                </a:r>
                <a:r>
                  <a:rPr lang="es-MX" sz="1600" dirty="0">
                    <a:solidFill>
                      <a:srgbClr val="2C2C2C"/>
                    </a:solidFill>
                    <a:latin typeface="Calibri"/>
                  </a:rPr>
                  <a:t> precision con </a:t>
                </a:r>
                <a:r>
                  <a:rPr lang="es-MX" sz="1600" dirty="0" err="1">
                    <a:solidFill>
                      <a:srgbClr val="2C2C2C"/>
                    </a:solidFill>
                    <a:latin typeface="Calibri"/>
                  </a:rPr>
                  <a:t>curvatura</a:t>
                </a:r>
                <a:endParaRPr sz="1600" dirty="0">
                  <a:solidFill>
                    <a:srgbClr val="2C2C2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1463040"/>
                <a:ext cx="5669280" cy="3846438"/>
              </a:xfrm>
              <a:prstGeom prst="rect">
                <a:avLst/>
              </a:prstGeom>
              <a:blipFill>
                <a:blip r:embed="rId4"/>
                <a:stretch>
                  <a:fillRect l="-430" t="-475" b="-110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ángulo 22">
            <a:extLst>
              <a:ext uri="{FF2B5EF4-FFF2-40B4-BE49-F238E27FC236}">
                <a16:creationId xmlns:a16="http://schemas.microsoft.com/office/drawing/2014/main" id="{D5366EF8-428C-6D12-97ED-A4B5F43B4ECB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12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F70CEAA-B520-FE84-C203-FEA94F7A998E}"/>
              </a:ext>
            </a:extLst>
          </p:cNvPr>
          <p:cNvSpPr/>
          <p:nvPr/>
        </p:nvSpPr>
        <p:spPr>
          <a:xfrm>
            <a:off x="8386916" y="2209800"/>
            <a:ext cx="2880852" cy="2438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C398882-5F11-B66A-D797-47F1A17C2F99}"/>
              </a:ext>
            </a:extLst>
          </p:cNvPr>
          <p:cNvSpPr/>
          <p:nvPr/>
        </p:nvSpPr>
        <p:spPr>
          <a:xfrm>
            <a:off x="4282931" y="2209800"/>
            <a:ext cx="3146323" cy="2438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0FCCAB5-4A0A-0A59-D0AF-17CF5D15D167}"/>
              </a:ext>
            </a:extLst>
          </p:cNvPr>
          <p:cNvSpPr/>
          <p:nvPr/>
        </p:nvSpPr>
        <p:spPr>
          <a:xfrm>
            <a:off x="924232" y="2209800"/>
            <a:ext cx="2664542" cy="2438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592E89-39E3-DAA9-736D-6C29790F2D0D}"/>
              </a:ext>
            </a:extLst>
          </p:cNvPr>
          <p:cNvSpPr/>
          <p:nvPr/>
        </p:nvSpPr>
        <p:spPr>
          <a:xfrm>
            <a:off x="305" y="-23434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5CE909B-EB2B-8E32-070F-70659962EB65}"/>
              </a:ext>
            </a:extLst>
          </p:cNvPr>
          <p:cNvSpPr txBox="1"/>
          <p:nvPr/>
        </p:nvSpPr>
        <p:spPr>
          <a:xfrm>
            <a:off x="-558954" y="259578"/>
            <a:ext cx="753887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solidFill>
                  <a:srgbClr val="FFFFFF"/>
                </a:solidFill>
              </a:rPr>
              <a:t>METODOLOGÍA: MUESTREO, PERDIDA, OPTIMIZACIÓN.</a:t>
            </a:r>
          </a:p>
          <a:p>
            <a:endParaRPr lang="es-MX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484612"/>
            <a:ext cx="356616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rgbClr val="1A527A"/>
                </a:solidFill>
              </a:rPr>
              <a:t>① Muestreo LHS</a:t>
            </a:r>
          </a:p>
          <a:p>
            <a:pPr algn="ctr"/>
            <a:endParaRPr lang="es-MX" sz="700" dirty="0"/>
          </a:p>
          <a:p>
            <a:pPr algn="ctr"/>
            <a:r>
              <a:rPr lang="es-MX" sz="1300" dirty="0">
                <a:solidFill>
                  <a:srgbClr val="222222"/>
                </a:solidFill>
              </a:rPr>
              <a:t>Latin Hypercube Sampling</a:t>
            </a:r>
          </a:p>
          <a:p>
            <a:pPr algn="ctr"/>
            <a:r>
              <a:rPr lang="es-MX" sz="1300" dirty="0">
                <a:solidFill>
                  <a:srgbClr val="222222"/>
                </a:solidFill>
              </a:rPr>
              <a:t>3,000 puntos interiores</a:t>
            </a:r>
          </a:p>
          <a:p>
            <a:pPr algn="ctr"/>
            <a:r>
              <a:rPr lang="es-MX" sz="1300" dirty="0">
                <a:solidFill>
                  <a:srgbClr val="222222"/>
                </a:solidFill>
              </a:rPr>
              <a:t>Cobertura uniforme en [0,1]²</a:t>
            </a:r>
          </a:p>
          <a:p>
            <a:pPr algn="ctr"/>
            <a:r>
              <a:rPr lang="es-MX" sz="1300" dirty="0">
                <a:solidFill>
                  <a:srgbClr val="222222"/>
                </a:solidFill>
              </a:rPr>
              <a:t>Evita clustering aleatorio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160520" y="2522191"/>
                <a:ext cx="3131574" cy="16893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1600" b="1" dirty="0">
                    <a:solidFill>
                      <a:srgbClr val="6B2B9A"/>
                    </a:solidFill>
                  </a:rPr>
                  <a:t>② Función de pérdida PINN</a:t>
                </a:r>
              </a:p>
              <a:p>
                <a:pPr algn="ctr"/>
                <a:endParaRPr lang="es-MX" sz="7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𝑐𝑎𝑙𝑖𝑏𝑟𝑎𝑑𝑜</m:t>
                          </m:r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: </m:t>
                          </m:r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𝑒𝑣𝑖𝑡𝑎</m:t>
                          </m:r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𝑐𝑟𝑎𝑠</m:t>
                          </m:r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</m:oMath>
                  </m:oMathPara>
                </a14:m>
                <a:endParaRPr lang="es-MX" sz="1300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𝑓𝑟𝑜𝑛𝑡𝑒𝑟𝑎</m:t>
                          </m:r>
                        </m:sub>
                      </m:sSub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𝐵𝐶𝑠</m:t>
                      </m:r>
                    </m:oMath>
                  </m:oMathPara>
                </a14:m>
                <a:endParaRPr lang="es-MX" sz="1300" i="1" dirty="0">
                  <a:solidFill>
                    <a:srgbClr val="222222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í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𝑠𝑖𝑐𝑎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𝑟𝑒𝑠𝑖𝑑𝑢𝑜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𝐻𝑒𝑙𝑚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𝑜𝑙𝑡𝑧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𝑠𝑖𝑐𝑎</m:t>
                          </m:r>
                        </m:sub>
                      </m:sSub>
                      <m:r>
                        <a:rPr lang="es-MX" sz="1300" i="1" dirty="0" smtClean="0">
                          <a:solidFill>
                            <a:srgbClr val="222222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s-MX" sz="1300" i="1" dirty="0" smtClean="0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  <m:t>𝑓𝑟𝑜𝑛𝑡𝑒𝑟𝑎</m:t>
                          </m:r>
                        </m:sub>
                      </m:sSub>
                    </m:oMath>
                  </m:oMathPara>
                </a14:m>
                <a:endParaRPr lang="es-MX" sz="700" dirty="0"/>
              </a:p>
              <a:p>
                <a:pPr algn="ctr"/>
                <a:endParaRPr lang="es-MX" sz="700" dirty="0"/>
              </a:p>
              <a:p>
                <a:pPr algn="ctr"/>
                <a:endParaRPr lang="es-MX" sz="700" dirty="0"/>
              </a:p>
              <a:p>
                <a:pPr algn="ctr"/>
                <a:endParaRPr lang="es-MX" sz="1300" dirty="0">
                  <a:solidFill>
                    <a:srgbClr val="222222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520" y="2522191"/>
                <a:ext cx="3131574" cy="1689309"/>
              </a:xfrm>
              <a:prstGeom prst="rect">
                <a:avLst/>
              </a:prstGeom>
              <a:blipFill>
                <a:blip r:embed="rId3"/>
                <a:stretch>
                  <a:fillRect t="-108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044262" y="2536704"/>
            <a:ext cx="356616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rgbClr val="1A6B3A"/>
                </a:solidFill>
              </a:rPr>
              <a:t>③ Optimización bifásica</a:t>
            </a:r>
          </a:p>
          <a:p>
            <a:pPr algn="ctr"/>
            <a:endParaRPr lang="es-MX" sz="700" dirty="0"/>
          </a:p>
          <a:p>
            <a:pPr algn="ctr"/>
            <a:r>
              <a:rPr lang="es-MX" sz="1300" dirty="0">
                <a:solidFill>
                  <a:srgbClr val="222222"/>
                </a:solidFill>
              </a:rPr>
              <a:t>Adam: exploración global</a:t>
            </a:r>
          </a:p>
          <a:p>
            <a:pPr algn="ctr"/>
            <a:r>
              <a:rPr lang="es-MX" sz="1300" dirty="0">
                <a:solidFill>
                  <a:srgbClr val="222222"/>
                </a:solidFill>
              </a:rPr>
              <a:t>  (15k épocas, lr = 1e-3)</a:t>
            </a:r>
          </a:p>
          <a:p>
            <a:pPr algn="ctr"/>
            <a:r>
              <a:rPr lang="es-MX" sz="1300" dirty="0">
                <a:solidFill>
                  <a:srgbClr val="222222"/>
                </a:solidFill>
              </a:rPr>
              <a:t>→ L-BFGS: refinamiento fino</a:t>
            </a:r>
          </a:p>
          <a:p>
            <a:pPr algn="ctr"/>
            <a:r>
              <a:rPr lang="es-MX" sz="1300" dirty="0">
                <a:solidFill>
                  <a:srgbClr val="222222"/>
                </a:solidFill>
              </a:rPr>
              <a:t>  (strong Wolfe, ≤ 1k iter)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A70C87A-B7F1-A713-BA6D-2D3268619C61}"/>
              </a:ext>
            </a:extLst>
          </p:cNvPr>
          <p:cNvCxnSpPr/>
          <p:nvPr/>
        </p:nvCxnSpPr>
        <p:spPr>
          <a:xfrm>
            <a:off x="3785419" y="3342968"/>
            <a:ext cx="375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C094BCE-0947-8002-A04E-1573C5B98797}"/>
              </a:ext>
            </a:extLst>
          </p:cNvPr>
          <p:cNvCxnSpPr/>
          <p:nvPr/>
        </p:nvCxnSpPr>
        <p:spPr>
          <a:xfrm>
            <a:off x="7726680" y="3318388"/>
            <a:ext cx="3751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ED3AF05A-A1B0-20EA-FF69-DB0A6CF876AB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1928148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>
            <a:extLst>
              <a:ext uri="{FF2B5EF4-FFF2-40B4-BE49-F238E27FC236}">
                <a16:creationId xmlns:a16="http://schemas.microsoft.com/office/drawing/2014/main" id="{34947E01-39CB-877E-E2E7-9FE954C22B7D}"/>
              </a:ext>
            </a:extLst>
          </p:cNvPr>
          <p:cNvSpPr/>
          <p:nvPr/>
        </p:nvSpPr>
        <p:spPr>
          <a:xfrm>
            <a:off x="305" y="-23434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74320" y="109728"/>
            <a:ext cx="11612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chemeClr val="bg1"/>
                </a:solidFill>
              </a:rPr>
              <a:t>IMPLEMENTACIÓN: Pipeline de Entrenamiento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12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dirty="0">
                <a:solidFill>
                  <a:schemeClr val="bg1"/>
                </a:solidFill>
              </a:rPr>
              <a:t>Flujo real del código — src/losses.py · src/training.py · torch.autograd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3474720" cy="1371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300" b="1" dirty="0">
                <a:solidFill>
                  <a:srgbClr val="1A527A"/>
                </a:solidFill>
              </a:rPr>
              <a:t>① Entrada y Muestreo</a:t>
            </a:r>
          </a:p>
          <a:p>
            <a:endParaRPr lang="es-MX" sz="500" dirty="0">
              <a:solidFill>
                <a:schemeClr val="tx1"/>
              </a:solidFill>
            </a:endParaRP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LHS(n=3000) → xy ∈ [0,1]²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xy_bc → condiciones de frontera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SEED=42 → reproducibilidad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143000"/>
            <a:ext cx="3474720" cy="1371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300" b="1" dirty="0">
                <a:solidFill>
                  <a:srgbClr val="1A6B3A"/>
                </a:solidFill>
              </a:rPr>
              <a:t>② Forward Pass - models.py</a:t>
            </a:r>
          </a:p>
          <a:p>
            <a:endParaRPr lang="es-MX" sz="500" dirty="0">
              <a:solidFill>
                <a:schemeClr val="tx1"/>
              </a:solidFill>
            </a:endParaRP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PINN_2D_SIREN.forward(xy)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  5 × Linear(n,128) + Sine(ω₀)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→ (E_real, E_imag) ∈ ℝ²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143000"/>
            <a:ext cx="3474720" cy="1371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300" b="1" dirty="0">
                <a:solidFill>
                  <a:srgbClr val="6B2B9A"/>
                </a:solidFill>
              </a:rPr>
              <a:t>③ Residuo Helmholtz - losses.py</a:t>
            </a:r>
          </a:p>
          <a:p>
            <a:endParaRPr lang="es-MX" sz="500" dirty="0"/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autograd.grad(E, xy) → ∇E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autograd.grad(∇E, xy) → ∇²E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R = ∇²E + k²·E  [sin malla]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5804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555555"/>
                </a:solidFill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 rot="5400000">
            <a:off x="9784080" y="2560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555555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3017520"/>
            <a:ext cx="6675120" cy="1188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1300" b="1" dirty="0">
                <a:solidFill>
                  <a:srgbClr val="B8470F"/>
                </a:solidFill>
              </a:rPr>
              <a:t>④ Función de pérdida — losses.py::pinn_loss_2d()</a:t>
            </a:r>
          </a:p>
          <a:p>
            <a:pPr algn="ctr"/>
            <a:endParaRPr lang="es-MX" sz="500" dirty="0"/>
          </a:p>
          <a:p>
            <a:pPr algn="ctr"/>
            <a:r>
              <a:rPr lang="es-MX" sz="1200" dirty="0">
                <a:solidFill>
                  <a:schemeClr val="tx1"/>
                </a:solidFill>
                <a:latin typeface="Consolas"/>
              </a:rPr>
              <a:t>ℒ = MSE(E_pred_bc − E_bc)  +  λ·[MSE(R_real²) + MSE(R_imag²)]</a:t>
            </a:r>
          </a:p>
          <a:p>
            <a:pPr algn="ctr"/>
            <a:r>
              <a:rPr lang="es-MX" sz="1000" i="1" dirty="0">
                <a:solidFill>
                  <a:srgbClr val="555555"/>
                </a:solidFill>
              </a:rPr>
              <a:t>    ←── ℒ_frontera ───→          ←────────── λ = 0.1 ──────────────→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4251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555555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4709160"/>
            <a:ext cx="6675120" cy="11887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1300" b="1" dirty="0">
                <a:solidFill>
                  <a:srgbClr val="C0394B"/>
                </a:solidFill>
              </a:rPr>
              <a:t>⑤ Optimización — training.py::train_adam_lbfgs()</a:t>
            </a:r>
          </a:p>
          <a:p>
            <a:pPr algn="ctr"/>
            <a:endParaRPr lang="es-MX" sz="500" dirty="0"/>
          </a:p>
          <a:p>
            <a:pPr algn="ctr"/>
            <a:r>
              <a:rPr lang="es-MX" sz="1100" dirty="0">
                <a:solidFill>
                  <a:schemeClr val="tx1"/>
                </a:solidFill>
                <a:latin typeface="Consolas"/>
              </a:rPr>
              <a:t>Adam(lr=1e-3) → early stopping (patience=800, δ&lt;1e-7) → best_state guardado</a:t>
            </a:r>
          </a:p>
          <a:p>
            <a:pPr algn="ctr"/>
            <a:r>
              <a:rPr lang="es-MX" sz="1100" dirty="0">
                <a:solidFill>
                  <a:schemeClr val="tx1"/>
                </a:solidFill>
                <a:latin typeface="Consolas"/>
              </a:rPr>
              <a:t>L-BFGS(strong_wolfe, history=100, max_iter=1000) → convergencia cuadrática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5806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555555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6172200"/>
            <a:ext cx="667512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200">
                <a:solidFill>
                  <a:schemeClr val="tx1"/>
                </a:solidFill>
                <a:latin typeface="Consolas"/>
              </a:rPr>
              <a:t>⑥  utils.py::l2_rel() → L²  |  R²  |  Pearson  →  save_model() → .pt</a:t>
            </a:r>
            <a:endParaRPr lang="es-MX" sz="1200" dirty="0">
              <a:solidFill>
                <a:schemeClr val="tx1"/>
              </a:solidFill>
              <a:latin typeface="Consolas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AD3536A-3F4F-6E0E-EC0D-7B2587D787C2}"/>
              </a:ext>
            </a:extLst>
          </p:cNvPr>
          <p:cNvSpPr txBox="1"/>
          <p:nvPr/>
        </p:nvSpPr>
        <p:spPr>
          <a:xfrm>
            <a:off x="3425624" y="6056567"/>
            <a:ext cx="5340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solidFill>
                  <a:srgbClr val="C0394B"/>
                </a:solidFill>
              </a:rPr>
              <a:t>6 Evaluación — utils.py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BE31DF5-1C8E-3941-C0FD-7695D65CED8D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14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>
            <a:extLst>
              <a:ext uri="{FF2B5EF4-FFF2-40B4-BE49-F238E27FC236}">
                <a16:creationId xmlns:a16="http://schemas.microsoft.com/office/drawing/2014/main" id="{D9E41B72-673C-16D2-11B6-CFC9C8F10389}"/>
              </a:ext>
            </a:extLst>
          </p:cNvPr>
          <p:cNvSpPr/>
          <p:nvPr/>
        </p:nvSpPr>
        <p:spPr>
          <a:xfrm>
            <a:off x="305" y="-23434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274320" y="109728"/>
            <a:ext cx="11612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200" b="1" dirty="0">
                <a:solidFill>
                  <a:schemeClr val="bg1"/>
                </a:solidFill>
              </a:rPr>
              <a:t>ARQUITECTURA DEL CÓDIGO — Módulos src/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116128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300" dirty="0">
                <a:solidFill>
                  <a:schemeClr val="bg1"/>
                </a:solidFill>
              </a:rPr>
              <a:t>Diseño modular: 4 módulos especializados + 2 notebooks reproducibles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120640" cy="347472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300" b="1" dirty="0">
                <a:latin typeface="Consolas"/>
              </a:rPr>
              <a:t>src/models.py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36192"/>
            <a:ext cx="5120640" cy="6583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Sine(ω₀)  |  PINN_1D_SIREN  |  PINN_2D_SIREN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_init_weights():  W~U(−√6/n/ω₀, +√6/n/ω₀)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forward(xy) → (E_real, E_imag)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save() / load()  para reutilizar entre NB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86000"/>
            <a:ext cx="5120640" cy="347472"/>
          </a:xfrm>
          <a:prstGeom prst="rect">
            <a:avLst/>
          </a:prstGeom>
          <a:solidFill>
            <a:srgbClr val="6B2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300" b="1" dirty="0">
                <a:latin typeface="Consolas"/>
              </a:rPr>
              <a:t>src/losses.py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633472"/>
            <a:ext cx="5120640" cy="6583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helmholtz_residual_1d / _2d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∇²E = autograd.grad(∇E, xy)  [sin malla]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pinn_loss_1d / _2d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ℒ = ℒ_BC  +  λ·ℒ_física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383280"/>
            <a:ext cx="5120640" cy="347472"/>
          </a:xfrm>
          <a:prstGeom prst="rect">
            <a:avLst/>
          </a:prstGeom>
          <a:solidFill>
            <a:srgbClr val="C03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300" b="1" dirty="0">
                <a:latin typeface="Consolas"/>
              </a:rPr>
              <a:t>src/training.py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730752"/>
            <a:ext cx="5120640" cy="6583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train_adam_lbfgs(model, loss_fn, config)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Adam  →  early stop (patience, best_state)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L-BFGS  →  closure + strong_wolfe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Retorna history, iter_lbfgs, tiempos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480560"/>
            <a:ext cx="5120640" cy="347472"/>
          </a:xfrm>
          <a:prstGeom prst="rect">
            <a:avLst/>
          </a:prstGeom>
          <a:solidFill>
            <a:srgbClr val="B84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300" b="1" dirty="0">
                <a:latin typeface="Consolas"/>
              </a:rPr>
              <a:t>src/utils.py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828032"/>
            <a:ext cx="5120640" cy="65836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l2_rel(pred, exact)  ← métrica principal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get_figures_dir() / get_models_dir()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save_model(model, 'nb02_helmholtz2d')</a:t>
            </a:r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load_model(model, 'nb02_...')  → NB03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188720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solidFill>
                  <a:srgbClr val="1A527A"/>
                </a:solidFill>
              </a:rPr>
              <a:t>Notebooks - flujo de uso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645920"/>
            <a:ext cx="6126480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300" b="1" dirty="0">
                <a:solidFill>
                  <a:srgbClr val="1A6B3A"/>
                </a:solidFill>
              </a:rPr>
              <a:t>NB01 - Helmholtz 1D</a:t>
            </a:r>
          </a:p>
          <a:p>
            <a:endParaRPr lang="es-MX" sz="400" dirty="0"/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from src  →  models + losses (loop inline)</a:t>
            </a:r>
          </a:p>
          <a:p>
            <a:r>
              <a:rPr lang="es-MX" sz="1000" dirty="0">
                <a:solidFill>
                  <a:schemeClr val="tx1"/>
                </a:solidFill>
                <a:latin typeface="Consolas"/>
              </a:rPr>
              <a:t>→  results/models/nb01_helmholtz1d.pt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697480"/>
            <a:ext cx="6126480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300" b="1" dirty="0">
                <a:solidFill>
                  <a:srgbClr val="1A527A"/>
                </a:solidFill>
              </a:rPr>
              <a:t>NB02 - Helmholtz 2D</a:t>
            </a:r>
          </a:p>
          <a:p>
            <a:endParaRPr lang="es-MX" sz="400" dirty="0"/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from src  →  models + losses (loop inline)</a:t>
            </a:r>
          </a:p>
          <a:p>
            <a:r>
              <a:rPr lang="es-MX" sz="1000" dirty="0">
                <a:solidFill>
                  <a:schemeClr val="tx1"/>
                </a:solidFill>
                <a:latin typeface="Consolas"/>
              </a:rPr>
              <a:t>→  results/models/nb02_helmholtz2d.pt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3749039"/>
            <a:ext cx="6126480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300" b="1" dirty="0">
                <a:solidFill>
                  <a:srgbClr val="B8470F"/>
                </a:solidFill>
              </a:rPr>
              <a:t>NB03 - Speckle óptico</a:t>
            </a:r>
          </a:p>
          <a:p>
            <a:endParaRPr lang="es-MX" sz="400" dirty="0"/>
          </a:p>
          <a:p>
            <a:r>
              <a:rPr lang="es-MX" sz="1100" dirty="0">
                <a:solidFill>
                  <a:schemeClr val="tx1"/>
                </a:solidFill>
                <a:latin typeface="Consolas"/>
              </a:rPr>
              <a:t>from src  →  models + training (reutiliza)</a:t>
            </a:r>
          </a:p>
          <a:p>
            <a:r>
              <a:rPr lang="es-MX" sz="1000" dirty="0">
                <a:solidFill>
                  <a:schemeClr val="tx1"/>
                </a:solidFill>
                <a:latin typeface="Consolas"/>
              </a:rPr>
              <a:t>→  results/models/nb03_speckle.pt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800600"/>
            <a:ext cx="6126480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s-MX" sz="1200" b="1" dirty="0">
                <a:solidFill>
                  <a:srgbClr val="FFFFFF"/>
                </a:solidFill>
              </a:rPr>
              <a:t>Stack tecnológico</a:t>
            </a:r>
          </a:p>
          <a:p>
            <a:endParaRPr lang="es-MX" sz="400"/>
          </a:p>
          <a:p>
            <a:r>
              <a:rPr lang="es-MX" sz="1100" dirty="0">
                <a:latin typeface="Consolas"/>
              </a:rPr>
              <a:t>Python 3.11  |  PyTorch 2.4  |  CUDA 12.6</a:t>
            </a:r>
          </a:p>
          <a:p>
            <a:r>
              <a:rPr lang="es-MX" sz="1100" dirty="0">
                <a:latin typeface="Consolas"/>
              </a:rPr>
              <a:t>GPU: NVIDIA RTX 5050  |  SEED=42 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80644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i="1" dirty="0">
                <a:solidFill>
                  <a:srgbClr val="555555"/>
                </a:solidFill>
              </a:rPr>
              <a:t>Decisión de diseño: training loop inline en NB01/NB02 (pedagógico) → modularizado en training.py para NB03+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A4753F9-1DC0-BD9B-7627-16E5ACC35085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15</a:t>
            </a:r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NB01: VALIDACION HELMHOLTZ 1D - COMPARACION CON SOLUCION ANALITICA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FE5"/>
                </a:solidFill>
                <a:latin typeface="Calibri"/>
              </a:rPr>
              <a:t>SIREN 5×64  |  k = 2π  |  E_exacta(x) = cos(kx)  |  1,000 puntos de evaluacion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resultados_pinn_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24128"/>
            <a:ext cx="781812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208776"/>
            <a:ext cx="7818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7A92AA"/>
                </a:solidFill>
                <a:latin typeface="Calibri"/>
              </a:rPr>
              <a:t>Fig. </a:t>
            </a:r>
            <a:r>
              <a:rPr lang="es-MX" sz="1000" i="1" dirty="0">
                <a:solidFill>
                  <a:srgbClr val="7A92AA"/>
                </a:solidFill>
                <a:latin typeface="Calibri"/>
              </a:rPr>
              <a:t>3.0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: PINN vs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solucion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analitica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— Error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puntual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— Curvas de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perdida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Adam + L-BFGS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051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5C8C"/>
                </a:solidFill>
                <a:latin typeface="Calibri"/>
              </a:rPr>
              <a:t>Metricas clave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56269"/>
            <a:ext cx="201168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517904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4F72"/>
                </a:solidFill>
                <a:latin typeface="Calibri"/>
              </a:rPr>
              <a:t>0.006%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08483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2AA"/>
                </a:solidFill>
                <a:latin typeface="Calibri"/>
              </a:rPr>
              <a:t>meta: &lt; 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34909" y="1458642"/>
            <a:ext cx="201168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81213" y="1542674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1B4F72"/>
                </a:solidFill>
                <a:latin typeface="Calibri"/>
              </a:rPr>
              <a:t>1.000000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41864" y="208483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7A92AA"/>
                </a:solidFill>
                <a:latin typeface="Calibri"/>
              </a:rPr>
              <a:t>ajuste</a:t>
            </a:r>
            <a:r>
              <a:rPr sz="1200" b="0" i="0" dirty="0">
                <a:solidFill>
                  <a:srgbClr val="7A92AA"/>
                </a:solidFill>
                <a:latin typeface="Calibri"/>
              </a:rPr>
              <a:t> perfecto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852928"/>
            <a:ext cx="201168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2926080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4F72"/>
                </a:solidFill>
                <a:latin typeface="Calibri"/>
              </a:rPr>
              <a:t>202 iter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49300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2AA"/>
                </a:solidFill>
                <a:latin typeface="Calibri"/>
              </a:rPr>
              <a:t>de 500 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3749040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L-BFGS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34909" y="2852928"/>
            <a:ext cx="201168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81213" y="2935224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1B4F72"/>
                </a:solidFill>
                <a:latin typeface="Calibri"/>
              </a:rPr>
              <a:t>251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41864" y="349300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7A92AA"/>
                </a:solidFill>
                <a:latin typeface="Calibri"/>
              </a:rPr>
              <a:t>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57722" y="3749040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C2C2C"/>
                </a:solidFill>
                <a:latin typeface="Calibri"/>
              </a:rPr>
              <a:t>Tiempo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251960"/>
            <a:ext cx="3749039" cy="1417320"/>
          </a:xfrm>
          <a:prstGeom prst="rect">
            <a:avLst/>
          </a:prstGeom>
          <a:solidFill>
            <a:srgbClr val="E8F4EA"/>
          </a:solidFill>
          <a:ln w="1270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3159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Calibri"/>
              </a:rPr>
              <a:t>Mejora vs. estado del arte: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177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5C2A"/>
                </a:solidFill>
                <a:latin typeface="Calibri"/>
              </a:rPr>
              <a:t>×415 vs Schoder &amp; Kraxberger
(2024): error 2.49%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1690FD4-086F-B54F-5025-B05FC233AE66}"/>
                  </a:ext>
                </a:extLst>
              </p:cNvPr>
              <p:cNvSpPr txBox="1"/>
              <p:nvPr/>
            </p:nvSpPr>
            <p:spPr>
              <a:xfrm>
                <a:off x="11056678" y="2387395"/>
                <a:ext cx="3144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1690FD4-086F-B54F-5025-B05FC233A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6678" y="2387395"/>
                <a:ext cx="314445" cy="276999"/>
              </a:xfrm>
              <a:prstGeom prst="rect">
                <a:avLst/>
              </a:prstGeom>
              <a:blipFill>
                <a:blip r:embed="rId4"/>
                <a:stretch>
                  <a:fillRect l="-17647" t="-2222" r="-7843"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58C5B93-844E-B599-8BCE-04E9503EF033}"/>
                  </a:ext>
                </a:extLst>
              </p:cNvPr>
              <p:cNvSpPr txBox="1"/>
              <p:nvPr/>
            </p:nvSpPr>
            <p:spPr>
              <a:xfrm>
                <a:off x="8824178" y="2389103"/>
                <a:ext cx="9214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958C5B93-844E-B599-8BCE-04E9503EF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178" y="2389103"/>
                <a:ext cx="921470" cy="276999"/>
              </a:xfrm>
              <a:prstGeom prst="rect">
                <a:avLst/>
              </a:prstGeom>
              <a:blipFill>
                <a:blip r:embed="rId5"/>
                <a:stretch>
                  <a:fillRect l="-5960" t="-2222" r="-1987" b="-6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ángulo 11">
            <a:extLst>
              <a:ext uri="{FF2B5EF4-FFF2-40B4-BE49-F238E27FC236}">
                <a16:creationId xmlns:a16="http://schemas.microsoft.com/office/drawing/2014/main" id="{E21D077D-ACFA-90ED-EF0E-3938E5FAEB55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16</a:t>
            </a:r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53001-455A-E569-4F69-B42C1F27A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6AE0AA-10D1-4DC2-0C71-EF35A91C422E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E80FA9-1D94-CB50-E456-30831324F441}"/>
              </a:ext>
            </a:extLst>
          </p:cNvPr>
          <p:cNvSpPr txBox="1"/>
          <p:nvPr/>
        </p:nvSpPr>
        <p:spPr>
          <a:xfrm>
            <a:off x="365760" y="91440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NB01: VALIDACION HELMHOLTZ 1D - COMPARACION CON SOLUCION ANALITICA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895BB-20BC-5912-E1D5-E57128A6C999}"/>
              </a:ext>
            </a:extLst>
          </p:cNvPr>
          <p:cNvSpPr txBox="1"/>
          <p:nvPr/>
        </p:nvSpPr>
        <p:spPr>
          <a:xfrm>
            <a:off x="365760" y="74980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FE5"/>
                </a:solidFill>
                <a:latin typeface="Calibri"/>
              </a:rPr>
              <a:t>SIREN 5×64  |  k = 2π  |  E_exacta(x) = cos(kx)  |  1,000 puntos de evaluacion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8BF3EA-7E29-6845-09F1-D11ED2CDCF35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resultados_pinn_1d.png">
            <a:extLst>
              <a:ext uri="{FF2B5EF4-FFF2-40B4-BE49-F238E27FC236}">
                <a16:creationId xmlns:a16="http://schemas.microsoft.com/office/drawing/2014/main" id="{48989DB8-096A-A810-3B96-D999AEAD6F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47" t="56302"/>
          <a:stretch>
            <a:fillRect/>
          </a:stretch>
        </p:blipFill>
        <p:spPr>
          <a:xfrm>
            <a:off x="648929" y="1422635"/>
            <a:ext cx="7052156" cy="42466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21220B-6A04-CF6B-D818-F978C1BAEC52}"/>
              </a:ext>
            </a:extLst>
          </p:cNvPr>
          <p:cNvSpPr txBox="1"/>
          <p:nvPr/>
        </p:nvSpPr>
        <p:spPr>
          <a:xfrm>
            <a:off x="228600" y="6208776"/>
            <a:ext cx="7818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7A92AA"/>
                </a:solidFill>
                <a:latin typeface="Calibri"/>
              </a:rPr>
              <a:t>Fig. </a:t>
            </a:r>
            <a:r>
              <a:rPr lang="es-MX" sz="1000" i="1" dirty="0">
                <a:solidFill>
                  <a:srgbClr val="7A92AA"/>
                </a:solidFill>
                <a:latin typeface="Calibri"/>
              </a:rPr>
              <a:t>3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.</a:t>
            </a:r>
            <a:r>
              <a:rPr lang="es-MX" sz="1000" b="0" i="1" dirty="0">
                <a:solidFill>
                  <a:srgbClr val="7A92AA"/>
                </a:solidFill>
                <a:latin typeface="Calibri"/>
              </a:rPr>
              <a:t>0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: PINN vs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solucion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analitica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— Error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puntual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— Curvas de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perdida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Adam + L-BFGS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816DEE-3222-5F1F-6639-35D736852CAD}"/>
              </a:ext>
            </a:extLst>
          </p:cNvPr>
          <p:cNvSpPr txBox="1"/>
          <p:nvPr/>
        </p:nvSpPr>
        <p:spPr>
          <a:xfrm>
            <a:off x="8229600" y="1051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5C8C"/>
                </a:solidFill>
                <a:latin typeface="Calibri"/>
              </a:rPr>
              <a:t>Metricas clave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AA5B18-30F4-FFE9-D9C1-CE6B6F4E99A4}"/>
              </a:ext>
            </a:extLst>
          </p:cNvPr>
          <p:cNvSpPr/>
          <p:nvPr/>
        </p:nvSpPr>
        <p:spPr>
          <a:xfrm>
            <a:off x="8046720" y="1456269"/>
            <a:ext cx="201168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4EBEF8-0113-6100-8E14-C1A4CBAA75EB}"/>
              </a:ext>
            </a:extLst>
          </p:cNvPr>
          <p:cNvSpPr txBox="1"/>
          <p:nvPr/>
        </p:nvSpPr>
        <p:spPr>
          <a:xfrm>
            <a:off x="8302752" y="1517904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4F72"/>
                </a:solidFill>
                <a:latin typeface="Calibri"/>
              </a:rPr>
              <a:t>0.006%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D80371-3271-2111-C6F2-015573FB9580}"/>
              </a:ext>
            </a:extLst>
          </p:cNvPr>
          <p:cNvSpPr txBox="1"/>
          <p:nvPr/>
        </p:nvSpPr>
        <p:spPr>
          <a:xfrm>
            <a:off x="8302752" y="208483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2AA"/>
                </a:solidFill>
                <a:latin typeface="Calibri"/>
              </a:rPr>
              <a:t>meta: &lt; 5%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56EC4E-E098-5EE7-BEE2-B4162EA483EF}"/>
              </a:ext>
            </a:extLst>
          </p:cNvPr>
          <p:cNvSpPr txBox="1"/>
          <p:nvPr/>
        </p:nvSpPr>
        <p:spPr>
          <a:xfrm>
            <a:off x="8302752" y="2340864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Error L2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A11007-A4DD-CB74-06C5-1E3CC45D86CB}"/>
              </a:ext>
            </a:extLst>
          </p:cNvPr>
          <p:cNvSpPr/>
          <p:nvPr/>
        </p:nvSpPr>
        <p:spPr>
          <a:xfrm>
            <a:off x="10134909" y="1458642"/>
            <a:ext cx="201168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C8842F-8906-02EE-669E-DCF5E755BC7E}"/>
              </a:ext>
            </a:extLst>
          </p:cNvPr>
          <p:cNvSpPr txBox="1"/>
          <p:nvPr/>
        </p:nvSpPr>
        <p:spPr>
          <a:xfrm>
            <a:off x="10281213" y="1542674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1B4F72"/>
                </a:solidFill>
                <a:latin typeface="Calibri"/>
              </a:rPr>
              <a:t>1.000000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029674-CE1A-F594-4539-61D3D2DBF1E1}"/>
              </a:ext>
            </a:extLst>
          </p:cNvPr>
          <p:cNvSpPr txBox="1"/>
          <p:nvPr/>
        </p:nvSpPr>
        <p:spPr>
          <a:xfrm>
            <a:off x="10341864" y="208483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7A92AA"/>
                </a:solidFill>
                <a:latin typeface="Calibri"/>
              </a:rPr>
              <a:t>ajuste</a:t>
            </a:r>
            <a:r>
              <a:rPr sz="1200" b="0" i="0" dirty="0">
                <a:solidFill>
                  <a:srgbClr val="7A92AA"/>
                </a:solidFill>
                <a:latin typeface="Calibri"/>
              </a:rPr>
              <a:t> perfecto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617B11-7025-CC8B-B50C-DB04B7AD2CBE}"/>
              </a:ext>
            </a:extLst>
          </p:cNvPr>
          <p:cNvSpPr txBox="1"/>
          <p:nvPr/>
        </p:nvSpPr>
        <p:spPr>
          <a:xfrm>
            <a:off x="10326319" y="2327785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C2C2C"/>
                </a:solidFill>
                <a:latin typeface="Calibri"/>
              </a:rPr>
              <a:t>R </a:t>
            </a:r>
            <a:r>
              <a:rPr sz="1200" b="1" i="0" dirty="0" err="1">
                <a:solidFill>
                  <a:srgbClr val="2C2C2C"/>
                </a:solidFill>
                <a:latin typeface="Calibri"/>
              </a:rPr>
              <a:t>cuadrado</a:t>
            </a:r>
            <a:endParaRPr sz="1200" b="1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1CDA3D-C953-3620-9FE7-30438E4F2C8A}"/>
              </a:ext>
            </a:extLst>
          </p:cNvPr>
          <p:cNvSpPr/>
          <p:nvPr/>
        </p:nvSpPr>
        <p:spPr>
          <a:xfrm>
            <a:off x="8046720" y="2852928"/>
            <a:ext cx="201168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A3F21A-7BEC-CF3F-3EF4-8F76D871C5DB}"/>
              </a:ext>
            </a:extLst>
          </p:cNvPr>
          <p:cNvSpPr txBox="1"/>
          <p:nvPr/>
        </p:nvSpPr>
        <p:spPr>
          <a:xfrm>
            <a:off x="8302752" y="2926080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4F72"/>
                </a:solidFill>
                <a:latin typeface="Calibri"/>
              </a:rPr>
              <a:t>202 iter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20FC85-6E6E-258B-0A79-04EF4CDC475C}"/>
              </a:ext>
            </a:extLst>
          </p:cNvPr>
          <p:cNvSpPr txBox="1"/>
          <p:nvPr/>
        </p:nvSpPr>
        <p:spPr>
          <a:xfrm>
            <a:off x="8302752" y="349300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2AA"/>
                </a:solidFill>
                <a:latin typeface="Calibri"/>
              </a:rPr>
              <a:t>de 500 max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874D0D-3FC5-C512-1B20-FFA2E0671526}"/>
              </a:ext>
            </a:extLst>
          </p:cNvPr>
          <p:cNvSpPr txBox="1"/>
          <p:nvPr/>
        </p:nvSpPr>
        <p:spPr>
          <a:xfrm>
            <a:off x="8302752" y="3749040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C2C2C"/>
                </a:solidFill>
                <a:latin typeface="Calibri"/>
              </a:rPr>
              <a:t>L-BFGS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F58D02-8298-C879-EFF4-44B4A153529C}"/>
              </a:ext>
            </a:extLst>
          </p:cNvPr>
          <p:cNvSpPr/>
          <p:nvPr/>
        </p:nvSpPr>
        <p:spPr>
          <a:xfrm>
            <a:off x="10134909" y="2852928"/>
            <a:ext cx="2011680" cy="128016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55948E-9CD9-EE7C-C3E3-6A57110331BC}"/>
              </a:ext>
            </a:extLst>
          </p:cNvPr>
          <p:cNvSpPr txBox="1"/>
          <p:nvPr/>
        </p:nvSpPr>
        <p:spPr>
          <a:xfrm>
            <a:off x="10281213" y="2935224"/>
            <a:ext cx="186537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1B4F72"/>
                </a:solidFill>
                <a:latin typeface="Calibri"/>
              </a:rPr>
              <a:t>251 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7EE23E-5B84-05EC-0E85-0E9D3DCC3ECE}"/>
              </a:ext>
            </a:extLst>
          </p:cNvPr>
          <p:cNvSpPr txBox="1"/>
          <p:nvPr/>
        </p:nvSpPr>
        <p:spPr>
          <a:xfrm>
            <a:off x="10341864" y="349300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7A92AA"/>
                </a:solidFill>
                <a:latin typeface="Calibri"/>
              </a:rPr>
              <a:t>total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F9BB86-C567-1B3E-3C3F-5F72A2F06B62}"/>
              </a:ext>
            </a:extLst>
          </p:cNvPr>
          <p:cNvSpPr txBox="1"/>
          <p:nvPr/>
        </p:nvSpPr>
        <p:spPr>
          <a:xfrm>
            <a:off x="10357722" y="3749040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C2C2C"/>
                </a:solidFill>
                <a:latin typeface="Calibri"/>
              </a:rPr>
              <a:t>Tiempo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4A2E80-AD65-A7E1-BEF5-D26F70BA6AB5}"/>
              </a:ext>
            </a:extLst>
          </p:cNvPr>
          <p:cNvSpPr/>
          <p:nvPr/>
        </p:nvSpPr>
        <p:spPr>
          <a:xfrm>
            <a:off x="8229600" y="4251960"/>
            <a:ext cx="3749039" cy="1417320"/>
          </a:xfrm>
          <a:prstGeom prst="rect">
            <a:avLst/>
          </a:prstGeom>
          <a:solidFill>
            <a:srgbClr val="E8F4EA"/>
          </a:solidFill>
          <a:ln w="1270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77F10A-274C-068C-318A-17335BEF6299}"/>
              </a:ext>
            </a:extLst>
          </p:cNvPr>
          <p:cNvSpPr txBox="1"/>
          <p:nvPr/>
        </p:nvSpPr>
        <p:spPr>
          <a:xfrm>
            <a:off x="8321040" y="43159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Calibri"/>
              </a:rPr>
              <a:t>Mejora vs. estado del arte: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969D3-9435-9090-F531-861BBE6D3B3E}"/>
              </a:ext>
            </a:extLst>
          </p:cNvPr>
          <p:cNvSpPr txBox="1"/>
          <p:nvPr/>
        </p:nvSpPr>
        <p:spPr>
          <a:xfrm>
            <a:off x="8321040" y="46177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5C2A"/>
                </a:solidFill>
                <a:latin typeface="Calibri"/>
              </a:rPr>
              <a:t>×415 vs Schoder &amp; Kraxberger
(2024): error 2.49%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8615271-CD18-BF7F-FC5B-77CD468AEB72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8218971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NB01: ANALISIS DETALLADO DE ERROR Y CONVERGENCIA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  <p:pic>
        <p:nvPicPr>
          <p:cNvPr id="5" name="Picture 4" descr="metricas_adicionales_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24128"/>
            <a:ext cx="1170432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5888736"/>
            <a:ext cx="1170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chemeClr val="tx2"/>
                </a:solidFill>
                <a:latin typeface="Calibri"/>
              </a:rPr>
              <a:t>Fig. </a:t>
            </a:r>
            <a:r>
              <a:rPr lang="es-MX" sz="1200" i="1" dirty="0">
                <a:solidFill>
                  <a:schemeClr val="tx2"/>
                </a:solidFill>
                <a:latin typeface="Calibri"/>
              </a:rPr>
              <a:t>3.1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: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Histograma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de error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absoluto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lang="es-MX" sz="1200" b="0" i="1" dirty="0">
                <a:solidFill>
                  <a:schemeClr val="tx2"/>
                </a:solidFill>
                <a:latin typeface="Calibri"/>
              </a:rPr>
              <a:t>-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Error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relativo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puntual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lang="es-MX" sz="1200" b="0" i="1" dirty="0">
                <a:solidFill>
                  <a:schemeClr val="tx2"/>
                </a:solidFill>
                <a:latin typeface="Calibri"/>
              </a:rPr>
              <a:t>-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Correlacion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PINN vs Exacta: R2 = 1.000000, Pearson = 1.000000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0068"/>
            <a:ext cx="1133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dirty="0">
                <a:solidFill>
                  <a:srgbClr val="345C8C"/>
                </a:solidFill>
                <a:latin typeface="Calibri"/>
              </a:rPr>
              <a:t>Error </a:t>
            </a:r>
            <a:r>
              <a:rPr b="0" i="1" dirty="0" err="1">
                <a:solidFill>
                  <a:srgbClr val="345C8C"/>
                </a:solidFill>
                <a:latin typeface="Calibri"/>
              </a:rPr>
              <a:t>maximo</a:t>
            </a:r>
            <a:r>
              <a:rPr b="0" i="1" dirty="0">
                <a:solidFill>
                  <a:srgbClr val="345C8C"/>
                </a:solidFill>
                <a:latin typeface="Calibri"/>
              </a:rPr>
              <a:t> = 5.77e-5   |   MAE = 3.50e-5   |   Adam: 15,000 </a:t>
            </a:r>
            <a:r>
              <a:rPr b="0" i="1" dirty="0" err="1">
                <a:solidFill>
                  <a:srgbClr val="345C8C"/>
                </a:solidFill>
                <a:latin typeface="Calibri"/>
              </a:rPr>
              <a:t>epocas</a:t>
            </a:r>
            <a:r>
              <a:rPr b="0" i="1" dirty="0">
                <a:solidFill>
                  <a:srgbClr val="345C8C"/>
                </a:solidFill>
                <a:latin typeface="Calibri"/>
              </a:rPr>
              <a:t>   |   L-BFGS: 202 </a:t>
            </a:r>
            <a:r>
              <a:rPr b="0" i="1" dirty="0" err="1">
                <a:solidFill>
                  <a:srgbClr val="345C8C"/>
                </a:solidFill>
                <a:latin typeface="Calibri"/>
              </a:rPr>
              <a:t>iteraciones</a:t>
            </a:r>
            <a:endParaRPr b="0" i="1" dirty="0">
              <a:solidFill>
                <a:srgbClr val="345C8C"/>
              </a:solidFill>
              <a:latin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0195041-4719-0564-5438-7AA3D1EA3F3D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18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28E1D-BBC2-C80D-5182-18E7414AB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7B97F4-0706-6324-FD30-6A30929536E7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2FB88E-92E4-BFD7-A382-DB7C607FDA2A}"/>
              </a:ext>
            </a:extLst>
          </p:cNvPr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NB01: ANALISIS DETALLADO DE ERROR Y CONVERGENCIA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87EF5-E552-83BD-58AC-B17C148CE03E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  <p:pic>
        <p:nvPicPr>
          <p:cNvPr id="5" name="Picture 4" descr="metricas_adicionales_1d.png">
            <a:extLst>
              <a:ext uri="{FF2B5EF4-FFF2-40B4-BE49-F238E27FC236}">
                <a16:creationId xmlns:a16="http://schemas.microsoft.com/office/drawing/2014/main" id="{29227CF9-87BB-74E9-BECC-747C03BD1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988" t="5416"/>
          <a:stretch>
            <a:fillRect/>
          </a:stretch>
        </p:blipFill>
        <p:spPr>
          <a:xfrm>
            <a:off x="3106995" y="1051560"/>
            <a:ext cx="5512454" cy="45838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CD4234-3061-55B6-F016-576ED0CF482D}"/>
              </a:ext>
            </a:extLst>
          </p:cNvPr>
          <p:cNvSpPr txBox="1"/>
          <p:nvPr/>
        </p:nvSpPr>
        <p:spPr>
          <a:xfrm>
            <a:off x="228600" y="5888736"/>
            <a:ext cx="1170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chemeClr val="tx2"/>
                </a:solidFill>
                <a:latin typeface="Calibri"/>
              </a:rPr>
              <a:t>Fig. </a:t>
            </a:r>
            <a:r>
              <a:rPr lang="es-MX" sz="1200" i="1" dirty="0">
                <a:solidFill>
                  <a:schemeClr val="tx2"/>
                </a:solidFill>
                <a:latin typeface="Calibri"/>
              </a:rPr>
              <a:t>3.1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: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Histograma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de error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absoluto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lang="es-MX" sz="1200" b="0" i="1" dirty="0">
                <a:solidFill>
                  <a:schemeClr val="tx2"/>
                </a:solidFill>
                <a:latin typeface="Calibri"/>
              </a:rPr>
              <a:t>-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Error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relativo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puntual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lang="es-MX" sz="1200" b="0" i="1" dirty="0">
                <a:solidFill>
                  <a:schemeClr val="tx2"/>
                </a:solidFill>
                <a:latin typeface="Calibri"/>
              </a:rPr>
              <a:t>-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Correlacion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PINN vs Exacta: R2 = 1.000000, Pearson = 1.000000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08F5B-FF8A-2DBD-B562-F079E5526029}"/>
              </a:ext>
            </a:extLst>
          </p:cNvPr>
          <p:cNvSpPr txBox="1"/>
          <p:nvPr/>
        </p:nvSpPr>
        <p:spPr>
          <a:xfrm>
            <a:off x="457200" y="6260068"/>
            <a:ext cx="1133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dirty="0">
                <a:solidFill>
                  <a:srgbClr val="345C8C"/>
                </a:solidFill>
                <a:latin typeface="Calibri"/>
              </a:rPr>
              <a:t>Error </a:t>
            </a:r>
            <a:r>
              <a:rPr b="0" i="1" dirty="0" err="1">
                <a:solidFill>
                  <a:srgbClr val="345C8C"/>
                </a:solidFill>
                <a:latin typeface="Calibri"/>
              </a:rPr>
              <a:t>maximo</a:t>
            </a:r>
            <a:r>
              <a:rPr b="0" i="1" dirty="0">
                <a:solidFill>
                  <a:srgbClr val="345C8C"/>
                </a:solidFill>
                <a:latin typeface="Calibri"/>
              </a:rPr>
              <a:t> = 5.77e-5   |   MAE = 3.50e-5   |   Adam: 15,000 </a:t>
            </a:r>
            <a:r>
              <a:rPr b="0" i="1" dirty="0" err="1">
                <a:solidFill>
                  <a:srgbClr val="345C8C"/>
                </a:solidFill>
                <a:latin typeface="Calibri"/>
              </a:rPr>
              <a:t>epocas</a:t>
            </a:r>
            <a:r>
              <a:rPr b="0" i="1" dirty="0">
                <a:solidFill>
                  <a:srgbClr val="345C8C"/>
                </a:solidFill>
                <a:latin typeface="Calibri"/>
              </a:rPr>
              <a:t>   |   L-BFGS: 202 </a:t>
            </a:r>
            <a:r>
              <a:rPr b="0" i="1" dirty="0" err="1">
                <a:solidFill>
                  <a:srgbClr val="345C8C"/>
                </a:solidFill>
                <a:latin typeface="Calibri"/>
              </a:rPr>
              <a:t>iteraciones</a:t>
            </a:r>
            <a:endParaRPr b="0" i="1" dirty="0">
              <a:solidFill>
                <a:srgbClr val="345C8C"/>
              </a:solidFill>
              <a:latin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B3D560C-FCF4-DAA7-A8AB-2796CA8617FB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65426544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NB02: HELMHOLTZ 2D CON CAMPO COMPLEJO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FE5"/>
                </a:solidFill>
                <a:latin typeface="Calibri"/>
              </a:rPr>
              <a:t>SIREN 5×128  |  k = 2π  |  LHS 3,000 pts  |  E_exacta = e^(i(kₓx + k_yy))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resultados_pinn_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24128"/>
            <a:ext cx="7955279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6254496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7A92AA"/>
                </a:solidFill>
                <a:latin typeface="Calibri"/>
              </a:rPr>
              <a:t>Fig. 4.</a:t>
            </a:r>
            <a:r>
              <a:rPr lang="es-MX" sz="1000" i="1" dirty="0">
                <a:solidFill>
                  <a:srgbClr val="7A92AA"/>
                </a:solidFill>
                <a:latin typeface="Calibri"/>
              </a:rPr>
              <a:t>0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: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E_real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y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E_imag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—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solucion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exacta (fila sup.) vs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prediccion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PINN (fila inf.) — Error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puntual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y curvas de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perdida</a:t>
            </a:r>
            <a:endParaRPr sz="1000" b="0" i="1" dirty="0">
              <a:solidFill>
                <a:srgbClr val="7A92A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051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5C8C"/>
                </a:solidFill>
                <a:latin typeface="Calibri"/>
              </a:rPr>
              <a:t>Metricas NB02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463040"/>
            <a:ext cx="3657600" cy="438912"/>
          </a:xfrm>
          <a:prstGeom prst="rect">
            <a:avLst/>
          </a:prstGeom>
          <a:solidFill>
            <a:srgbClr val="345C8C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66760" y="15270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527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E_real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15270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E_imag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9202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984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Error L2 (%)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1984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19842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0.127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377440"/>
            <a:ext cx="3657600" cy="438912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441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R cuadrado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441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2441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8346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2898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Pearson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28986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291840"/>
            <a:ext cx="3657600" cy="438912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33558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Calibri"/>
              </a:rPr>
              <a:t>Error L2 prom.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355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4F72"/>
                </a:solidFill>
                <a:latin typeface="Calibri"/>
              </a:rPr>
              <a:t>0.171%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33558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3749039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38130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Epocas Adam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813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8,737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38130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21040" y="4206240"/>
            <a:ext cx="3657600" cy="438912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66760" y="4270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Iter. L-BFGS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4270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1,035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42702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321040" y="46634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4727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Tiempo 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4727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299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520" y="4727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C576C1D-8CEC-CF64-3936-A2A8AB1CF96D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20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AE603-CD35-CE80-9243-1F4093D0F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FF93A3-7796-AE6A-A8A2-3512407B87CF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443C0-B186-0261-FA51-4EA359B497E3}"/>
              </a:ext>
            </a:extLst>
          </p:cNvPr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NB02: HELMHOLTZ 2D CON CAMPO COMPLEJO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53C6B-B99B-BC06-9AA5-07BA21A0E8F4}"/>
              </a:ext>
            </a:extLst>
          </p:cNvPr>
          <p:cNvSpPr txBox="1"/>
          <p:nvPr/>
        </p:nvSpPr>
        <p:spPr>
          <a:xfrm>
            <a:off x="365760" y="74980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FE5"/>
                </a:solidFill>
                <a:latin typeface="Calibri"/>
              </a:rPr>
              <a:t>SIREN 5×128  |  k = 2π  |  LHS 3,000 pts  |  E_exacta = e^(i(kₓx + k_yy))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1D410-87A9-B6D4-0111-31474099B71E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resultados_pinn_2d.png">
            <a:extLst>
              <a:ext uri="{FF2B5EF4-FFF2-40B4-BE49-F238E27FC236}">
                <a16:creationId xmlns:a16="http://schemas.microsoft.com/office/drawing/2014/main" id="{642094D8-F525-970B-3DE9-49CEE6EF65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7337" t="7193" b="30527"/>
          <a:stretch>
            <a:fillRect/>
          </a:stretch>
        </p:blipFill>
        <p:spPr>
          <a:xfrm>
            <a:off x="2270760" y="1163850"/>
            <a:ext cx="3648323" cy="45577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258584-A1D3-FDC6-E1A2-D7E3C0F32BEF}"/>
              </a:ext>
            </a:extLst>
          </p:cNvPr>
          <p:cNvSpPr txBox="1"/>
          <p:nvPr/>
        </p:nvSpPr>
        <p:spPr>
          <a:xfrm>
            <a:off x="182880" y="6254496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7A92AA"/>
                </a:solidFill>
                <a:latin typeface="Calibri"/>
              </a:rPr>
              <a:t>Fig. 4.</a:t>
            </a:r>
            <a:r>
              <a:rPr lang="es-MX" sz="1000" b="0" i="1" dirty="0">
                <a:solidFill>
                  <a:srgbClr val="7A92AA"/>
                </a:solidFill>
                <a:latin typeface="Calibri"/>
              </a:rPr>
              <a:t>0.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E_real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y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E_imag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—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solucion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exacta (fila sup.) vs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prediccion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PINN (fila inf.) — Error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puntual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y curvas de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perdida</a:t>
            </a:r>
            <a:endParaRPr sz="1000" b="0" i="1" dirty="0">
              <a:solidFill>
                <a:srgbClr val="7A92A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6582C-AE28-6E3E-72FC-0055AC104E99}"/>
              </a:ext>
            </a:extLst>
          </p:cNvPr>
          <p:cNvSpPr txBox="1"/>
          <p:nvPr/>
        </p:nvSpPr>
        <p:spPr>
          <a:xfrm>
            <a:off x="8321040" y="1051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5C8C"/>
                </a:solidFill>
                <a:latin typeface="Calibri"/>
              </a:rPr>
              <a:t>Metricas NB02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41FA6B-2000-5955-02A4-A63D02CEB4B5}"/>
              </a:ext>
            </a:extLst>
          </p:cNvPr>
          <p:cNvSpPr/>
          <p:nvPr/>
        </p:nvSpPr>
        <p:spPr>
          <a:xfrm>
            <a:off x="8321040" y="1463040"/>
            <a:ext cx="3657600" cy="438912"/>
          </a:xfrm>
          <a:prstGeom prst="rect">
            <a:avLst/>
          </a:prstGeom>
          <a:solidFill>
            <a:srgbClr val="345C8C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FD896-736C-952F-2516-A921051BA97E}"/>
              </a:ext>
            </a:extLst>
          </p:cNvPr>
          <p:cNvSpPr txBox="1"/>
          <p:nvPr/>
        </p:nvSpPr>
        <p:spPr>
          <a:xfrm>
            <a:off x="8366760" y="15270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BFDFC4-67B3-8F76-4C16-413E7A4DDAEF}"/>
              </a:ext>
            </a:extLst>
          </p:cNvPr>
          <p:cNvSpPr txBox="1"/>
          <p:nvPr/>
        </p:nvSpPr>
        <p:spPr>
          <a:xfrm>
            <a:off x="9966960" y="1527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E_real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B7C18C-C748-303C-8224-1EBEE115A787}"/>
              </a:ext>
            </a:extLst>
          </p:cNvPr>
          <p:cNvSpPr txBox="1"/>
          <p:nvPr/>
        </p:nvSpPr>
        <p:spPr>
          <a:xfrm>
            <a:off x="11018520" y="15270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E_imag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1A804-485C-ED93-F8C3-4252C7349DC9}"/>
              </a:ext>
            </a:extLst>
          </p:cNvPr>
          <p:cNvSpPr/>
          <p:nvPr/>
        </p:nvSpPr>
        <p:spPr>
          <a:xfrm>
            <a:off x="8321040" y="19202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487AB9-4056-6759-D6B1-70E03706BB1B}"/>
              </a:ext>
            </a:extLst>
          </p:cNvPr>
          <p:cNvSpPr txBox="1"/>
          <p:nvPr/>
        </p:nvSpPr>
        <p:spPr>
          <a:xfrm>
            <a:off x="8366760" y="1984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Error L2 (%)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2992A0-0C24-56FA-F577-F8EF74FF2F0B}"/>
              </a:ext>
            </a:extLst>
          </p:cNvPr>
          <p:cNvSpPr txBox="1"/>
          <p:nvPr/>
        </p:nvSpPr>
        <p:spPr>
          <a:xfrm>
            <a:off x="9966960" y="1984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0.214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6FB8E2-C988-F91E-8DD5-824FAB414C4D}"/>
              </a:ext>
            </a:extLst>
          </p:cNvPr>
          <p:cNvSpPr txBox="1"/>
          <p:nvPr/>
        </p:nvSpPr>
        <p:spPr>
          <a:xfrm>
            <a:off x="11018520" y="19842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0.127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B3C5B2-277D-C0C6-AECF-2523208E66CB}"/>
              </a:ext>
            </a:extLst>
          </p:cNvPr>
          <p:cNvSpPr/>
          <p:nvPr/>
        </p:nvSpPr>
        <p:spPr>
          <a:xfrm>
            <a:off x="8321040" y="2377440"/>
            <a:ext cx="3657600" cy="438912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FD0E3D-76A5-8703-5AFF-3869FB7D6659}"/>
              </a:ext>
            </a:extLst>
          </p:cNvPr>
          <p:cNvSpPr txBox="1"/>
          <p:nvPr/>
        </p:nvSpPr>
        <p:spPr>
          <a:xfrm>
            <a:off x="8366760" y="2441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R cuadrado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E44827-6D65-BD0D-86FF-3320270264E9}"/>
              </a:ext>
            </a:extLst>
          </p:cNvPr>
          <p:cNvSpPr txBox="1"/>
          <p:nvPr/>
        </p:nvSpPr>
        <p:spPr>
          <a:xfrm>
            <a:off x="9966960" y="2441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D9D930-D55F-868D-4200-DB563DFA6175}"/>
              </a:ext>
            </a:extLst>
          </p:cNvPr>
          <p:cNvSpPr txBox="1"/>
          <p:nvPr/>
        </p:nvSpPr>
        <p:spPr>
          <a:xfrm>
            <a:off x="11018520" y="2441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DBAB58-5F41-BD00-CF15-07FC5A42DB64}"/>
              </a:ext>
            </a:extLst>
          </p:cNvPr>
          <p:cNvSpPr/>
          <p:nvPr/>
        </p:nvSpPr>
        <p:spPr>
          <a:xfrm>
            <a:off x="8321040" y="28346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862D50-AE48-6AAA-9F84-6747120AB85F}"/>
              </a:ext>
            </a:extLst>
          </p:cNvPr>
          <p:cNvSpPr txBox="1"/>
          <p:nvPr/>
        </p:nvSpPr>
        <p:spPr>
          <a:xfrm>
            <a:off x="8366760" y="2898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Pearson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18F3AD-F1A8-447A-C3B6-E8465E0B810E}"/>
              </a:ext>
            </a:extLst>
          </p:cNvPr>
          <p:cNvSpPr txBox="1"/>
          <p:nvPr/>
        </p:nvSpPr>
        <p:spPr>
          <a:xfrm>
            <a:off x="996696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63D1D3-9676-EA7E-ACB6-96FD68B09859}"/>
              </a:ext>
            </a:extLst>
          </p:cNvPr>
          <p:cNvSpPr txBox="1"/>
          <p:nvPr/>
        </p:nvSpPr>
        <p:spPr>
          <a:xfrm>
            <a:off x="11018520" y="28986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07E5F5-3933-937C-9F29-925DE37550E7}"/>
              </a:ext>
            </a:extLst>
          </p:cNvPr>
          <p:cNvSpPr/>
          <p:nvPr/>
        </p:nvSpPr>
        <p:spPr>
          <a:xfrm>
            <a:off x="8321040" y="3291840"/>
            <a:ext cx="3657600" cy="438912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D6B223-6CD7-85DD-F461-818E75DEA003}"/>
              </a:ext>
            </a:extLst>
          </p:cNvPr>
          <p:cNvSpPr txBox="1"/>
          <p:nvPr/>
        </p:nvSpPr>
        <p:spPr>
          <a:xfrm>
            <a:off x="8366760" y="33558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Calibri"/>
              </a:rPr>
              <a:t>Error L2 prom.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E94223-6080-2B81-8349-096CFE46E68D}"/>
              </a:ext>
            </a:extLst>
          </p:cNvPr>
          <p:cNvSpPr txBox="1"/>
          <p:nvPr/>
        </p:nvSpPr>
        <p:spPr>
          <a:xfrm>
            <a:off x="9966960" y="3355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4F72"/>
                </a:solidFill>
                <a:latin typeface="Calibri"/>
              </a:rPr>
              <a:t>0.171%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065826-9C98-C1CA-2686-679F4AE3E79A}"/>
              </a:ext>
            </a:extLst>
          </p:cNvPr>
          <p:cNvSpPr txBox="1"/>
          <p:nvPr/>
        </p:nvSpPr>
        <p:spPr>
          <a:xfrm>
            <a:off x="11018520" y="33558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A77D7EF-6D2B-748D-E8CA-CC7C50851213}"/>
              </a:ext>
            </a:extLst>
          </p:cNvPr>
          <p:cNvSpPr/>
          <p:nvPr/>
        </p:nvSpPr>
        <p:spPr>
          <a:xfrm>
            <a:off x="8321040" y="3749039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11ACB3-CF08-1B3F-188F-39492467A74F}"/>
              </a:ext>
            </a:extLst>
          </p:cNvPr>
          <p:cNvSpPr txBox="1"/>
          <p:nvPr/>
        </p:nvSpPr>
        <p:spPr>
          <a:xfrm>
            <a:off x="8366760" y="38130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Epocas Adam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E9C44F-6FF3-F66E-082F-694A6BBD1F05}"/>
              </a:ext>
            </a:extLst>
          </p:cNvPr>
          <p:cNvSpPr txBox="1"/>
          <p:nvPr/>
        </p:nvSpPr>
        <p:spPr>
          <a:xfrm>
            <a:off x="9966960" y="3813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8,737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9E7D3E-5F33-B7F5-3A2D-82F29B5DD6C0}"/>
              </a:ext>
            </a:extLst>
          </p:cNvPr>
          <p:cNvSpPr txBox="1"/>
          <p:nvPr/>
        </p:nvSpPr>
        <p:spPr>
          <a:xfrm>
            <a:off x="11018520" y="38130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B338D3-74F8-CAD9-B514-EB2B869DEAFB}"/>
              </a:ext>
            </a:extLst>
          </p:cNvPr>
          <p:cNvSpPr/>
          <p:nvPr/>
        </p:nvSpPr>
        <p:spPr>
          <a:xfrm>
            <a:off x="8321040" y="4206240"/>
            <a:ext cx="3657600" cy="438912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8BB2FF-A01D-7B0B-2DD7-16DB0BDBFE4D}"/>
              </a:ext>
            </a:extLst>
          </p:cNvPr>
          <p:cNvSpPr txBox="1"/>
          <p:nvPr/>
        </p:nvSpPr>
        <p:spPr>
          <a:xfrm>
            <a:off x="8366760" y="4270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Iter. L-BFGS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A2F8B6-63EF-FF95-7311-3398BF428188}"/>
              </a:ext>
            </a:extLst>
          </p:cNvPr>
          <p:cNvSpPr txBox="1"/>
          <p:nvPr/>
        </p:nvSpPr>
        <p:spPr>
          <a:xfrm>
            <a:off x="9966960" y="4270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1,035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0EBFC0-C6F0-7404-0600-B77FC727AA7E}"/>
              </a:ext>
            </a:extLst>
          </p:cNvPr>
          <p:cNvSpPr txBox="1"/>
          <p:nvPr/>
        </p:nvSpPr>
        <p:spPr>
          <a:xfrm>
            <a:off x="11018520" y="42702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8124D59-8E95-1F22-8886-E862FB86E3EE}"/>
              </a:ext>
            </a:extLst>
          </p:cNvPr>
          <p:cNvSpPr/>
          <p:nvPr/>
        </p:nvSpPr>
        <p:spPr>
          <a:xfrm>
            <a:off x="8321040" y="46634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3C28C6-783C-7068-85B7-13739244DA49}"/>
              </a:ext>
            </a:extLst>
          </p:cNvPr>
          <p:cNvSpPr txBox="1"/>
          <p:nvPr/>
        </p:nvSpPr>
        <p:spPr>
          <a:xfrm>
            <a:off x="8366760" y="4727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Tiempo total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4817B7-1E6C-923A-8941-4395CB42E1A3}"/>
              </a:ext>
            </a:extLst>
          </p:cNvPr>
          <p:cNvSpPr txBox="1"/>
          <p:nvPr/>
        </p:nvSpPr>
        <p:spPr>
          <a:xfrm>
            <a:off x="9966960" y="4727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299 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DF838D-CC45-9D9A-6E82-FCEDA649611C}"/>
              </a:ext>
            </a:extLst>
          </p:cNvPr>
          <p:cNvSpPr txBox="1"/>
          <p:nvPr/>
        </p:nvSpPr>
        <p:spPr>
          <a:xfrm>
            <a:off x="11018520" y="4727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24505448-3D48-73B9-BCAE-E11B4501EE4E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69223570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FC4CB-2C8B-76C6-C3A8-A9BC0C91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2D9264-3DD1-BC1D-3975-F9FE5BE87C89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4E490-9752-2564-B8F0-5CD576F202F4}"/>
              </a:ext>
            </a:extLst>
          </p:cNvPr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NB02: HELMHOLTZ 2D CON CAMPO COMPLEJO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7EA25-60BB-FBBA-909C-00404A8E350B}"/>
              </a:ext>
            </a:extLst>
          </p:cNvPr>
          <p:cNvSpPr txBox="1"/>
          <p:nvPr/>
        </p:nvSpPr>
        <p:spPr>
          <a:xfrm>
            <a:off x="365760" y="74980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FE5"/>
                </a:solidFill>
                <a:latin typeface="Calibri"/>
              </a:rPr>
              <a:t>SIREN 5×128  |  k = 2π  |  LHS 3,000 pts  |  E_exacta = e^(i(kₓx + k_yy))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A966F-237F-FF54-4320-82EC05A3A915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resultados_pinn_2d.png">
            <a:extLst>
              <a:ext uri="{FF2B5EF4-FFF2-40B4-BE49-F238E27FC236}">
                <a16:creationId xmlns:a16="http://schemas.microsoft.com/office/drawing/2014/main" id="{7CA9E74B-A744-8A77-49DC-8CE6C18DF6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421" r="68434"/>
          <a:stretch>
            <a:fillRect/>
          </a:stretch>
        </p:blipFill>
        <p:spPr>
          <a:xfrm>
            <a:off x="658761" y="1529032"/>
            <a:ext cx="6282813" cy="41180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E084CE-5146-0528-671D-3BC6E88154C7}"/>
              </a:ext>
            </a:extLst>
          </p:cNvPr>
          <p:cNvSpPr txBox="1"/>
          <p:nvPr/>
        </p:nvSpPr>
        <p:spPr>
          <a:xfrm>
            <a:off x="182880" y="6254496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7A92AA"/>
                </a:solidFill>
                <a:latin typeface="Calibri"/>
              </a:rPr>
              <a:t>Fig. 4.</a:t>
            </a:r>
            <a:r>
              <a:rPr lang="es-MX" sz="1000" b="0" i="1" dirty="0">
                <a:solidFill>
                  <a:srgbClr val="7A92AA"/>
                </a:solidFill>
                <a:latin typeface="Calibri"/>
              </a:rPr>
              <a:t>0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: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E_real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y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E_imag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—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solucion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exacta (fila sup.) vs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prediccion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PINN (fila inf.) — Error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puntual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y curvas de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perdida</a:t>
            </a:r>
            <a:endParaRPr sz="1000" b="0" i="1" dirty="0">
              <a:solidFill>
                <a:srgbClr val="7A92A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9E8750-906E-AD98-C5F7-A5C6B88092DD}"/>
              </a:ext>
            </a:extLst>
          </p:cNvPr>
          <p:cNvSpPr txBox="1"/>
          <p:nvPr/>
        </p:nvSpPr>
        <p:spPr>
          <a:xfrm>
            <a:off x="8321040" y="1051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5C8C"/>
                </a:solidFill>
                <a:latin typeface="Calibri"/>
              </a:rPr>
              <a:t>Metricas NB02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BB83D4-45E5-710F-3223-C1EAC3B35D4A}"/>
              </a:ext>
            </a:extLst>
          </p:cNvPr>
          <p:cNvSpPr/>
          <p:nvPr/>
        </p:nvSpPr>
        <p:spPr>
          <a:xfrm>
            <a:off x="8321040" y="1463040"/>
            <a:ext cx="3657600" cy="438912"/>
          </a:xfrm>
          <a:prstGeom prst="rect">
            <a:avLst/>
          </a:prstGeom>
          <a:solidFill>
            <a:srgbClr val="345C8C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325BCA-C1F0-6055-F60F-C1E59891835C}"/>
              </a:ext>
            </a:extLst>
          </p:cNvPr>
          <p:cNvSpPr txBox="1"/>
          <p:nvPr/>
        </p:nvSpPr>
        <p:spPr>
          <a:xfrm>
            <a:off x="8366760" y="15270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9B0702-49E4-2984-B4AB-C096DE7D4F92}"/>
              </a:ext>
            </a:extLst>
          </p:cNvPr>
          <p:cNvSpPr txBox="1"/>
          <p:nvPr/>
        </p:nvSpPr>
        <p:spPr>
          <a:xfrm>
            <a:off x="9966960" y="1527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E_real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FE025-E232-F682-1B1B-30C0BA20C1D1}"/>
              </a:ext>
            </a:extLst>
          </p:cNvPr>
          <p:cNvSpPr txBox="1"/>
          <p:nvPr/>
        </p:nvSpPr>
        <p:spPr>
          <a:xfrm>
            <a:off x="11018520" y="15270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E_imag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E079EA-A5BA-6131-4AD2-FD5F609EFC41}"/>
              </a:ext>
            </a:extLst>
          </p:cNvPr>
          <p:cNvSpPr/>
          <p:nvPr/>
        </p:nvSpPr>
        <p:spPr>
          <a:xfrm>
            <a:off x="8321040" y="19202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C331D3-2C77-5C7B-E0A6-E82E38297FCA}"/>
              </a:ext>
            </a:extLst>
          </p:cNvPr>
          <p:cNvSpPr txBox="1"/>
          <p:nvPr/>
        </p:nvSpPr>
        <p:spPr>
          <a:xfrm>
            <a:off x="8366760" y="1984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Error L2 (%)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D4513C-7F1C-047C-7252-D0FB263BA7F1}"/>
              </a:ext>
            </a:extLst>
          </p:cNvPr>
          <p:cNvSpPr txBox="1"/>
          <p:nvPr/>
        </p:nvSpPr>
        <p:spPr>
          <a:xfrm>
            <a:off x="9966960" y="1984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0.214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DA4694-A3CF-D86B-A9B5-3F431DB386D3}"/>
              </a:ext>
            </a:extLst>
          </p:cNvPr>
          <p:cNvSpPr txBox="1"/>
          <p:nvPr/>
        </p:nvSpPr>
        <p:spPr>
          <a:xfrm>
            <a:off x="11018520" y="19842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0.127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E942E2-592E-F19C-DBB9-E4864B9511ED}"/>
              </a:ext>
            </a:extLst>
          </p:cNvPr>
          <p:cNvSpPr/>
          <p:nvPr/>
        </p:nvSpPr>
        <p:spPr>
          <a:xfrm>
            <a:off x="8321040" y="2377440"/>
            <a:ext cx="3657600" cy="438912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578D70-35C0-46DA-41EB-A3916E2D9EF3}"/>
              </a:ext>
            </a:extLst>
          </p:cNvPr>
          <p:cNvSpPr txBox="1"/>
          <p:nvPr/>
        </p:nvSpPr>
        <p:spPr>
          <a:xfrm>
            <a:off x="8366760" y="2441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R cuadrado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D11182-A448-BCE0-F4AC-30210298411E}"/>
              </a:ext>
            </a:extLst>
          </p:cNvPr>
          <p:cNvSpPr txBox="1"/>
          <p:nvPr/>
        </p:nvSpPr>
        <p:spPr>
          <a:xfrm>
            <a:off x="9966960" y="2441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8C9CE6-0E85-4991-458A-1576AC689D0E}"/>
              </a:ext>
            </a:extLst>
          </p:cNvPr>
          <p:cNvSpPr txBox="1"/>
          <p:nvPr/>
        </p:nvSpPr>
        <p:spPr>
          <a:xfrm>
            <a:off x="11018520" y="2441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00F75A-6DC8-1792-E292-2D5A75810741}"/>
              </a:ext>
            </a:extLst>
          </p:cNvPr>
          <p:cNvSpPr/>
          <p:nvPr/>
        </p:nvSpPr>
        <p:spPr>
          <a:xfrm>
            <a:off x="8321040" y="28346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250D54-6DCE-69A9-DE2B-19BCCCF09B1A}"/>
              </a:ext>
            </a:extLst>
          </p:cNvPr>
          <p:cNvSpPr txBox="1"/>
          <p:nvPr/>
        </p:nvSpPr>
        <p:spPr>
          <a:xfrm>
            <a:off x="8366760" y="2898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Pearson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DE1DAE-FB02-5435-AB18-C6001B4137A0}"/>
              </a:ext>
            </a:extLst>
          </p:cNvPr>
          <p:cNvSpPr txBox="1"/>
          <p:nvPr/>
        </p:nvSpPr>
        <p:spPr>
          <a:xfrm>
            <a:off x="996696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2FFDA6-5FF1-C05E-0E68-3C4DC03104BC}"/>
              </a:ext>
            </a:extLst>
          </p:cNvPr>
          <p:cNvSpPr txBox="1"/>
          <p:nvPr/>
        </p:nvSpPr>
        <p:spPr>
          <a:xfrm>
            <a:off x="11018520" y="28986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139B66-61BA-46B6-6B98-AF686320FA77}"/>
              </a:ext>
            </a:extLst>
          </p:cNvPr>
          <p:cNvSpPr/>
          <p:nvPr/>
        </p:nvSpPr>
        <p:spPr>
          <a:xfrm>
            <a:off x="8321040" y="3291840"/>
            <a:ext cx="3657600" cy="438912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14B1FD-EA07-0796-C285-B3A9A45E198B}"/>
              </a:ext>
            </a:extLst>
          </p:cNvPr>
          <p:cNvSpPr txBox="1"/>
          <p:nvPr/>
        </p:nvSpPr>
        <p:spPr>
          <a:xfrm>
            <a:off x="8366760" y="33558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Calibri"/>
              </a:rPr>
              <a:t>Error L2 prom.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B144E4-25D7-D8F4-9D42-9C068DADFE1B}"/>
              </a:ext>
            </a:extLst>
          </p:cNvPr>
          <p:cNvSpPr txBox="1"/>
          <p:nvPr/>
        </p:nvSpPr>
        <p:spPr>
          <a:xfrm>
            <a:off x="9966960" y="3355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4F72"/>
                </a:solidFill>
                <a:latin typeface="Calibri"/>
              </a:rPr>
              <a:t>0.171%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30CAAF-6ED1-A1E3-FA42-999A652BF998}"/>
              </a:ext>
            </a:extLst>
          </p:cNvPr>
          <p:cNvSpPr txBox="1"/>
          <p:nvPr/>
        </p:nvSpPr>
        <p:spPr>
          <a:xfrm>
            <a:off x="11018520" y="33558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3D723C-E1DF-3CDB-2D4B-DA931388CDBF}"/>
              </a:ext>
            </a:extLst>
          </p:cNvPr>
          <p:cNvSpPr/>
          <p:nvPr/>
        </p:nvSpPr>
        <p:spPr>
          <a:xfrm>
            <a:off x="8321040" y="3749039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D67F2-13ED-6083-3D62-450FE4C26609}"/>
              </a:ext>
            </a:extLst>
          </p:cNvPr>
          <p:cNvSpPr txBox="1"/>
          <p:nvPr/>
        </p:nvSpPr>
        <p:spPr>
          <a:xfrm>
            <a:off x="8366760" y="38130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Epocas Adam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002698-5FB2-71C0-1E31-69D1083663D8}"/>
              </a:ext>
            </a:extLst>
          </p:cNvPr>
          <p:cNvSpPr txBox="1"/>
          <p:nvPr/>
        </p:nvSpPr>
        <p:spPr>
          <a:xfrm>
            <a:off x="9966960" y="3813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8,737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81C226-4B1E-FC10-0E22-B762796C262E}"/>
              </a:ext>
            </a:extLst>
          </p:cNvPr>
          <p:cNvSpPr txBox="1"/>
          <p:nvPr/>
        </p:nvSpPr>
        <p:spPr>
          <a:xfrm>
            <a:off x="11018520" y="38130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8C1B4BF-71BA-CB9A-ECD5-2D3233B86777}"/>
              </a:ext>
            </a:extLst>
          </p:cNvPr>
          <p:cNvSpPr/>
          <p:nvPr/>
        </p:nvSpPr>
        <p:spPr>
          <a:xfrm>
            <a:off x="8321040" y="4206240"/>
            <a:ext cx="3657600" cy="438912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03A64-50BC-0ED1-B01D-2E66EBA7FE9B}"/>
              </a:ext>
            </a:extLst>
          </p:cNvPr>
          <p:cNvSpPr txBox="1"/>
          <p:nvPr/>
        </p:nvSpPr>
        <p:spPr>
          <a:xfrm>
            <a:off x="8366760" y="4270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Iter. L-BFGS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61D2A5-F3E1-5959-D139-202D5DE47D4B}"/>
              </a:ext>
            </a:extLst>
          </p:cNvPr>
          <p:cNvSpPr txBox="1"/>
          <p:nvPr/>
        </p:nvSpPr>
        <p:spPr>
          <a:xfrm>
            <a:off x="9966960" y="4270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1,035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3574B0-0C20-06EF-1B11-85328A08D5A8}"/>
              </a:ext>
            </a:extLst>
          </p:cNvPr>
          <p:cNvSpPr txBox="1"/>
          <p:nvPr/>
        </p:nvSpPr>
        <p:spPr>
          <a:xfrm>
            <a:off x="11018520" y="42702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B9297E2-C9A6-1343-BD26-F395882CE269}"/>
              </a:ext>
            </a:extLst>
          </p:cNvPr>
          <p:cNvSpPr/>
          <p:nvPr/>
        </p:nvSpPr>
        <p:spPr>
          <a:xfrm>
            <a:off x="8321040" y="46634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5D407D-4A31-6599-9B13-9CDC6CA3E185}"/>
              </a:ext>
            </a:extLst>
          </p:cNvPr>
          <p:cNvSpPr txBox="1"/>
          <p:nvPr/>
        </p:nvSpPr>
        <p:spPr>
          <a:xfrm>
            <a:off x="8366760" y="4727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Tiempo total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447937-A98B-7F67-4BA9-89B762117DD9}"/>
              </a:ext>
            </a:extLst>
          </p:cNvPr>
          <p:cNvSpPr txBox="1"/>
          <p:nvPr/>
        </p:nvSpPr>
        <p:spPr>
          <a:xfrm>
            <a:off x="9966960" y="4727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299 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F2C722-A3F8-1EC5-5EFA-B2D50ABDB9B4}"/>
              </a:ext>
            </a:extLst>
          </p:cNvPr>
          <p:cNvSpPr txBox="1"/>
          <p:nvPr/>
        </p:nvSpPr>
        <p:spPr>
          <a:xfrm>
            <a:off x="11018520" y="4727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9DD5EF1-2861-7343-B3FF-F3A9255A1C75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32007724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5A04C-CE1C-92AF-A118-35FD402E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F62A47-D196-CB53-9846-880F1CBCA89C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C309E-F154-EB7B-8DD3-9436B631FB73}"/>
              </a:ext>
            </a:extLst>
          </p:cNvPr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NB02: HELMHOLTZ 2D CON CAMPO COMPLEJO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1130AA-6EEE-B315-C6D6-4F0471ADC24A}"/>
              </a:ext>
            </a:extLst>
          </p:cNvPr>
          <p:cNvSpPr txBox="1"/>
          <p:nvPr/>
        </p:nvSpPr>
        <p:spPr>
          <a:xfrm>
            <a:off x="365760" y="74980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FE5"/>
                </a:solidFill>
                <a:latin typeface="Calibri"/>
              </a:rPr>
              <a:t>SIREN 5×128  |  k = 2π  |  LHS 3,000 pts  |  E_exacta = e^(i(kₓx + k_yy))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C62AC-59C4-F4D7-BF84-D4FF16517DF3}"/>
              </a:ext>
            </a:extLst>
          </p:cNvPr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resultados_pinn_2d.png">
            <a:extLst>
              <a:ext uri="{FF2B5EF4-FFF2-40B4-BE49-F238E27FC236}">
                <a16:creationId xmlns:a16="http://schemas.microsoft.com/office/drawing/2014/main" id="{85188B13-B4E0-3FEE-EEB8-CC6C760E1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802" t="69474"/>
          <a:stretch>
            <a:fillRect/>
          </a:stretch>
        </p:blipFill>
        <p:spPr>
          <a:xfrm>
            <a:off x="273336" y="1399032"/>
            <a:ext cx="7496113" cy="43838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8833F4-FBC9-88CE-4F2D-9353EEE37138}"/>
              </a:ext>
            </a:extLst>
          </p:cNvPr>
          <p:cNvSpPr txBox="1"/>
          <p:nvPr/>
        </p:nvSpPr>
        <p:spPr>
          <a:xfrm>
            <a:off x="182880" y="6254496"/>
            <a:ext cx="7955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7A92AA"/>
                </a:solidFill>
                <a:latin typeface="Calibri"/>
              </a:rPr>
              <a:t>Fig. 4.</a:t>
            </a:r>
            <a:r>
              <a:rPr lang="es-MX" sz="1000" b="0" i="1" dirty="0">
                <a:solidFill>
                  <a:srgbClr val="7A92AA"/>
                </a:solidFill>
                <a:latin typeface="Calibri"/>
              </a:rPr>
              <a:t>0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: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E_real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y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E_imag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—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solucion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exacta (fila sup.) vs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prediccion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PINN (fila inf.) — Error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puntual</a:t>
            </a:r>
            <a:r>
              <a:rPr sz="1000" b="0" i="1" dirty="0">
                <a:solidFill>
                  <a:srgbClr val="7A92AA"/>
                </a:solidFill>
                <a:latin typeface="Calibri"/>
              </a:rPr>
              <a:t> y curvas de </a:t>
            </a:r>
            <a:r>
              <a:rPr sz="1000" b="0" i="1" dirty="0" err="1">
                <a:solidFill>
                  <a:srgbClr val="7A92AA"/>
                </a:solidFill>
                <a:latin typeface="Calibri"/>
              </a:rPr>
              <a:t>perdida</a:t>
            </a:r>
            <a:endParaRPr sz="1000" b="0" i="1" dirty="0">
              <a:solidFill>
                <a:srgbClr val="7A92AA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2C15C-182C-6B42-21E5-C4C4200B78EB}"/>
              </a:ext>
            </a:extLst>
          </p:cNvPr>
          <p:cNvSpPr txBox="1"/>
          <p:nvPr/>
        </p:nvSpPr>
        <p:spPr>
          <a:xfrm>
            <a:off x="8321040" y="1051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5C8C"/>
                </a:solidFill>
                <a:latin typeface="Calibri"/>
              </a:rPr>
              <a:t>Metricas NB02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995C20-09E9-80B7-6084-152BF6227410}"/>
              </a:ext>
            </a:extLst>
          </p:cNvPr>
          <p:cNvSpPr/>
          <p:nvPr/>
        </p:nvSpPr>
        <p:spPr>
          <a:xfrm>
            <a:off x="8321040" y="1463040"/>
            <a:ext cx="3657600" cy="438912"/>
          </a:xfrm>
          <a:prstGeom prst="rect">
            <a:avLst/>
          </a:prstGeom>
          <a:solidFill>
            <a:srgbClr val="345C8C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49272-703C-9C08-2E03-DF10E9C78D26}"/>
              </a:ext>
            </a:extLst>
          </p:cNvPr>
          <p:cNvSpPr txBox="1"/>
          <p:nvPr/>
        </p:nvSpPr>
        <p:spPr>
          <a:xfrm>
            <a:off x="8366760" y="15270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CB43AA-A75B-2764-AB36-181A8C79891F}"/>
              </a:ext>
            </a:extLst>
          </p:cNvPr>
          <p:cNvSpPr txBox="1"/>
          <p:nvPr/>
        </p:nvSpPr>
        <p:spPr>
          <a:xfrm>
            <a:off x="9966960" y="1527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E_real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37A4A-76E2-4C11-5787-850EB3A820CA}"/>
              </a:ext>
            </a:extLst>
          </p:cNvPr>
          <p:cNvSpPr txBox="1"/>
          <p:nvPr/>
        </p:nvSpPr>
        <p:spPr>
          <a:xfrm>
            <a:off x="11018520" y="15270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E_imag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C2D087-42FE-E1B8-FC88-1DF92F2162DB}"/>
              </a:ext>
            </a:extLst>
          </p:cNvPr>
          <p:cNvSpPr/>
          <p:nvPr/>
        </p:nvSpPr>
        <p:spPr>
          <a:xfrm>
            <a:off x="8321040" y="19202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E91389-D470-B077-E460-FBBE7AFBD5A9}"/>
              </a:ext>
            </a:extLst>
          </p:cNvPr>
          <p:cNvSpPr txBox="1"/>
          <p:nvPr/>
        </p:nvSpPr>
        <p:spPr>
          <a:xfrm>
            <a:off x="8366760" y="1984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Error L2 (%)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6F3986-A713-3E95-703D-EA2CCFCEFC3A}"/>
              </a:ext>
            </a:extLst>
          </p:cNvPr>
          <p:cNvSpPr txBox="1"/>
          <p:nvPr/>
        </p:nvSpPr>
        <p:spPr>
          <a:xfrm>
            <a:off x="9966960" y="1984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0.214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6D79FA-BEF7-1067-0C1E-EADC57A82F51}"/>
              </a:ext>
            </a:extLst>
          </p:cNvPr>
          <p:cNvSpPr txBox="1"/>
          <p:nvPr/>
        </p:nvSpPr>
        <p:spPr>
          <a:xfrm>
            <a:off x="11018520" y="19842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0.127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E18469-6672-0CE0-E7F8-41B25857798A}"/>
              </a:ext>
            </a:extLst>
          </p:cNvPr>
          <p:cNvSpPr/>
          <p:nvPr/>
        </p:nvSpPr>
        <p:spPr>
          <a:xfrm>
            <a:off x="8321040" y="2377440"/>
            <a:ext cx="3657600" cy="438912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A77FDA-68C4-6AA4-7CFD-F0B4FA7F6315}"/>
              </a:ext>
            </a:extLst>
          </p:cNvPr>
          <p:cNvSpPr txBox="1"/>
          <p:nvPr/>
        </p:nvSpPr>
        <p:spPr>
          <a:xfrm>
            <a:off x="8366760" y="2441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R cuadrado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E7DF8F-6550-D149-0F9D-9606BCE1ACE0}"/>
              </a:ext>
            </a:extLst>
          </p:cNvPr>
          <p:cNvSpPr txBox="1"/>
          <p:nvPr/>
        </p:nvSpPr>
        <p:spPr>
          <a:xfrm>
            <a:off x="9966960" y="2441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5A65AD-DE52-A2B7-ADFE-22628E6B9D77}"/>
              </a:ext>
            </a:extLst>
          </p:cNvPr>
          <p:cNvSpPr txBox="1"/>
          <p:nvPr/>
        </p:nvSpPr>
        <p:spPr>
          <a:xfrm>
            <a:off x="11018520" y="2441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90C1DB-DFDC-5FCD-C707-1098904AB5E9}"/>
              </a:ext>
            </a:extLst>
          </p:cNvPr>
          <p:cNvSpPr/>
          <p:nvPr/>
        </p:nvSpPr>
        <p:spPr>
          <a:xfrm>
            <a:off x="8321040" y="28346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454FFE-BDAA-EF73-E291-0328E390EE7E}"/>
              </a:ext>
            </a:extLst>
          </p:cNvPr>
          <p:cNvSpPr txBox="1"/>
          <p:nvPr/>
        </p:nvSpPr>
        <p:spPr>
          <a:xfrm>
            <a:off x="8366760" y="28986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Pearson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C4DEBC-6AAB-27BA-10F4-C39A8B6F3A76}"/>
              </a:ext>
            </a:extLst>
          </p:cNvPr>
          <p:cNvSpPr txBox="1"/>
          <p:nvPr/>
        </p:nvSpPr>
        <p:spPr>
          <a:xfrm>
            <a:off x="9966960" y="2898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1A5E5-CFBE-6C53-163A-8D7C49C52DD9}"/>
              </a:ext>
            </a:extLst>
          </p:cNvPr>
          <p:cNvSpPr txBox="1"/>
          <p:nvPr/>
        </p:nvSpPr>
        <p:spPr>
          <a:xfrm>
            <a:off x="11018520" y="28986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0.999999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27E7F7-ACC0-ABD0-5CB8-BD2A14F04A88}"/>
              </a:ext>
            </a:extLst>
          </p:cNvPr>
          <p:cNvSpPr/>
          <p:nvPr/>
        </p:nvSpPr>
        <p:spPr>
          <a:xfrm>
            <a:off x="8321040" y="3291840"/>
            <a:ext cx="3657600" cy="438912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7AEC35-E35A-0F48-4648-6754E6637632}"/>
              </a:ext>
            </a:extLst>
          </p:cNvPr>
          <p:cNvSpPr txBox="1"/>
          <p:nvPr/>
        </p:nvSpPr>
        <p:spPr>
          <a:xfrm>
            <a:off x="8366760" y="33558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Calibri"/>
              </a:rPr>
              <a:t>Error L2 prom.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E8263C-FEC9-63D1-DE65-BB30B323C49A}"/>
              </a:ext>
            </a:extLst>
          </p:cNvPr>
          <p:cNvSpPr txBox="1"/>
          <p:nvPr/>
        </p:nvSpPr>
        <p:spPr>
          <a:xfrm>
            <a:off x="9966960" y="33558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4F72"/>
                </a:solidFill>
                <a:latin typeface="Calibri"/>
              </a:rPr>
              <a:t>0.171%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589368-48BD-1EC3-8656-4680CDDC32E4}"/>
              </a:ext>
            </a:extLst>
          </p:cNvPr>
          <p:cNvSpPr txBox="1"/>
          <p:nvPr/>
        </p:nvSpPr>
        <p:spPr>
          <a:xfrm>
            <a:off x="11018520" y="33558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294D8B-7F70-D212-EAEC-4F05FED8A16E}"/>
              </a:ext>
            </a:extLst>
          </p:cNvPr>
          <p:cNvSpPr/>
          <p:nvPr/>
        </p:nvSpPr>
        <p:spPr>
          <a:xfrm>
            <a:off x="8321040" y="3749039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4C9514-6008-257F-F9F7-78801EA3EF4C}"/>
              </a:ext>
            </a:extLst>
          </p:cNvPr>
          <p:cNvSpPr txBox="1"/>
          <p:nvPr/>
        </p:nvSpPr>
        <p:spPr>
          <a:xfrm>
            <a:off x="8366760" y="38130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Epocas Adam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A51486-9B0A-1143-2066-6BC7A0336700}"/>
              </a:ext>
            </a:extLst>
          </p:cNvPr>
          <p:cNvSpPr txBox="1"/>
          <p:nvPr/>
        </p:nvSpPr>
        <p:spPr>
          <a:xfrm>
            <a:off x="9966960" y="38130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8,737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2EB7AD-6AC3-8AC5-6E5B-68C6E16E1746}"/>
              </a:ext>
            </a:extLst>
          </p:cNvPr>
          <p:cNvSpPr txBox="1"/>
          <p:nvPr/>
        </p:nvSpPr>
        <p:spPr>
          <a:xfrm>
            <a:off x="11018520" y="38130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2D3E57-6F33-6953-CF8F-7484E86634B1}"/>
              </a:ext>
            </a:extLst>
          </p:cNvPr>
          <p:cNvSpPr/>
          <p:nvPr/>
        </p:nvSpPr>
        <p:spPr>
          <a:xfrm>
            <a:off x="8321040" y="4206240"/>
            <a:ext cx="3657600" cy="438912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35D157-DE87-8E2A-1B69-C473C5C5EC94}"/>
              </a:ext>
            </a:extLst>
          </p:cNvPr>
          <p:cNvSpPr txBox="1"/>
          <p:nvPr/>
        </p:nvSpPr>
        <p:spPr>
          <a:xfrm>
            <a:off x="8366760" y="4270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Iter. L-BFGS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93E9D0-DCD6-DD8F-FD14-A29527B7EFE0}"/>
              </a:ext>
            </a:extLst>
          </p:cNvPr>
          <p:cNvSpPr txBox="1"/>
          <p:nvPr/>
        </p:nvSpPr>
        <p:spPr>
          <a:xfrm>
            <a:off x="9966960" y="42702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1,035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CC2183-C7BB-B9CB-1263-FC6A2977CB55}"/>
              </a:ext>
            </a:extLst>
          </p:cNvPr>
          <p:cNvSpPr txBox="1"/>
          <p:nvPr/>
        </p:nvSpPr>
        <p:spPr>
          <a:xfrm>
            <a:off x="11018520" y="42702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94D60A-FCE5-6C23-EBCE-00599C4C5382}"/>
              </a:ext>
            </a:extLst>
          </p:cNvPr>
          <p:cNvSpPr/>
          <p:nvPr/>
        </p:nvSpPr>
        <p:spPr>
          <a:xfrm>
            <a:off x="8321040" y="4663440"/>
            <a:ext cx="3657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70560E-0973-8575-1C4A-B84A20658CAE}"/>
              </a:ext>
            </a:extLst>
          </p:cNvPr>
          <p:cNvSpPr txBox="1"/>
          <p:nvPr/>
        </p:nvSpPr>
        <p:spPr>
          <a:xfrm>
            <a:off x="8366760" y="47274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Tiempo total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88F1D4-0945-3422-3B02-CA656229454E}"/>
              </a:ext>
            </a:extLst>
          </p:cNvPr>
          <p:cNvSpPr txBox="1"/>
          <p:nvPr/>
        </p:nvSpPr>
        <p:spPr>
          <a:xfrm>
            <a:off x="9966960" y="4727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2C2C"/>
                </a:solidFill>
                <a:latin typeface="Calibri"/>
              </a:rPr>
              <a:t>299 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F7D994-7B67-9979-13D1-B6CBB990B9D7}"/>
              </a:ext>
            </a:extLst>
          </p:cNvPr>
          <p:cNvSpPr txBox="1"/>
          <p:nvPr/>
        </p:nvSpPr>
        <p:spPr>
          <a:xfrm>
            <a:off x="11018520" y="4727448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E8C77D0-BA27-8C3B-ACB4-47E511E4B5AC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34452933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NB02: ANALISIS DE ERROR Y REPRODUCIBILIDAD MULTI-SEMILLA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metricas_adicionales_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24128"/>
            <a:ext cx="6949440" cy="4709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2880" y="5751576"/>
                <a:ext cx="6949440" cy="397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1200" b="0" i="1" dirty="0">
                    <a:solidFill>
                      <a:schemeClr val="tx2"/>
                    </a:solidFill>
                    <a:latin typeface="Calibri"/>
                  </a:rPr>
                  <a:t>Fig. 4.</a:t>
                </a:r>
                <a:r>
                  <a:rPr lang="es-MX" sz="1200" i="1" dirty="0">
                    <a:solidFill>
                      <a:schemeClr val="tx2"/>
                    </a:solidFill>
                    <a:latin typeface="Calibri"/>
                  </a:rPr>
                  <a:t>1</a:t>
                </a:r>
                <a:r>
                  <a:rPr lang="es-MX" sz="1200" b="0" i="1" dirty="0">
                    <a:solidFill>
                      <a:schemeClr val="tx2"/>
                    </a:solidFill>
                    <a:latin typeface="Calibri"/>
                  </a:rPr>
                  <a:t>: </a:t>
                </a:r>
                <a:r>
                  <a:rPr lang="es-MX" sz="1200" b="0" i="1" dirty="0" err="1">
                    <a:solidFill>
                      <a:schemeClr val="tx2"/>
                    </a:solidFill>
                    <a:latin typeface="Calibri"/>
                  </a:rPr>
                  <a:t>Distribucion</a:t>
                </a:r>
                <a:r>
                  <a:rPr lang="es-MX" sz="1200" b="0" i="1" dirty="0">
                    <a:solidFill>
                      <a:schemeClr val="tx2"/>
                    </a:solidFill>
                    <a:latin typeface="Calibri"/>
                  </a:rPr>
                  <a:t> de errores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sz="1200" b="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MX" sz="12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12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MX" sz="1200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𝑟𝑒𝑎𝑙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s-MX" sz="1200" i="1" dirty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sz="1200" i="1" dirty="0" err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MX" sz="1200" i="1" dirty="0" err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𝑖𝑚𝑎𝑔</m:t>
                            </m:r>
                          </m:sub>
                        </m:sSub>
                      </m:den>
                    </m:f>
                  </m:oMath>
                </a14:m>
                <a:r>
                  <a:rPr lang="es-MX" sz="1200" b="0" i="1" dirty="0">
                    <a:solidFill>
                      <a:schemeClr val="tx2"/>
                    </a:solidFill>
                    <a:latin typeface="Calibri"/>
                  </a:rPr>
                  <a:t> - Mapa de error puntual - </a:t>
                </a:r>
                <a:r>
                  <a:rPr lang="es-MX" sz="1200" b="0" i="1" dirty="0" err="1">
                    <a:solidFill>
                      <a:schemeClr val="tx2"/>
                    </a:solidFill>
                    <a:latin typeface="Calibri"/>
                  </a:rPr>
                  <a:t>Correlacion</a:t>
                </a:r>
                <a:r>
                  <a:rPr lang="es-MX" sz="1200" b="0" i="1" dirty="0">
                    <a:solidFill>
                      <a:schemeClr val="tx2"/>
                    </a:solidFill>
                    <a:latin typeface="Calibri"/>
                  </a:rPr>
                  <a:t> PINN vs Exacta</a:t>
                </a:r>
                <a:endParaRPr sz="1200" b="0" i="1" dirty="0">
                  <a:solidFill>
                    <a:schemeClr val="tx2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5751576"/>
                <a:ext cx="6949440" cy="3976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315200" y="1051560"/>
                <a:ext cx="4572000" cy="361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s-MX" sz="1600" b="1" i="0" dirty="0">
                    <a:solidFill>
                      <a:srgbClr val="345C8C"/>
                    </a:solidFill>
                    <a:latin typeface="Calibri"/>
                  </a:rPr>
                  <a:t>Robustez multi-</a:t>
                </a:r>
                <a:r>
                  <a:rPr lang="es-MX" sz="1600" b="1" i="0" dirty="0" err="1">
                    <a:solidFill>
                      <a:srgbClr val="345C8C"/>
                    </a:solidFill>
                    <a:latin typeface="Calibri"/>
                  </a:rPr>
                  <a:t>semilla</a:t>
                </a:r>
                <a:r>
                  <a:rPr lang="es-MX" sz="1600" b="1" i="0" dirty="0">
                    <a:solidFill>
                      <a:srgbClr val="345C8C"/>
                    </a:solidFill>
                    <a:latin typeface="Calibri"/>
                  </a:rPr>
                  <a:t> (NB02,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600" b="1" i="1" dirty="0" smtClean="0">
                            <a:solidFill>
                              <a:srgbClr val="345C8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 b="1" i="1" dirty="0" smtClean="0">
                            <a:solidFill>
                              <a:srgbClr val="345C8C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ar-AE" sz="1600" b="1" i="1" dirty="0" smtClean="0">
                            <a:solidFill>
                              <a:srgbClr val="345C8C"/>
                            </a:solidFill>
                            <a:latin typeface="Cambria Math" panose="02040503050406030204" pitchFamily="18" charset="0"/>
                          </a:rPr>
                          <m:t>𝒇𝒊𝒔</m:t>
                        </m:r>
                      </m:sub>
                    </m:sSub>
                    <m:r>
                      <a:rPr lang="ar-AE" sz="1600" b="1" i="1" dirty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ar-AE" sz="1600" b="1" i="1" dirty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1600" b="1" i="1" dirty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1600" b="1" i="1" dirty="0" smtClean="0">
                        <a:solidFill>
                          <a:srgbClr val="345C8C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s-MX" sz="1600" b="1" i="0" dirty="0">
                    <a:solidFill>
                      <a:srgbClr val="345C8C"/>
                    </a:solidFill>
                    <a:latin typeface="Calibri"/>
                  </a:rPr>
                  <a:t>)</a:t>
                </a:r>
                <a:endParaRPr sz="1600" b="1" i="0" dirty="0">
                  <a:solidFill>
                    <a:srgbClr val="345C8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051560"/>
                <a:ext cx="4572000" cy="361894"/>
              </a:xfrm>
              <a:prstGeom prst="rect">
                <a:avLst/>
              </a:prstGeom>
              <a:blipFill>
                <a:blip r:embed="rId5"/>
                <a:stretch>
                  <a:fillRect l="-667" t="-3390" b="-152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7315200" y="1463040"/>
            <a:ext cx="4572000" cy="475488"/>
          </a:xfrm>
          <a:prstGeom prst="rect">
            <a:avLst/>
          </a:prstGeom>
          <a:solidFill>
            <a:srgbClr val="345C8C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60920" y="154533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45336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Error 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545336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Epocas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1545336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Tiempo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965960"/>
            <a:ext cx="4572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204825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48256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0.171%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048256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8,737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048256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299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2468880"/>
            <a:ext cx="4572000" cy="475488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255117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551176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0.126%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551176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8,012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551176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448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971800"/>
            <a:ext cx="4572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305409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777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054096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0.168%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054096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13,560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3054096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C2C2C"/>
                </a:solidFill>
                <a:latin typeface="Calibri"/>
              </a:rPr>
              <a:t>346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474720"/>
            <a:ext cx="4572000" cy="475488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60920" y="355701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Calibri"/>
              </a:rPr>
              <a:t>Media ± 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557016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C2A"/>
                </a:solidFill>
                <a:latin typeface="Calibri"/>
              </a:rPr>
              <a:t>0.155 ± 0.020%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557016"/>
            <a:ext cx="9784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C2A"/>
                </a:solidFill>
                <a:latin typeface="Calibri"/>
              </a:rPr>
              <a:t>--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3557016"/>
            <a:ext cx="1298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1A5C2A"/>
                </a:solidFill>
                <a:latin typeface="Calibri"/>
              </a:rPr>
              <a:t>--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4251960"/>
            <a:ext cx="4572000" cy="1188720"/>
          </a:xfrm>
          <a:prstGeom prst="rect">
            <a:avLst/>
          </a:prstGeom>
          <a:solidFill>
            <a:srgbClr val="E8F4EA"/>
          </a:solidFill>
          <a:ln w="1270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52360" y="43251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C2A"/>
                </a:solidFill>
                <a:latin typeface="Calibri"/>
              </a:rPr>
              <a:t>Varianza inter-semilla: 13% relativo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663440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El metodo es estadisticamente robusto:
converge independientemente de la inicializacion.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23962F9-D2EA-FB46-F57A-D2B6A524D51C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24</a:t>
            </a: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COMPARATIVA CON EL ESTADO DEL 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 err="1">
                <a:solidFill>
                  <a:schemeClr val="tx2"/>
                </a:solidFill>
                <a:latin typeface="Calibri"/>
              </a:rPr>
              <a:t>Referencia</a:t>
            </a:r>
            <a:r>
              <a:rPr sz="1600" b="0" i="1" dirty="0">
                <a:solidFill>
                  <a:schemeClr val="tx2"/>
                </a:solidFill>
                <a:latin typeface="Calibri"/>
              </a:rPr>
              <a:t>: Schoder &amp; Kraxberger (2024) - PINNs </a:t>
            </a:r>
            <a:r>
              <a:rPr sz="1600" b="0" i="1" dirty="0" err="1">
                <a:solidFill>
                  <a:schemeClr val="tx2"/>
                </a:solidFill>
                <a:latin typeface="Calibri"/>
              </a:rPr>
              <a:t>convencionales</a:t>
            </a:r>
            <a:r>
              <a:rPr sz="1600" b="0" i="1" dirty="0">
                <a:solidFill>
                  <a:schemeClr val="tx2"/>
                </a:solidFill>
                <a:latin typeface="Calibri"/>
              </a:rPr>
              <a:t> (</a:t>
            </a:r>
            <a:r>
              <a:rPr sz="1600" b="0" i="1" dirty="0" err="1">
                <a:solidFill>
                  <a:schemeClr val="tx2"/>
                </a:solidFill>
                <a:latin typeface="Calibri"/>
              </a:rPr>
              <a:t>activacion</a:t>
            </a:r>
            <a:r>
              <a:rPr sz="1600" b="0" i="1" dirty="0">
                <a:solidFill>
                  <a:schemeClr val="tx2"/>
                </a:solidFill>
                <a:latin typeface="Calibri"/>
              </a:rPr>
              <a:t> tanh) para Helmholtz 3D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4114800" cy="475488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361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Metodo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463040"/>
            <a:ext cx="1371600" cy="475488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5361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463040"/>
            <a:ext cx="1645920" cy="475488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15361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Error L2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463040"/>
            <a:ext cx="2194560" cy="475488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536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Factor de mejora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29968"/>
            <a:ext cx="411480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1214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Calibri"/>
              </a:rPr>
              <a:t>Schoder &amp; Kraxberger (2024)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029968"/>
            <a:ext cx="137160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21214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2C2C"/>
                </a:solidFill>
                <a:latin typeface="Calibri"/>
              </a:rPr>
              <a:t>1D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029968"/>
            <a:ext cx="164592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80" y="21214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2C2C"/>
                </a:solidFill>
                <a:latin typeface="Calibri"/>
              </a:rPr>
              <a:t>2.490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029968"/>
            <a:ext cx="2194560" cy="548640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1214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2C2C"/>
                </a:solidFill>
                <a:latin typeface="Calibri"/>
              </a:rPr>
              <a:t>--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96896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268833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2C2C"/>
                </a:solidFill>
                <a:latin typeface="Calibri"/>
              </a:rPr>
              <a:t>Schoder &amp; Kraxberger (2024)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596896"/>
            <a:ext cx="1371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6280" y="268833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2C2C"/>
                </a:solidFill>
                <a:latin typeface="Calibri"/>
              </a:rPr>
              <a:t>2D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2596896"/>
            <a:ext cx="1645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97880" y="268833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2C2C"/>
                </a:solidFill>
                <a:latin typeface="Calibri"/>
              </a:rPr>
              <a:t>1.910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596896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268833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2C2C"/>
                </a:solidFill>
                <a:latin typeface="Calibri"/>
              </a:rPr>
              <a:t>--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163824"/>
            <a:ext cx="4114800" cy="548640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25526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PINN-SIREN (este trabajo)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163824"/>
            <a:ext cx="1371600" cy="548640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25526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1D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3163824"/>
            <a:ext cx="1645920" cy="548640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97880" y="325526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C2A"/>
                </a:solidFill>
                <a:latin typeface="Calibri"/>
              </a:rPr>
              <a:t>0.006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163824"/>
            <a:ext cx="2194560" cy="548640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2552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C2A"/>
                </a:solidFill>
                <a:latin typeface="Calibri"/>
              </a:rPr>
              <a:t>×415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730752"/>
            <a:ext cx="4114800" cy="548640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3822191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PINN-SIREN (este trabajo)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3730752"/>
            <a:ext cx="1371600" cy="548640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26280" y="3822191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C2C2C"/>
                </a:solidFill>
                <a:latin typeface="Calibri"/>
              </a:rPr>
              <a:t>2D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3730752"/>
            <a:ext cx="1645920" cy="548640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97880" y="3822191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C2A"/>
                </a:solidFill>
                <a:latin typeface="Calibri"/>
              </a:rPr>
              <a:t>0.171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3730752"/>
            <a:ext cx="2194560" cy="548640"/>
          </a:xfrm>
          <a:prstGeom prst="rect">
            <a:avLst/>
          </a:prstGeom>
          <a:solidFill>
            <a:srgbClr val="E8F4EA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3822191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C2A"/>
                </a:solidFill>
                <a:latin typeface="Calibri"/>
              </a:rPr>
              <a:t>×11.2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567428"/>
            <a:ext cx="5029200" cy="150876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4910327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1B4F72"/>
                </a:solidFill>
                <a:latin typeface="Calibri"/>
              </a:rPr>
              <a:t>×415 </a:t>
            </a:r>
            <a:r>
              <a:rPr sz="3600" b="1" i="0" dirty="0" err="1">
                <a:solidFill>
                  <a:srgbClr val="1B4F72"/>
                </a:solidFill>
                <a:latin typeface="Calibri"/>
              </a:rPr>
              <a:t>en</a:t>
            </a:r>
            <a:r>
              <a:rPr sz="3600" b="1" i="0" dirty="0">
                <a:solidFill>
                  <a:srgbClr val="1B4F72"/>
                </a:solidFill>
                <a:latin typeface="Calibri"/>
              </a:rPr>
              <a:t> 1D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472685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2C2C2C"/>
                </a:solidFill>
                <a:latin typeface="Calibri"/>
              </a:rPr>
              <a:t>SIREN vs PINN </a:t>
            </a:r>
            <a:r>
              <a:rPr sz="1400" b="0" i="0" dirty="0" err="1">
                <a:solidFill>
                  <a:srgbClr val="2C2C2C"/>
                </a:solidFill>
                <a:latin typeface="Calibri"/>
              </a:rPr>
              <a:t>convencional</a:t>
            </a:r>
            <a:r>
              <a:rPr sz="1400" b="0" i="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s-MX" sz="1400" b="0" i="0" dirty="0">
                <a:solidFill>
                  <a:srgbClr val="2C2C2C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2C2C2C"/>
                </a:solidFill>
                <a:latin typeface="Calibri"/>
              </a:rPr>
              <a:t> Helmholtz 1D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4567428"/>
            <a:ext cx="5029200" cy="150876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0" y="4910327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 dirty="0">
                <a:solidFill>
                  <a:srgbClr val="1B4F72"/>
                </a:solidFill>
                <a:latin typeface="Calibri"/>
              </a:rPr>
              <a:t>×11.2 </a:t>
            </a:r>
            <a:r>
              <a:rPr sz="3600" b="1" i="0" dirty="0" err="1">
                <a:solidFill>
                  <a:srgbClr val="1B4F72"/>
                </a:solidFill>
                <a:latin typeface="Calibri"/>
              </a:rPr>
              <a:t>en</a:t>
            </a:r>
            <a:r>
              <a:rPr sz="3600" b="1" i="0" dirty="0">
                <a:solidFill>
                  <a:srgbClr val="1B4F72"/>
                </a:solidFill>
                <a:latin typeface="Calibri"/>
              </a:rPr>
              <a:t> 2D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426964"/>
            <a:ext cx="4846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2C2C2C"/>
                </a:solidFill>
                <a:latin typeface="Calibri"/>
              </a:rPr>
              <a:t>SIREN 2D vs PINN </a:t>
            </a:r>
            <a:r>
              <a:rPr sz="1400" b="0" i="0" dirty="0" err="1">
                <a:solidFill>
                  <a:srgbClr val="2C2C2C"/>
                </a:solidFill>
                <a:latin typeface="Calibri"/>
              </a:rPr>
              <a:t>convencional</a:t>
            </a:r>
            <a:r>
              <a:rPr sz="1400" b="0" i="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s-MX" sz="1400" b="0" i="0" dirty="0">
                <a:solidFill>
                  <a:srgbClr val="2C2C2C"/>
                </a:solidFill>
                <a:latin typeface="Calibri"/>
              </a:rPr>
              <a:t>-</a:t>
            </a:r>
            <a:r>
              <a:rPr sz="1400" b="0" i="0" dirty="0">
                <a:solidFill>
                  <a:srgbClr val="2C2C2C"/>
                </a:solidFill>
                <a:latin typeface="Calibri"/>
              </a:rPr>
              <a:t> Helmholtz 2D/3D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621" y="630936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chemeClr val="tx2"/>
                </a:solidFill>
                <a:latin typeface="Calibri"/>
              </a:rPr>
              <a:t>Nota: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comparacion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indicativa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. Schoder &amp; Kraxberger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operan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en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3D con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dominio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fisico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y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activacion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tanh;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este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trabajo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en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1D/2D </a:t>
            </a:r>
            <a:r>
              <a:rPr sz="1200" b="0" i="1" dirty="0" err="1">
                <a:solidFill>
                  <a:schemeClr val="tx2"/>
                </a:solidFill>
                <a:latin typeface="Calibri"/>
              </a:rPr>
              <a:t>adimensional</a:t>
            </a:r>
            <a:r>
              <a:rPr sz="1200" b="0" i="1" dirty="0">
                <a:solidFill>
                  <a:schemeClr val="tx2"/>
                </a:solidFill>
                <a:latin typeface="Calibri"/>
              </a:rPr>
              <a:t> con SIREN.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11234735-FCB2-6A53-A8A4-09DCE45A6C00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25</a:t>
            </a:r>
          </a:p>
        </p:txBody>
      </p:sp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DISCUSIÓN: HALLAZGOS PRINCIPALES DEL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4846320" cy="146304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170432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NB01
Helmholtz 1D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00784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  <a:latin typeface="Calibri"/>
              </a:rPr>
              <a:t>L² = 0.006%
R² = 1.000000
251 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4846320" cy="146304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170432"/>
            <a:ext cx="4663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NB02
Helmholtz 2D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00784"/>
            <a:ext cx="46634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  <a:latin typeface="Calibri"/>
              </a:rPr>
              <a:t>L² = 0.171%
R² &gt; 0.9999
299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097280"/>
            <a:ext cx="3931920" cy="1463040"/>
          </a:xfrm>
          <a:prstGeom prst="rect">
            <a:avLst/>
          </a:prstGeom>
          <a:solidFill>
            <a:srgbClr val="99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1170432"/>
            <a:ext cx="374903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NB03
Speckle optico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700784"/>
            <a:ext cx="3749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PENDIENTE
Proximo experimento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43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45C8C"/>
                </a:solidFill>
                <a:latin typeface="Calibri"/>
              </a:rPr>
              <a:t>Hallazgos clave: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154680"/>
            <a:ext cx="11430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  Activacion sinusoidal SIREN supera ×415 a PINNs convencionales (tanh) para ecuaciones de onda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  Optimizacion hibrida Adam + L-BFGS es esencial: Adam evita minimos locales, L-BFGS refina con curvatura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  ω₀ = 1.0 y λ_fis = 0.1 son configuraciones no triviales calibradas empiricamente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  Robustez multi-semilla confirmada: varianza inter-semilla 13% relativo con seeds {42, 123, 777}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700">
                <a:solidFill>
                  <a:srgbClr val="2C2C2C"/>
                </a:solidFill>
                <a:latin typeface="Calibri"/>
              </a:rPr>
              <a:t>  La misma arquitectura SIREN 5×128 es la base para NB03 (speckle) sin modificacion de disenho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DBCFBF3-D50F-77CA-F103-06D9E2539FEF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26</a:t>
            </a:r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TRABAJO FUTURO Y 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5C8C"/>
                </a:solidFill>
                <a:latin typeface="Calibri"/>
              </a:rPr>
              <a:t>Experimentos planificados (orden de prioridad):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822960" cy="914400"/>
          </a:xfrm>
          <a:prstGeom prst="rect">
            <a:avLst/>
          </a:prstGeom>
          <a:solidFill>
            <a:srgbClr val="99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4533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5C8C"/>
                </a:solidFill>
                <a:latin typeface="Calibri"/>
              </a:rPr>
              <a:t>Simulacion de speckle optico  [PRIORIDAD]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25880" y="1892807"/>
                <a:ext cx="10332720" cy="3436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Condicion de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frontera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s-MX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en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y=0,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l-GR" sz="1500" b="0" i="1" dirty="0" err="1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l-GR" sz="1500" b="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sz="1500" b="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el-GR" sz="1500" b="0" i="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pts. Validar con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criterio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de Goodman: </a:t>
                </a:r>
                <a14:m>
                  <m:oMath xmlns:m="http://schemas.openxmlformats.org/officeDocument/2006/math"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| &lt; </m:t>
                    </m:r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sz="1500" b="0" i="0" dirty="0">
                  <a:solidFill>
                    <a:srgbClr val="2C2C2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80" y="1892807"/>
                <a:ext cx="10332720" cy="343620"/>
              </a:xfrm>
              <a:prstGeom prst="rect">
                <a:avLst/>
              </a:prstGeom>
              <a:blipFill>
                <a:blip r:embed="rId3"/>
                <a:stretch>
                  <a:fillRect l="-236" t="-1754" b="-1403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65760" y="2514600"/>
            <a:ext cx="822960" cy="914400"/>
          </a:xfrm>
          <a:prstGeom prst="rect">
            <a:avLst/>
          </a:prstGeom>
          <a:solidFill>
            <a:srgbClr val="7A9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NB04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5117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5C8C"/>
                </a:solidFill>
                <a:latin typeface="Calibri"/>
              </a:rPr>
              <a:t>Benchmark vs FEM (FEniCSx)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25880" y="2898648"/>
                <a:ext cx="10332720" cy="447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Comparar PINN-SIREN vs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Metodo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de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Elementos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Finitos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.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Metrica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500" b="0" i="1" dirty="0" smtClean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500" b="0" i="1" dirty="0" smtClean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1500" b="0" i="1" dirty="0" smtClean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𝐹𝐸𝑀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ar-AE" sz="1500" i="1" dirty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1500" i="1" dirty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ar-AE" sz="1500" i="1" dirty="0">
                                <a:solidFill>
                                  <a:srgbClr val="2C2C2C"/>
                                </a:solidFill>
                                <a:latin typeface="Cambria Math" panose="02040503050406030204" pitchFamily="18" charset="0"/>
                              </a:rPr>
                              <m:t>𝑃𝐼𝑁𝑁</m:t>
                            </m:r>
                          </m:sub>
                        </m:sSub>
                      </m:den>
                    </m:f>
                  </m:oMath>
                </a14:m>
                <a:r>
                  <a:rPr lang="ar-AE" sz="1500" b="0" i="0" dirty="0">
                    <a:solidFill>
                      <a:srgbClr val="2C2C2C"/>
                    </a:solidFill>
                    <a:latin typeface="Calibri"/>
                  </a:rPr>
                  <a:t>.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Cuantificar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aceleracion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.</a:t>
                </a:r>
                <a:endParaRPr sz="1500" b="0" i="0" dirty="0">
                  <a:solidFill>
                    <a:srgbClr val="2C2C2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80" y="2898648"/>
                <a:ext cx="10332720" cy="447558"/>
              </a:xfrm>
              <a:prstGeom prst="rect">
                <a:avLst/>
              </a:prstGeom>
              <a:blipFill>
                <a:blip r:embed="rId4"/>
                <a:stretch>
                  <a:fillRect l="-2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65760" y="3520440"/>
            <a:ext cx="822960" cy="914400"/>
          </a:xfrm>
          <a:prstGeom prst="rect">
            <a:avLst/>
          </a:prstGeom>
          <a:solidFill>
            <a:srgbClr val="7A9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5661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NB05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5701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5C8C"/>
                </a:solidFill>
                <a:latin typeface="Calibri"/>
              </a:rPr>
              <a:t>Medios inhomogeneos (GRIN)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0448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Extender a: ∇²E + k²(r)E = 0 con indice variable. Aplicacion: fibras opticas con gradiente de indice.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26280"/>
            <a:ext cx="822960" cy="914400"/>
          </a:xfrm>
          <a:prstGeom prst="rect">
            <a:avLst/>
          </a:prstGeom>
          <a:solidFill>
            <a:srgbClr val="7A9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45720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NB06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6285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5C8C"/>
                </a:solidFill>
                <a:latin typeface="Calibri"/>
              </a:rPr>
              <a:t>Condicion de radiacion de Sommerfeld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325880" y="4910328"/>
                <a:ext cx="10332720" cy="431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Agregar</a:t>
                </a:r>
                <a14:m>
                  <m:oMath xmlns:m="http://schemas.openxmlformats.org/officeDocument/2006/math">
                    <m:r>
                      <a:rPr lang="es-MX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ar-AE" sz="1500" b="0" i="1" dirty="0" smtClean="0">
                            <a:solidFill>
                              <a:srgbClr val="2C2C2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ar-AE" sz="1500" b="0" i="1" dirty="0" smtClean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ar-AE" sz="1500" b="0" i="1" dirty="0" err="1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𝑖𝑘𝐸</m:t>
                    </m:r>
                    <m:r>
                      <a:rPr lang="ar-AE" sz="1500" b="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ar-AE" sz="1500" b="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sz="1500" b="0" i="1" dirty="0">
                        <a:solidFill>
                          <a:srgbClr val="2C2C2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en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y=1 para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eliminar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reflexiones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espurias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y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mejorar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validacion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 </a:t>
                </a:r>
                <a:r>
                  <a:rPr lang="es-MX" sz="1500" b="0" i="0" dirty="0" err="1">
                    <a:solidFill>
                      <a:srgbClr val="2C2C2C"/>
                    </a:solidFill>
                    <a:latin typeface="Calibri"/>
                  </a:rPr>
                  <a:t>estadistica</a:t>
                </a:r>
                <a:r>
                  <a:rPr lang="es-MX" sz="1500" b="0" i="0" dirty="0">
                    <a:solidFill>
                      <a:srgbClr val="2C2C2C"/>
                    </a:solidFill>
                    <a:latin typeface="Calibri"/>
                  </a:rPr>
                  <a:t>.</a:t>
                </a:r>
                <a:endParaRPr sz="1500" b="0" i="0" dirty="0">
                  <a:solidFill>
                    <a:srgbClr val="2C2C2C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80" y="4910328"/>
                <a:ext cx="10332720" cy="431721"/>
              </a:xfrm>
              <a:prstGeom prst="rect">
                <a:avLst/>
              </a:prstGeom>
              <a:blipFill>
                <a:blip r:embed="rId5"/>
                <a:stretch>
                  <a:fillRect l="-236" b="-428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ángulo 21">
            <a:extLst>
              <a:ext uri="{FF2B5EF4-FFF2-40B4-BE49-F238E27FC236}">
                <a16:creationId xmlns:a16="http://schemas.microsoft.com/office/drawing/2014/main" id="{939B2BFC-34F9-B42F-5450-1C7494FFD543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27</a:t>
            </a:r>
          </a:p>
        </p:txBody>
      </p:sp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700" b="1" i="0" dirty="0">
                <a:solidFill>
                  <a:srgbClr val="FFFFFF"/>
                </a:solidFill>
                <a:latin typeface="Calibri"/>
              </a:rPr>
              <a:t>RESUMEN: QUE SE LOGRO EN ESTE AVANCE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749039" cy="5029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" y="1143000"/>
            <a:ext cx="3602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Precision demostrada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749039" cy="658368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Error L2 = 0.006% (1D)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23317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Error L2 = 0.171% (2D)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71800"/>
            <a:ext cx="3749039" cy="658368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3192" y="30175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Meta &lt; 5% superada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657600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" y="37033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R² = 1.000000 en 1D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097280"/>
            <a:ext cx="3749039" cy="5029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5111" y="1143000"/>
            <a:ext cx="3602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Robustez confirmada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600200"/>
            <a:ext cx="3749039" cy="658368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25111" y="16459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Multi-semilla {42, 123, 777}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2286000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5111" y="23317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Varianza 13% relativo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2971800"/>
            <a:ext cx="3749039" cy="658368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5111" y="30175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Convergencia independiente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3657600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5111" y="37033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de inicializacion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097280"/>
            <a:ext cx="3749039" cy="5029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57031" y="1143000"/>
            <a:ext cx="3602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Infraestructura solida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1600200"/>
            <a:ext cx="3749039" cy="658368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57031" y="16459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Codigo modular en src/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2286000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7031" y="23317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2 notebooks reproducibles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749039" cy="658368"/>
          </a:xfrm>
          <a:prstGeom prst="rect">
            <a:avLst/>
          </a:prstGeom>
          <a:solidFill>
            <a:srgbClr val="F0F2F5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57031" y="30175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SEED=42 garantiza reprod.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3657600"/>
            <a:ext cx="374903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7A9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57031" y="3703320"/>
            <a:ext cx="36027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2C2C"/>
                </a:solidFill>
                <a:latin typeface="Calibri"/>
              </a:rPr>
              <a:t>GPU RTX 5050, CUDA 12.6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434840"/>
            <a:ext cx="11521440" cy="640080"/>
          </a:xfrm>
          <a:prstGeom prst="rect">
            <a:avLst/>
          </a:prstGeom>
          <a:solidFill>
            <a:srgbClr val="F0F2F5"/>
          </a:solidFill>
          <a:ln w="19050">
            <a:solidFill>
              <a:srgbClr val="345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526280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 dirty="0">
                <a:solidFill>
                  <a:srgbClr val="345C8C"/>
                </a:solidFill>
                <a:latin typeface="Calibri"/>
              </a:rPr>
              <a:t>NB01 y NB02 </a:t>
            </a:r>
            <a:r>
              <a:rPr sz="1500" b="0" i="1" dirty="0" err="1">
                <a:solidFill>
                  <a:srgbClr val="345C8C"/>
                </a:solidFill>
                <a:latin typeface="Calibri"/>
              </a:rPr>
              <a:t>completos</a:t>
            </a:r>
            <a:r>
              <a:rPr sz="1500" b="0" i="1" dirty="0">
                <a:solidFill>
                  <a:srgbClr val="345C8C"/>
                </a:solidFill>
                <a:latin typeface="Calibri"/>
              </a:rPr>
              <a:t> </a:t>
            </a:r>
            <a:r>
              <a:rPr lang="es-MX" sz="1500" b="0" i="1" dirty="0">
                <a:solidFill>
                  <a:srgbClr val="345C8C"/>
                </a:solidFill>
                <a:latin typeface="Calibri"/>
              </a:rPr>
              <a:t>- </a:t>
            </a:r>
            <a:r>
              <a:rPr sz="1500" b="0" i="1" dirty="0">
                <a:solidFill>
                  <a:srgbClr val="345C8C"/>
                </a:solidFill>
                <a:latin typeface="Calibri"/>
              </a:rPr>
              <a:t> L2 </a:t>
            </a:r>
            <a:r>
              <a:rPr sz="1500" b="0" i="1" dirty="0" err="1">
                <a:solidFill>
                  <a:srgbClr val="345C8C"/>
                </a:solidFill>
                <a:latin typeface="Calibri"/>
              </a:rPr>
              <a:t>muy</a:t>
            </a:r>
            <a:r>
              <a:rPr sz="1500" b="0" i="1" dirty="0">
                <a:solidFill>
                  <a:srgbClr val="345C8C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345C8C"/>
                </a:solidFill>
                <a:latin typeface="Calibri"/>
              </a:rPr>
              <a:t>por</a:t>
            </a:r>
            <a:r>
              <a:rPr sz="1500" b="0" i="1" dirty="0">
                <a:solidFill>
                  <a:srgbClr val="345C8C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345C8C"/>
                </a:solidFill>
                <a:latin typeface="Calibri"/>
              </a:rPr>
              <a:t>debajo</a:t>
            </a:r>
            <a:r>
              <a:rPr sz="1500" b="0" i="1" dirty="0">
                <a:solidFill>
                  <a:srgbClr val="345C8C"/>
                </a:solidFill>
                <a:latin typeface="Calibri"/>
              </a:rPr>
              <a:t> del umbral del 5%  ✓   |   NB03 (speckle) y NB04 (benchmark FEM): </a:t>
            </a:r>
            <a:r>
              <a:rPr sz="1500" b="0" i="1" dirty="0" err="1">
                <a:solidFill>
                  <a:srgbClr val="345C8C"/>
                </a:solidFill>
                <a:latin typeface="Calibri"/>
              </a:rPr>
              <a:t>proximos</a:t>
            </a:r>
            <a:r>
              <a:rPr sz="1500" b="0" i="1" dirty="0">
                <a:solidFill>
                  <a:srgbClr val="345C8C"/>
                </a:solidFill>
                <a:latin typeface="Calibri"/>
              </a:rPr>
              <a:t> pasos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039F996-01BD-148C-F167-B3D597FE3629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28</a:t>
            </a:r>
          </a:p>
        </p:txBody>
      </p:sp>
    </p:spTree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BBA05CE-F3FF-1D3F-2199-57C539A5BADE}"/>
              </a:ext>
            </a:extLst>
          </p:cNvPr>
          <p:cNvSpPr/>
          <p:nvPr/>
        </p:nvSpPr>
        <p:spPr>
          <a:xfrm>
            <a:off x="305" y="0"/>
            <a:ext cx="12191695" cy="960120"/>
          </a:xfrm>
          <a:prstGeom prst="rect">
            <a:avLst/>
          </a:prstGeom>
          <a:solidFill>
            <a:srgbClr val="34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2800" b="1" dirty="0"/>
              <a:t>Referencias.</a:t>
            </a:r>
            <a:endParaRPr sz="2800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3E6D978-EF90-B6F5-3124-AB6E47641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59" y="1142384"/>
            <a:ext cx="10800081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Raissi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M.,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Perdikaris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P., &amp;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Karniadakis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G. E. (2019).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Physics-informed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neural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solving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forward and inverse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involving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nonlinear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partial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differential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equations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378, 686 - 707.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Sitzmann, V., Martel, J. N. P., Bergman, A. W., Lindell, D. B., &amp; Wetzstein, G. (2020).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Implicit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neural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representations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periodic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activation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Advances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Neural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Processing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33, 7462- 7473.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Goodman, J. W. (2007).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Speckle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Phenomena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Optics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Theory and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Roberts &amp; Company.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Schoder, S., &amp; Kraxberger, F. (2024).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Feasibility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solving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Helmholtz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equation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3D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PINNs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arXiv:2403.06623.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Karniadakis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G. E.,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Kevrekidis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I. G., Lu, L.,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Perdikaris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P., Wang, S., &amp; Yang, L. (2021).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Physics-informed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machine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Reviews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3(6), 422- 440.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Rahaman, N.,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Baratin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A., Arpit, D., Draxler, F., Lin, M.,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Hamprecht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F.,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Bengio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Y., &amp; Courville, A. (2019).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spectral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neural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ICML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97, 5301- 5310.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Wang, S., Teng, Y., &amp;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Perdikaris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P. (2021).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mitigating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pathologies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physics-informed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neural </a:t>
            </a:r>
            <a:r>
              <a:rPr kumimoji="0" lang="es-MX" altLang="es-MX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networks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SIAM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MX" altLang="es-MX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Scientific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Computing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43(5), A3055- A3081.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Cuomo, S., Di Cola, V. S., Giampaolo, F., Rozza, G., </a:t>
            </a:r>
            <a:r>
              <a:rPr lang="es-MX" dirty="0" err="1"/>
              <a:t>Raissi</a:t>
            </a:r>
            <a:r>
              <a:rPr lang="es-MX" dirty="0"/>
              <a:t>, M., &amp; </a:t>
            </a:r>
            <a:r>
              <a:rPr lang="es-MX" dirty="0" err="1"/>
              <a:t>Piccialli</a:t>
            </a:r>
            <a:r>
              <a:rPr lang="es-MX" dirty="0"/>
              <a:t>, F. (2022). </a:t>
            </a:r>
            <a:r>
              <a:rPr lang="es-MX" dirty="0" err="1"/>
              <a:t>Scientific</a:t>
            </a:r>
            <a:r>
              <a:rPr lang="es-MX" dirty="0"/>
              <a:t> machine </a:t>
            </a:r>
            <a:r>
              <a:rPr lang="es-MX" dirty="0" err="1"/>
              <a:t>learning</a:t>
            </a:r>
            <a:r>
              <a:rPr lang="es-MX" dirty="0"/>
              <a:t> </a:t>
            </a:r>
            <a:r>
              <a:rPr lang="es-MX" dirty="0" err="1"/>
              <a:t>through</a:t>
            </a:r>
            <a:r>
              <a:rPr lang="es-MX" dirty="0"/>
              <a:t> </a:t>
            </a:r>
            <a:r>
              <a:rPr lang="es-MX" dirty="0" err="1"/>
              <a:t>physics-informed</a:t>
            </a:r>
            <a:r>
              <a:rPr lang="es-MX" dirty="0"/>
              <a:t> neural </a:t>
            </a:r>
            <a:r>
              <a:rPr lang="es-MX" dirty="0" err="1"/>
              <a:t>networks</a:t>
            </a:r>
            <a:r>
              <a:rPr lang="es-MX" dirty="0"/>
              <a:t>: A </a:t>
            </a:r>
            <a:r>
              <a:rPr lang="es-MX" dirty="0" err="1"/>
              <a:t>review</a:t>
            </a:r>
            <a:r>
              <a:rPr lang="es-MX" dirty="0"/>
              <a:t>. </a:t>
            </a:r>
            <a:r>
              <a:rPr lang="es-MX" i="1" dirty="0" err="1"/>
              <a:t>Journal</a:t>
            </a:r>
            <a:r>
              <a:rPr lang="es-MX" i="1" dirty="0"/>
              <a:t> </a:t>
            </a:r>
            <a:r>
              <a:rPr lang="es-MX" i="1" dirty="0" err="1"/>
              <a:t>of</a:t>
            </a:r>
            <a:r>
              <a:rPr lang="es-MX" i="1" dirty="0"/>
              <a:t> </a:t>
            </a:r>
            <a:r>
              <a:rPr lang="es-MX" i="1" dirty="0" err="1"/>
              <a:t>Computational</a:t>
            </a:r>
            <a:r>
              <a:rPr lang="es-MX" i="1" dirty="0"/>
              <a:t> </a:t>
            </a:r>
            <a:r>
              <a:rPr lang="es-MX" i="1" dirty="0" err="1"/>
              <a:t>Science</a:t>
            </a:r>
            <a:r>
              <a:rPr lang="es-MX" dirty="0"/>
              <a:t>, 62, 101709.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F47EAE-26C7-580B-9016-8DD0B24C7AFA}"/>
              </a:ext>
            </a:extLst>
          </p:cNvPr>
          <p:cNvSpPr txBox="1"/>
          <p:nvPr/>
        </p:nvSpPr>
        <p:spPr>
          <a:xfrm>
            <a:off x="182879" y="5664298"/>
            <a:ext cx="6106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/>
              <a:t>Nota: Referencias más relevantes en la literatura.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1292DF6-BDE8-B4FF-A9F2-4549E2762A3C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9481225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FFFFFF"/>
                </a:solidFill>
                <a:latin typeface="Calibri"/>
              </a:rPr>
              <a:t>Gracias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por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su</a:t>
            </a:r>
            <a:r>
              <a:rPr sz="4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i="0" dirty="0" err="1">
                <a:solidFill>
                  <a:srgbClr val="FFFFFF"/>
                </a:solidFill>
                <a:latin typeface="Calibri"/>
              </a:rPr>
              <a:t>atencion</a:t>
            </a:r>
            <a:endParaRPr sz="4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45920" y="1828800"/>
            <a:ext cx="8869680" cy="27432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Calibri"/>
              </a:rPr>
              <a:t>Roberto Hern</a:t>
            </a:r>
            <a:r>
              <a:rPr lang="es-MX" sz="2200" b="1" i="0" dirty="0">
                <a:solidFill>
                  <a:srgbClr val="FFFFFF"/>
                </a:solidFill>
                <a:latin typeface="Calibri"/>
              </a:rPr>
              <a:t>á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ndez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Estrada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CCDDEE"/>
                </a:solidFill>
                <a:latin typeface="Calibri"/>
              </a:rPr>
              <a:t>robertohernandezestrd@gmail.com   |   Matricula: 252H21004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834640"/>
            <a:ext cx="8869680" cy="27432"/>
          </a:xfrm>
          <a:prstGeom prst="rect">
            <a:avLst/>
          </a:prstGeom>
          <a:solidFill>
            <a:srgbClr val="80A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999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CDDEE"/>
                </a:solidFill>
                <a:latin typeface="Calibri"/>
              </a:rPr>
              <a:t>Agradecimientos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Dr. Jose Adan Hernandez Nolasco  -  Director de tesis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4340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DACYTI-UJAT  -  Programa de Maestria en Ciencias de la Computacion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CCEE"/>
                </a:solidFill>
                <a:latin typeface="Calibri"/>
              </a:rPr>
              <a:t>Python 3.11  |  PyTorch 2.4  |  CUDA 12.6  |  GPU NVIDIA RTX 5050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5577840"/>
            <a:ext cx="8869680" cy="27432"/>
          </a:xfrm>
          <a:prstGeom prst="rect">
            <a:avLst/>
          </a:prstGeom>
          <a:solidFill>
            <a:srgbClr val="80A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11247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600" b="1" i="0" dirty="0">
                <a:solidFill>
                  <a:srgbClr val="FFFFFF"/>
                </a:solidFill>
                <a:latin typeface="Calibri"/>
              </a:rPr>
              <a:t>¿P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reguntas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954A60E-A719-2BDC-0B23-0B4AD50B956E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30</a:t>
            </a:r>
          </a:p>
        </p:txBody>
      </p:sp>
    </p:spTree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solidFill>
                  <a:srgbClr val="444444"/>
                </a:solidFill>
              </a:rPr>
              <a:t>DIAPOSITIVAS DE 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dirty="0">
                <a:solidFill>
                  <a:srgbClr val="555555"/>
                </a:solidFill>
              </a:rPr>
              <a:t>Ablación λ  ·  Inicialización SIREN  -  para preguntas del comité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00042B4-4A17-9B00-945D-07ACD4C66C87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31</a:t>
            </a:r>
          </a:p>
        </p:txBody>
      </p:sp>
    </p:spTree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05C455FA-EF1A-068A-A8B8-FA500568E9DC}"/>
              </a:ext>
            </a:extLst>
          </p:cNvPr>
          <p:cNvSpPr/>
          <p:nvPr/>
        </p:nvSpPr>
        <p:spPr>
          <a:xfrm>
            <a:off x="365760" y="4787623"/>
            <a:ext cx="6035040" cy="1691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200" b="1" dirty="0">
                <a:solidFill>
                  <a:srgbClr val="1A527A"/>
                </a:solidFill>
              </a:rPr>
              <a:t>BACKUP: Ablación del Parámetro λ (Peso de Física)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4320" y="822960"/>
                <a:ext cx="11612880" cy="3083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1300" b="1" dirty="0">
                    <a:solidFill>
                      <a:schemeClr val="tx1"/>
                    </a:solidFill>
                  </a:rPr>
                  <a:t>¿Por qué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13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3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s-MX" sz="13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𝒇𝒊𝒔</m:t>
                        </m:r>
                      </m:sub>
                    </m:sSub>
                    <m:r>
                      <a:rPr lang="es-MX" sz="13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1300" b="1" dirty="0">
                    <a:solidFill>
                      <a:schemeClr val="tx1"/>
                    </a:solidFill>
                  </a:rPr>
                  <a:t>= 0.1 y no otro valor?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" y="822960"/>
                <a:ext cx="11612880" cy="308354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472440" y="4816986"/>
            <a:ext cx="1124712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300" b="1" dirty="0">
                <a:solidFill>
                  <a:srgbClr val="C0394B"/>
                </a:solidFill>
              </a:rPr>
              <a:t>Razón del límite superior - λ = 1.0:</a:t>
            </a:r>
          </a:p>
          <a:p>
            <a:r>
              <a:rPr lang="es-MX" sz="1200" dirty="0">
                <a:solidFill>
                  <a:srgbClr val="222222"/>
                </a:solidFill>
              </a:rPr>
              <a:t>En 2D la pérdida PINN tiene DOS residuos (parte real + parte imaginaria) que duplican</a:t>
            </a:r>
          </a:p>
          <a:p>
            <a:r>
              <a:rPr lang="es-MX" sz="1200" dirty="0">
                <a:solidFill>
                  <a:srgbClr val="222222"/>
                </a:solidFill>
              </a:rPr>
              <a:t>el peso efectivo de la física. Con λ=1.0 los gradientes desbordan float32 → NaN → crash.</a:t>
            </a:r>
          </a:p>
          <a:p>
            <a:endParaRPr lang="es-MX" sz="700" dirty="0"/>
          </a:p>
          <a:p>
            <a:r>
              <a:rPr lang="es-MX" sz="1300" b="1" dirty="0">
                <a:solidFill>
                  <a:srgbClr val="B8470F"/>
                </a:solidFill>
              </a:rPr>
              <a:t>Razón del límite inferior - λ = 0.01:</a:t>
            </a:r>
          </a:p>
          <a:p>
            <a:r>
              <a:rPr lang="es-MX" sz="1200" dirty="0">
                <a:solidFill>
                  <a:srgbClr val="222222"/>
                </a:solidFill>
              </a:rPr>
              <a:t>La física queda sub-ponderada: la red ajusta bien las BCs pero no maximiza la</a:t>
            </a:r>
          </a:p>
          <a:p>
            <a:r>
              <a:rPr lang="es-MX" sz="1200" dirty="0">
                <a:solidFill>
                  <a:srgbClr val="222222"/>
                </a:solidFill>
              </a:rPr>
              <a:t>satisfacción de Helmholtz. λ = 0.1 logra el balance óptimo.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Tabla 23">
                <a:extLst>
                  <a:ext uri="{FF2B5EF4-FFF2-40B4-BE49-F238E27FC236}">
                    <a16:creationId xmlns:a16="http://schemas.microsoft.com/office/drawing/2014/main" id="{703225BE-1B28-774A-9C57-615BCE82ED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798701"/>
                  </p:ext>
                </p:extLst>
              </p:nvPr>
            </p:nvGraphicFramePr>
            <p:xfrm>
              <a:off x="2428240" y="1247002"/>
              <a:ext cx="8128000" cy="3409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6882240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929621083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071263669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230059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MX" sz="1800" b="1" i="1" dirty="0" smtClean="0">
                                        <a:solidFill>
                                          <a:srgbClr val="1A527A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MX" sz="1800" b="1" i="1" dirty="0" smtClean="0">
                                        <a:solidFill>
                                          <a:srgbClr val="1A527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s-MX" sz="1800" b="1" i="1" dirty="0" smtClean="0">
                                        <a:solidFill>
                                          <a:srgbClr val="1A527A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𝒇𝒊𝒔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527A"/>
                              </a:solidFill>
                            </a:rPr>
                            <a:t>Error L² (%)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527A"/>
                              </a:solidFill>
                            </a:rPr>
                            <a:t>Estado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800" b="1" dirty="0">
                              <a:solidFill>
                                <a:srgbClr val="1A527A"/>
                              </a:solidFill>
                            </a:rPr>
                            <a:t>Observación</a:t>
                          </a:r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0144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solidFill>
                                <a:srgbClr val="222222"/>
                              </a:solidFill>
                            </a:rPr>
                            <a:t>λ = 0.01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solidFill>
                                <a:srgbClr val="222222"/>
                              </a:solidFill>
                            </a:rPr>
                            <a:t>0.163 %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solidFill>
                                <a:srgbClr val="222222"/>
                              </a:solidFill>
                            </a:rPr>
                            <a:t>Funciona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 err="1">
                              <a:solidFill>
                                <a:srgbClr val="222222"/>
                              </a:solidFill>
                            </a:rPr>
                            <a:t>Sub-pondera</a:t>
                          </a:r>
                          <a:r>
                            <a:rPr lang="es-MX" sz="1800" dirty="0">
                              <a:solidFill>
                                <a:srgbClr val="222222"/>
                              </a:solidFill>
                            </a:rPr>
                            <a:t> la física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53091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6B3A"/>
                              </a:solidFill>
                            </a:rPr>
                            <a:t>λ = 0.1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6B3A"/>
                              </a:solidFill>
                            </a:rPr>
                            <a:t>0.171 %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6B3A"/>
                              </a:solidFill>
                            </a:rPr>
                            <a:t> Óptimo 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6B3A"/>
                              </a:solidFill>
                            </a:rPr>
                            <a:t>Balance física / frontera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2438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solidFill>
                                <a:srgbClr val="C0394B"/>
                              </a:solidFill>
                            </a:rPr>
                            <a:t>λ = 1.0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solidFill>
                                <a:srgbClr val="C0394B"/>
                              </a:solidFill>
                            </a:rPr>
                            <a:t>CRASH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>
                              <a:solidFill>
                                <a:srgbClr val="C0394B"/>
                              </a:solidFill>
                            </a:rPr>
                            <a:t>Falla</a:t>
                          </a:r>
                        </a:p>
                        <a:p>
                          <a:pPr algn="ctr"/>
                          <a:endParaRPr lang="es-MX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>
                              <a:solidFill>
                                <a:srgbClr val="C0394B"/>
                              </a:solidFill>
                            </a:rPr>
                            <a:t>Overflow float32 en CUDA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07033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Tabla 23">
                <a:extLst>
                  <a:ext uri="{FF2B5EF4-FFF2-40B4-BE49-F238E27FC236}">
                    <a16:creationId xmlns:a16="http://schemas.microsoft.com/office/drawing/2014/main" id="{703225BE-1B28-774A-9C57-615BCE82ED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798701"/>
                  </p:ext>
                </p:extLst>
              </p:nvPr>
            </p:nvGraphicFramePr>
            <p:xfrm>
              <a:off x="2428240" y="1247002"/>
              <a:ext cx="8128000" cy="34092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6882240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929621083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071263669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323005946"/>
                        </a:ext>
                      </a:extLst>
                    </a:gridCol>
                  </a:tblGrid>
                  <a:tr h="666052"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>
                        <a:blipFill>
                          <a:blip r:embed="rId4"/>
                          <a:stretch>
                            <a:fillRect l="-299" t="-5505" r="-300599" b="-4155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527A"/>
                              </a:solidFill>
                            </a:rPr>
                            <a:t>Error L² (%)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527A"/>
                              </a:solidFill>
                            </a:rPr>
                            <a:t>Estado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MX" sz="1800" b="1" dirty="0">
                              <a:solidFill>
                                <a:srgbClr val="1A527A"/>
                              </a:solidFill>
                            </a:rPr>
                            <a:t>Observación</a:t>
                          </a:r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01444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solidFill>
                                <a:srgbClr val="222222"/>
                              </a:solidFill>
                            </a:rPr>
                            <a:t>λ = 0.01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solidFill>
                                <a:srgbClr val="222222"/>
                              </a:solidFill>
                            </a:rPr>
                            <a:t>0.163 %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solidFill>
                                <a:srgbClr val="222222"/>
                              </a:solidFill>
                            </a:rPr>
                            <a:t>Funciona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 err="1">
                              <a:solidFill>
                                <a:srgbClr val="222222"/>
                              </a:solidFill>
                            </a:rPr>
                            <a:t>Sub-pondera</a:t>
                          </a:r>
                          <a:r>
                            <a:rPr lang="es-MX" sz="1800" dirty="0">
                              <a:solidFill>
                                <a:srgbClr val="222222"/>
                              </a:solidFill>
                            </a:rPr>
                            <a:t> la física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5309178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6B3A"/>
                              </a:solidFill>
                            </a:rPr>
                            <a:t>λ = 0.1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6B3A"/>
                              </a:solidFill>
                            </a:rPr>
                            <a:t>0.171 %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6B3A"/>
                              </a:solidFill>
                            </a:rPr>
                            <a:t> Óptimo 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b="1" dirty="0">
                              <a:solidFill>
                                <a:srgbClr val="1A6B3A"/>
                              </a:solidFill>
                            </a:rPr>
                            <a:t>Balance física / frontera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524382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solidFill>
                                <a:srgbClr val="C0394B"/>
                              </a:solidFill>
                            </a:rPr>
                            <a:t>λ = 1.0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 dirty="0">
                              <a:solidFill>
                                <a:srgbClr val="C0394B"/>
                              </a:solidFill>
                            </a:rPr>
                            <a:t>CRASH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>
                              <a:solidFill>
                                <a:srgbClr val="C0394B"/>
                              </a:solidFill>
                            </a:rPr>
                            <a:t>Falla</a:t>
                          </a:r>
                        </a:p>
                        <a:p>
                          <a:pPr algn="ctr"/>
                          <a:endParaRPr lang="es-MX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MX" sz="1800">
                              <a:solidFill>
                                <a:srgbClr val="C0394B"/>
                              </a:solidFill>
                            </a:rPr>
                            <a:t>Overflow float32 en CUDA</a:t>
                          </a:r>
                        </a:p>
                        <a:p>
                          <a:pPr algn="ctr"/>
                          <a:endParaRPr lang="es-MX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070333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00B91152-F11F-7621-6C77-4191DF43BAA3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32</a:t>
            </a:r>
          </a:p>
        </p:txBody>
      </p:sp>
    </p:spTree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A95F884-73F6-AEDA-7B77-9E13B7C88B0C}"/>
              </a:ext>
            </a:extLst>
          </p:cNvPr>
          <p:cNvSpPr/>
          <p:nvPr/>
        </p:nvSpPr>
        <p:spPr>
          <a:xfrm>
            <a:off x="6553200" y="960120"/>
            <a:ext cx="5151120" cy="52371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DFA6702-AD3C-B462-C884-06A25EFCA737}"/>
              </a:ext>
            </a:extLst>
          </p:cNvPr>
          <p:cNvSpPr/>
          <p:nvPr/>
        </p:nvSpPr>
        <p:spPr>
          <a:xfrm>
            <a:off x="645159" y="914400"/>
            <a:ext cx="5394959" cy="52828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200" b="1" dirty="0">
                <a:solidFill>
                  <a:srgbClr val="1A527A"/>
                </a:solidFill>
              </a:rPr>
              <a:t>BACKUP: Inicialización SIREN  (Sitzmann et al., NeurIPS 2020)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57200" y="960120"/>
                <a:ext cx="5394960" cy="52371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MX" sz="2000" b="1" dirty="0">
                    <a:solidFill>
                      <a:srgbClr val="1A527A"/>
                    </a:solidFill>
                  </a:rPr>
                  <a:t>Esquema de inicialización</a:t>
                </a:r>
              </a:p>
              <a:p>
                <a:pPr algn="ctr"/>
                <a:endParaRPr lang="es-MX" sz="2000" dirty="0"/>
              </a:p>
              <a:p>
                <a:pPr algn="ctr"/>
                <a:r>
                  <a:rPr lang="es-MX" sz="2000" b="1" dirty="0">
                    <a:solidFill>
                      <a:srgbClr val="222222"/>
                    </a:solidFill>
                  </a:rPr>
                  <a:t>Capa de entrada  (i = 0):</a:t>
                </a:r>
              </a:p>
              <a:p>
                <a:pPr algn="ctr"/>
                <a:r>
                  <a:rPr lang="es-MX" sz="2000" dirty="0">
                    <a:solidFill>
                      <a:srgbClr val="444444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s-MX" sz="2000" i="1" dirty="0" smtClean="0">
                        <a:solidFill>
                          <a:srgbClr val="444444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s-MX" sz="2000" i="1" dirty="0" smtClean="0">
                        <a:solidFill>
                          <a:srgbClr val="444444"/>
                        </a:solidFill>
                        <a:latin typeface="Cambria Math" panose="02040503050406030204" pitchFamily="18" charset="0"/>
                      </a:rPr>
                      <m:t>₀</m:t>
                    </m:r>
                    <m:r>
                      <a:rPr lang="es-MX" sz="2000" i="1" dirty="0" smtClean="0">
                        <a:solidFill>
                          <a:srgbClr val="444444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s-MX" sz="2000" i="1" dirty="0" smtClean="0">
                        <a:solidFill>
                          <a:srgbClr val="444444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s-MX" sz="20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0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s-MX" sz="2000" i="1" dirty="0" smtClean="0">
                                <a:solidFill>
                                  <a:srgbClr val="44444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2000" i="1" dirty="0" smtClean="0">
                                <a:solidFill>
                                  <a:srgbClr val="44444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2000" i="1" dirty="0" smtClean="0">
                                <a:solidFill>
                                  <a:srgbClr val="44444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s-MX" sz="2000" i="1" dirty="0" smtClean="0">
                            <a:solidFill>
                              <a:srgbClr val="444444"/>
                            </a:solidFill>
                            <a:latin typeface="Cambria Math" panose="02040503050406030204" pitchFamily="18" charset="0"/>
                          </a:rPr>
                          <m:t>,  +</m:t>
                        </m:r>
                        <m:f>
                          <m:fPr>
                            <m:ctrlPr>
                              <a:rPr lang="es-MX" sz="2000" i="1" dirty="0" smtClean="0">
                                <a:solidFill>
                                  <a:srgbClr val="44444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2000" i="1" dirty="0" smtClean="0">
                                <a:solidFill>
                                  <a:srgbClr val="44444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MX" sz="2000" i="1" dirty="0" smtClean="0">
                                <a:solidFill>
                                  <a:srgbClr val="44444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endParaRPr lang="es-MX" sz="2000" dirty="0">
                  <a:solidFill>
                    <a:srgbClr val="444444"/>
                  </a:solidFill>
                </a:endParaRPr>
              </a:p>
              <a:p>
                <a:pPr algn="ctr"/>
                <a:r>
                  <a:rPr lang="es-MX" sz="2000" dirty="0">
                    <a:solidFill>
                      <a:srgbClr val="888888"/>
                    </a:solidFill>
                  </a:rPr>
                  <a:t>  n = fan-in de la capa</a:t>
                </a:r>
              </a:p>
              <a:p>
                <a:pPr algn="ctr"/>
                <a:endParaRPr lang="es-MX" sz="2000" dirty="0"/>
              </a:p>
              <a:p>
                <a:pPr algn="ctr"/>
                <a:r>
                  <a:rPr lang="es-MX" sz="2000" b="1" dirty="0">
                    <a:solidFill>
                      <a:srgbClr val="222222"/>
                    </a:solidFill>
                  </a:rPr>
                  <a:t>Capas ocultas  (i ≥ 1):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i="1" dirty="0" smtClean="0">
                          <a:solidFill>
                            <a:srgbClr val="444444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s-MX" sz="2000" i="1" dirty="0" smtClean="0">
                          <a:solidFill>
                            <a:srgbClr val="444444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s-MX" sz="2000" i="1" dirty="0" smtClean="0">
                          <a:solidFill>
                            <a:srgbClr val="444444"/>
                          </a:solidFill>
                          <a:latin typeface="Cambria Math" panose="02040503050406030204" pitchFamily="18" charset="0"/>
                        </a:rPr>
                        <m:t>ᵢ ~ </m:t>
                      </m:r>
                      <m:r>
                        <a:rPr lang="es-MX" sz="2000" i="1" dirty="0" smtClean="0">
                          <a:solidFill>
                            <a:srgbClr val="444444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s-MX" sz="2000" i="1" dirty="0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2000" i="1" dirty="0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MX" sz="2000" i="1" dirty="0" smtClean="0">
                                  <a:solidFill>
                                    <a:srgbClr val="4444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s-MX" sz="2000" i="1" dirty="0" smtClean="0">
                                      <a:solidFill>
                                        <a:srgbClr val="4444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MX" sz="2000" i="1" dirty="0" smtClean="0">
                                          <a:solidFill>
                                            <a:srgbClr val="44444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sz="2000" i="1" dirty="0" smtClean="0">
                                          <a:solidFill>
                                            <a:srgbClr val="44444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es-MX" sz="2000" i="1" dirty="0" smtClean="0">
                                          <a:solidFill>
                                            <a:srgbClr val="44444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num>
                            <m:den>
                              <m:sSup>
                                <m:sSupPr>
                                  <m:ctrlPr>
                                    <a:rPr lang="es-MX" sz="2000" i="1" dirty="0" smtClean="0">
                                      <a:solidFill>
                                        <a:srgbClr val="4444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2000" i="1" dirty="0" smtClean="0">
                                      <a:solidFill>
                                        <a:srgbClr val="444444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s-MX" sz="2000" i="1" dirty="0" smtClean="0">
                                      <a:solidFill>
                                        <a:srgbClr val="444444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den>
                          </m:f>
                          <m:r>
                            <a:rPr lang="es-MX" sz="2000" i="1" dirty="0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</a:rPr>
                            <m:t>,  +</m:t>
                          </m:r>
                          <m:f>
                            <m:fPr>
                              <m:ctrlPr>
                                <a:rPr lang="es-MX" sz="2000" i="1" dirty="0" smtClean="0">
                                  <a:solidFill>
                                    <a:srgbClr val="44444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s-MX" sz="2000" i="1" dirty="0" smtClean="0">
                                      <a:solidFill>
                                        <a:srgbClr val="4444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s-MX" sz="2000" i="1" dirty="0" smtClean="0">
                                          <a:solidFill>
                                            <a:srgbClr val="44444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s-MX" sz="2000" i="1" dirty="0" smtClean="0">
                                          <a:solidFill>
                                            <a:srgbClr val="44444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num>
                                    <m:den>
                                      <m:r>
                                        <a:rPr lang="es-MX" sz="2000" i="1" dirty="0" smtClean="0">
                                          <a:solidFill>
                                            <a:srgbClr val="444444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rad>
                            </m:num>
                            <m:den>
                              <m:sSup>
                                <m:sSupPr>
                                  <m:ctrlPr>
                                    <a:rPr lang="es-MX" sz="2000" i="1" dirty="0" smtClean="0">
                                      <a:solidFill>
                                        <a:srgbClr val="444444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MX" sz="2000" i="1" dirty="0" smtClean="0">
                                      <a:solidFill>
                                        <a:srgbClr val="444444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es-MX" sz="2000" i="1" dirty="0" smtClean="0">
                                      <a:solidFill>
                                        <a:srgbClr val="444444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222222"/>
                  </a:solidFill>
                </a:endParaRPr>
              </a:p>
              <a:p>
                <a:pPr algn="ctr"/>
                <a:r>
                  <a:rPr lang="es-MX" sz="2000" dirty="0">
                    <a:solidFill>
                      <a:srgbClr val="888888"/>
                    </a:solidFill>
                  </a:rPr>
                  <a:t>  Garantiza estabilidad de las activaciones</a:t>
                </a:r>
              </a:p>
              <a:p>
                <a:pPr algn="ctr"/>
                <a:r>
                  <a:rPr lang="es-MX" sz="2000" dirty="0">
                    <a:solidFill>
                      <a:srgbClr val="888888"/>
                    </a:solidFill>
                  </a:rPr>
                  <a:t>  sin(ω₀·Wᵢx) a través de todas las capas</a:t>
                </a:r>
              </a:p>
              <a:p>
                <a:pPr algn="ctr"/>
                <a:endParaRPr lang="es-MX" sz="2000" dirty="0"/>
              </a:p>
              <a:p>
                <a:pPr algn="ctr"/>
                <a:r>
                  <a:rPr lang="es-MX" sz="2000" b="1" dirty="0">
                    <a:solidFill>
                      <a:srgbClr val="222222"/>
                    </a:solidFill>
                  </a:rPr>
                  <a:t>Activación:  φ(z) = sin(ω₀ · z)</a:t>
                </a:r>
              </a:p>
              <a:p>
                <a:pPr algn="ctr"/>
                <a:r>
                  <a:rPr lang="es-MX" sz="2000" dirty="0">
                    <a:solidFill>
                      <a:srgbClr val="888888"/>
                    </a:solidFill>
                  </a:rPr>
                  <a:t>Derivadas de cualquier orden = sinusoides → estable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960120"/>
                <a:ext cx="5394960" cy="5237139"/>
              </a:xfrm>
              <a:prstGeom prst="rect">
                <a:avLst/>
              </a:prstGeom>
              <a:blipFill>
                <a:blip r:embed="rId3"/>
                <a:stretch>
                  <a:fillRect t="-698" b="-104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217920" y="960120"/>
            <a:ext cx="53949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1A6B3A"/>
                </a:solidFill>
              </a:rPr>
              <a:t>Calibración ω₀ en este trabajo</a:t>
            </a:r>
          </a:p>
          <a:p>
            <a:pPr algn="ctr"/>
            <a:endParaRPr lang="es-MX" sz="2000" dirty="0"/>
          </a:p>
          <a:p>
            <a:pPr algn="ctr"/>
            <a:r>
              <a:rPr lang="es-MX" sz="2000" b="1" dirty="0">
                <a:solidFill>
                  <a:srgbClr val="C0394B"/>
                </a:solidFill>
              </a:rPr>
              <a:t>ω₀ = 30  (paper original — imágenes)</a:t>
            </a:r>
          </a:p>
          <a:p>
            <a:pPr algn="ctr"/>
            <a:r>
              <a:rPr lang="es-MX" sz="2000" dirty="0">
                <a:solidFill>
                  <a:srgbClr val="222222"/>
                </a:solidFill>
              </a:rPr>
              <a:t>  Diseñado para señales visuales (alta frec.)</a:t>
            </a:r>
          </a:p>
          <a:p>
            <a:pPr algn="ctr"/>
            <a:r>
              <a:rPr lang="es-MX" sz="2000" dirty="0">
                <a:solidFill>
                  <a:srgbClr val="888888"/>
                </a:solidFill>
              </a:rPr>
              <a:t>  Explota gradientes para k = 2π (ondas EM)</a:t>
            </a:r>
          </a:p>
          <a:p>
            <a:pPr algn="ctr"/>
            <a:endParaRPr lang="es-MX" sz="2000" dirty="0"/>
          </a:p>
          <a:p>
            <a:pPr algn="ctr"/>
            <a:r>
              <a:rPr lang="es-MX" sz="2000" b="1" dirty="0">
                <a:solidFill>
                  <a:srgbClr val="1A6B3A"/>
                </a:solidFill>
              </a:rPr>
              <a:t>ω₀ = 1.0  (este trabajo)  ✅</a:t>
            </a:r>
          </a:p>
          <a:p>
            <a:pPr algn="ctr"/>
            <a:r>
              <a:rPr lang="es-MX" sz="2000" dirty="0">
                <a:solidFill>
                  <a:srgbClr val="222222"/>
                </a:solidFill>
              </a:rPr>
              <a:t>  Dominio adimensional [0,1]², k = 2π</a:t>
            </a:r>
          </a:p>
          <a:p>
            <a:pPr algn="ctr"/>
            <a:r>
              <a:rPr lang="es-MX" sz="2000" dirty="0">
                <a:solidFill>
                  <a:srgbClr val="222222"/>
                </a:solidFill>
              </a:rPr>
              <a:t>  Regla:  ω₀ ≈ k / (2π)  para dominio unitario</a:t>
            </a:r>
          </a:p>
          <a:p>
            <a:pPr algn="ctr"/>
            <a:r>
              <a:rPr lang="es-MX" sz="2000" dirty="0">
                <a:solidFill>
                  <a:srgbClr val="222222"/>
                </a:solidFill>
              </a:rPr>
              <a:t>  Estabilidad numérica en float32 (RTX 5050)</a:t>
            </a:r>
          </a:p>
          <a:p>
            <a:pPr algn="ctr"/>
            <a:endParaRPr lang="es-MX" sz="2000" dirty="0"/>
          </a:p>
          <a:p>
            <a:pPr algn="ctr"/>
            <a:r>
              <a:rPr lang="es-MX" sz="2000" dirty="0">
                <a:solidFill>
                  <a:srgbClr val="222222"/>
                </a:solidFill>
              </a:rPr>
              <a:t>Arquitectura:  5 × 128 → 66,690 parámetros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solidFill>
                  <a:srgbClr val="888888"/>
                </a:solidFill>
              </a:rPr>
              <a:t>Sitzmann, V. et al. (2020). Implicit Neural Representations with Periodic Activation Functions. NeurIPS 2020.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FAB984-8347-C01F-81D5-ED8E62800AB0}"/>
              </a:ext>
            </a:extLst>
          </p:cNvPr>
          <p:cNvSpPr/>
          <p:nvPr/>
        </p:nvSpPr>
        <p:spPr>
          <a:xfrm>
            <a:off x="11523406" y="6361471"/>
            <a:ext cx="570271" cy="420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33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5414</Words>
  <Application>Microsoft Office PowerPoint</Application>
  <PresentationFormat>Panorámica</PresentationFormat>
  <Paragraphs>703</Paragraphs>
  <Slides>33</Slides>
  <Notes>32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 Math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Roberto Hernández Estrada</dc:creator>
  <cp:keywords/>
  <dc:description>generated using python-pptx</dc:description>
  <cp:lastModifiedBy>Roberto Hernández Estrada</cp:lastModifiedBy>
  <cp:revision>13</cp:revision>
  <dcterms:created xsi:type="dcterms:W3CDTF">2013-01-27T09:14:16Z</dcterms:created>
  <dcterms:modified xsi:type="dcterms:W3CDTF">2026-06-03T15:18:28Z</dcterms:modified>
  <cp:category/>
</cp:coreProperties>
</file>