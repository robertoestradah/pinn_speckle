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PORTADA - ~1 min</a:t>
            </a:r>
          </a:p>
          <a:p>
            <a:r>
              <a:t>Buenos dias/tardes. Mi nombre es Roberto Hernandez Estrada, alumno del programa de Maestria en Ciencias de la Computacion de la DACYTI-UJAT.</a:t>
            </a:r>
          </a:p>
          <a:p/>
          <a:p>
            <a:r>
              <a:t>Hoy presento el primer avance de mi tesis titulada: Simulacion Acelerada de Speckle Optico mediante Redes Neuronales Informadas por Fisica con Activacion Sinusoidal, bajo la direccion del Dr. Jose Adan Hernandez Nolasco y en codireccion del Dr. Oscar Alberto Chavez Bosquez.</a:t>
            </a:r>
          </a:p>
          <a:p/>
          <a:p>
            <a:r>
              <a:t>En los proximos ~20 minutos les presento la motivacion, el enfoque metodologico y los resultados computacionales obtenidos hasta este punto.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 - 0.5 min</a:t>
            </a:r>
          </a:p>
          <a:p>
            <a:r>
              <a:t>Esta es la estructura de la presentacion. Comenzamos con la motivacion y el marco teorico necesario, y la mayor parte del tiempo la dedicamos a los tres experimentos y sus resultados. Terminamos con la comparativa y los proximos pasos.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MOTIVACION - 1.5 min</a:t>
            </a:r>
          </a:p>
          <a:p>
            <a:r>
              <a:t>El speckle optico es el patron granular que emerge cuando luz coherente -como la de un laser- se dispersa sobre una superficie rugosa.</a:t>
            </a:r>
          </a:p>
          <a:p/>
          <a:p>
            <a:r>
              <a:t>Esta presente en aplicaciones criticas: metrologia, imagen biomedica, comunicaciones opticas.</a:t>
            </a:r>
          </a:p>
          <a:p/>
          <a:p>
            <a:r>
              <a:t>El problema computacional: simular el speckle con precision requiere resolver la ecuacion de Helmholtz con condiciones de frontera estocasticas. El Metodo de Elementos Finitos (FEM) es preciso pero muy costoso: la malla necesita resolucion menor a la longitud de onda del laser, generando millones de incognitas. Y cada nuevo perfil de rugosidad requiere resolver desde cero.</a:t>
            </a:r>
          </a:p>
          <a:p/>
          <a:p>
            <a:r>
              <a:t>Para estudios estadisticos que requieren miles de realizaciones, esto es intratable.</a:t>
            </a:r>
          </a:p>
          <a:p/>
          <a:p>
            <a:r>
              <a:t>Nuestra propuesta: usar una red neuronal que aprende la solucion de la EDP sin ninguna malla, evaluable en milisegundos una vez entrenada.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OBJETIVOS - 1 min</a:t>
            </a:r>
          </a:p>
          <a:p>
            <a:r>
              <a:t>El objetivo general es demostrar que una PINN-SIREN puede simular speckle optico con precision cuantitativa: error L2 menor al 5% para Helmholtz, y contraste del speckle cercano a 1 segun el criterio de Goodman.</a:t>
            </a:r>
          </a:p>
          <a:p/>
          <a:p>
            <a:r>
              <a:t>En este primer avance cubrimos tres experimentos de complejidad creciente. Les mostrare que los tres objetivos se cumplieron.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MARCO TEORICO - 1.5 min</a:t>
            </a:r>
          </a:p>
          <a:p>
            <a:r>
              <a:t>La fisica del problema esta gobernada por la ecuacion de Helmholtz escalar. Describe la propagacion de ondas electromagneticas monocromaticas en un medio homogeneo.</a:t>
            </a:r>
          </a:p>
          <a:p/>
          <a:p>
            <a:r>
              <a:t>Como las redes neuronales operan sobre numeros reales, descomponemos el campo complejo en sus partes real e imaginaria. Cada componente satisface la misma ecuacion de forma independiente.</a:t>
            </a:r>
          </a:p>
          <a:p/>
          <a:p>
            <a:r>
              <a:t>Para el speckle, la validacion estadistica sigue el criterio de Goodman (2007): la distribucion de intensidades debe ser exponencial negativa y el contraste C = sigma_I / &lt;I&gt; debe ser 1.</a:t>
            </a:r>
          </a:p>
          <a:p/>
          <a:p>
            <a:r>
              <a:t>La condicion de frontera para el speckle es una fase aleatoria en y=0, con los otros tres bordes sin restriccion Dirichlet para evitar reflexiones artificiales.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PINNS Y SIREN - 2 min</a:t>
            </a:r>
          </a:p>
          <a:p>
            <a:r>
              <a:t>Las PINNs, introducidas por Raissi, Perdikaris y Karniadakis en 2019, entrenan la red minimizando una funcion de perdida que combina el error en las condiciones de frontera con el residuo de la ecuacion diferencial en puntos interiores.</a:t>
            </a:r>
          </a:p>
          <a:p/>
          <a:p>
            <a:r>
              <a:t>El reto para Helmholtz: necesitamos derivadas de segundo orden. Las activaciones estandar como ReLU o tanh producen derivadas inestables. Ademas, exhiben spectral bias: aprenden frecuencias bajas primero, lo que es fatal para el speckle que tiene detalles finos.</a:t>
            </a:r>
          </a:p>
          <a:p/>
          <a:p>
            <a:r>
              <a:t>SIREN resuelve esto: la derivada de sin es cos, que tambien es sinusoidal. Esto garantiza que los gradientes de cualquier orden sean estables y distribuidos uniformemente.</a:t>
            </a:r>
          </a:p>
          <a:p/>
          <a:p>
            <a:r>
              <a:t>Elegimos omega_0 = 1.0 en lugar del omega_0 = 30 recomendado para imagenes, porque nuestro dominio adimensional con k = 2pi no requiere frecuencias ultra-altas, y valores mayores desestabilizan el entrenamiento con L-BFGS.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ARQUITECTURA Y METODOLOGIA - 2 min</a:t>
            </a:r>
          </a:p>
          <a:p>
            <a:r>
              <a:t>La arquitectura SIREN 5x128 tiene 5 capas ocultas de 128 neuronas, con activacion sinusoidal. La entrada son las coordenadas espaciales (x,y) y la salida son las dos componentes del campo. En total, 66,690 parametros.</a:t>
            </a:r>
          </a:p>
          <a:p/>
          <a:p>
            <a:r>
              <a:t>Para el muestreo, usamos Muestreo por Hipercubo Latino (LHS). A diferencia de una malla cartesiana, el LHS garantiza cobertura uniforme sin patrones redundantes.</a:t>
            </a:r>
          </a:p>
          <a:p/>
          <a:p>
            <a:r>
              <a:t>La estrategia bifasica de optimizacion es critica:</a:t>
            </a:r>
          </a:p>
          <a:p>
            <a:r>
              <a:t>- Adam explora el espacio de parametros globalmente, evitando minimos locales</a:t>
            </a:r>
          </a:p>
          <a:p>
            <a:r>
              <a:t>- L-BFGS aprovecha la informacion de curvatura de segundo orden para un ajuste fino de alta precision</a:t>
            </a:r>
          </a:p>
          <a:p/>
          <a:p>
            <a:r>
              <a:t>El peso de fisica lambda_fis = 0.1 fue calibrado experimentalmente. Con lambda = 1.0, los dos residuos (real e imaginario) duplican la contribucion fisica y causan explosion de gradientes en float32. Con lambda = 0.01 la fisica queda subponderada.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NB01 - 2 min</a:t>
            </a:r>
          </a:p>
          <a:p>
            <a:r>
              <a:t>El primer experimento valida la arquitectura SIREN frente a la solucion analitica exacta de la ecuacion de Helmholtz unidimensional.</a:t>
            </a:r>
          </a:p>
          <a:p/>
          <a:p>
            <a:r>
              <a:t>La grafica superior muestra PINN (linea roja) vs cos(kx) (azul). Son visualmente indistinguibles.</a:t>
            </a:r>
          </a:p>
          <a:p/>
          <a:p>
            <a:r>
              <a:t>La grafica inferior izquierda muestra el error puntual: practicamente cero en todo el dominio. Maxima desviacion: 5.77 x 10^{-5}.</a:t>
            </a:r>
          </a:p>
          <a:p/>
          <a:p>
            <a:r>
              <a:t>La grafica inferior derecha muestra las curvas de perdida: la caida abrupta alrededor de la epoca 15,000 es la transicion de Adam a L-BFGS, que refina rapidamente en solo 202 iteraciones.</a:t>
            </a:r>
          </a:p>
          <a:p/>
          <a:p>
            <a:r>
              <a:t>Resultados: error L2 = 0.006%, casi 3 ordenes de magnitud por debajo del umbral del 5%. R^2 = 1.000000. Tiempo: 251 segundos.</a:t>
            </a:r>
          </a:p>
          <a:p/>
          <a:p>
            <a:r>
              <a:t>Factor de mejora de 415 veces respecto a Schoder &amp; Kraxberger (2024) con PINNs convencionales.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NB01 METRICAS - 1 min</a:t>
            </a:r>
          </a:p>
          <a:p>
            <a:r>
              <a:t>Este slide muestra el analisis detallado del error.</a:t>
            </a:r>
          </a:p>
          <a:p/>
          <a:p>
            <a:r>
              <a:t>El histograma confirma que los errores se concentran en valores muy pequenos, del orden de 10^{-5}.</a:t>
            </a:r>
          </a:p>
          <a:p/>
          <a:p>
            <a:r>
              <a:t>El panel central muestra que el error relativo puntual tiene una media del 0.012%, practicamente cero en todo el dominio.</a:t>
            </a:r>
          </a:p>
          <a:p/>
          <a:p>
            <a:r>
              <a:t>La grafica PINN vs Exacta muestra correlacion lineal perfecta: R2 y Pearson = 1.000000 exactamente.</a:t>
            </a:r>
          </a:p>
          <a:p/>
          <a:p>
            <a:r>
              <a:t>Esto nos confirma que la arquitectura y el protocolo de entrenamiento estan correctamente implementados. Podemos proceder con confianza al caso 2D.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NB02 - 2 min</a:t>
            </a:r>
          </a:p>
          <a:p>
            <a:r>
              <a:t>El segundo experimento escala al caso bidimensional con campo complejo.</a:t>
            </a:r>
          </a:p>
          <a:p/>
          <a:p>
            <a:r>
              <a:t>Los mapas de calor muestran E_real y E_imag. La fila superior es la solucion analitica exacta -una onda plana diagonal- y la fila inferior es la prediccion PINN. La diferencia visual es indistinguible.</a:t>
            </a:r>
          </a:p>
          <a:p/>
          <a:p>
            <a:r>
              <a:t>Los errores puntuales son del orden de 10^{-3}: en la tercera cifra decimal.</a:t>
            </a:r>
          </a:p>
          <a:p/>
          <a:p>
            <a:r>
              <a:t>Resultados cuantitativos: error L2 promedio de 0.171%, por debajo del umbral del 5% por mas de un orden de magnitud. R^2 &gt; 0.9999 para ambas componentes. Tiempo: 299 segundos.</a:t>
            </a:r>
          </a:p>
          <a:p/>
          <a:p>
            <a:r>
              <a:t>La mejora respecto al estado del arte es de un factor de 11.2 para el caso 2D/3D.</a:t>
            </a:r>
          </a:p>
          <a:p/>
          <a:p>
            <a:r>
              <a:t>El aumento de capacidad de 64 a 128 neuronas fue determinante: con d=64 el error era 0.436%; con d=128 bajo a 0.171%, una mejora de 2.5x.</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NB02 ROBUSTEZ - 1.5 min</a:t>
            </a:r>
          </a:p>
          <a:p>
            <a:r>
              <a:t>Para evaluar la robustez estadistica, repetimos NB02 con tres semillas diferentes: 42, 123 y 777.</a:t>
            </a:r>
          </a:p>
          <a:p/>
          <a:p>
            <a:r>
              <a:t>Los resultados son muy consistentes: error L2 entre 0.126% y 0.171%, con media 0.155% y desviacion estandar 0.020%.</a:t>
            </a:r>
          </a:p>
          <a:p/>
          <a:p>
            <a:r>
              <a:t>La varianza inter-semilla del 13% relativo confirma que el metodo es estadisticamente robusto: independientemente de la inicializacion aleatoria, el modelo converge a soluciones de alta precision.</a:t>
            </a:r>
          </a:p>
          <a:p/>
          <a:p>
            <a:r>
              <a:t>Tambien observamos en el mapa de error que los errores mas altos se concentran en las esquinas del dominio, la region geometricamente mas dificil para condiciones de onda plana.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NB03 PATRON - 1.5 min</a:t>
            </a:r>
          </a:p>
          <a:p>
            <a:r>
              <a:t>El tercer experimento es el corazon de la tesis: generar un patron de speckle optico.</a:t>
            </a:r>
          </a:p>
          <a:p/>
          <a:p>
            <a:r>
              <a:t>La unica modificacion respecto a NB02 es la condicion de frontera en y=0: en lugar de una onda plana conocida, imponemos una fase aleatoria uniforme en [0, 2pi] muestreada en 256 puntos. Esta condicion modela una superficie rugosa iluminada por laser.</a:t>
            </a:r>
          </a:p>
          <a:p/>
          <a:p>
            <a:r>
              <a:t>Los tres bordes restantes se dejan libres para evitar reflexiones espurias.</a:t>
            </a:r>
          </a:p>
          <a:p/>
          <a:p>
            <a:r>
              <a:t>El patron resultante muestra la textura granular caracteristica del speckle completamente desarrollado: zonas brillantes y oscuras distribuidas aleatoriamente.</a:t>
            </a:r>
          </a:p>
          <a:p/>
          <a:p>
            <a:r>
              <a:t>Importante: la misma arquitectura SIREN 5x128 que resuelve Helmholtz con onda plana tambien resuelve la ecuacion con frontera rugosa aleatoria, sin ninguna modificacion de arquitectura ni funcion de perdida. Solo cambia la condicion de frontera. Esto demuestra la generalidad del metodo.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NB03 VALIDACION - 2 min</a:t>
            </a:r>
          </a:p>
          <a:p>
            <a:r>
              <a:t>La validacion estadistica del speckle sigue el criterio de Goodman (2007).</a:t>
            </a:r>
          </a:p>
          <a:p/>
          <a:p>
            <a:r>
              <a:t>El criterio mas importante es el contraste C = sigma_I / &lt;I&gt;. Obtenemos C = 1.0253, con |C-1| = 0.025, muy por debajo del umbral de 0.1. Cumple.</a:t>
            </a:r>
          </a:p>
          <a:p/>
          <a:p>
            <a:r>
              <a:t>La fraccion de pixeles con intensidad mayor a 2 veces la media es 0.135, en excelente concordancia con el valor teorico e^{-2} = 0.1353. Cumple.</a:t>
            </a:r>
          </a:p>
          <a:p/>
          <a:p>
            <a:r>
              <a:t>El test KS arroja p &lt; 0.0001, lo que formalmente rechaza la hipotesis nula. Sin embargo, esto no indica un fallo fisico: con N = 10,000 puntos, el test tiene altisima potencia estadistica. Desviaciones menores al 1% resultan significativas aunque sean fisicamente irrelevantes.</a:t>
            </a:r>
          </a:p>
          <a:p/>
          <a:p>
            <a:r>
              <a:t>La distribucion de intensidades sigue muy bien la exponencial teorica, como se ve en la grafica.</a:t>
            </a:r>
          </a:p>
          <a:p/>
          <a:p>
            <a:r>
              <a:t>En resumen: el modelo genera patrones de speckle estadisticamente validos segun el criterio principal de Goodman.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COMPARATIVA - 1.5 min</a:t>
            </a:r>
          </a:p>
          <a:p>
            <a:r>
              <a:t>La comparativa mas relevante es con Schoder y Kraxberger (2024), que resuelven Helmholtz con PINNs de activacion tanh.</a:t>
            </a:r>
          </a:p>
          <a:p/>
          <a:p>
            <a:r>
              <a:t>Para 1D: su error es 2.49%, el nuestro es 0.006%. Factor de mejora: x415.</a:t>
            </a:r>
          </a:p>
          <a:p>
            <a:r>
              <a:t>Para 2D: su error es 1.91%, el nuestro es 0.171%. Factor de mejora: x11.2.</a:t>
            </a:r>
          </a:p>
          <a:p/>
          <a:p>
            <a:r>
              <a:t>Es importante ser precisos: la comparacion es indicativa, no directa. Ellos trabajan en 3D con dominio fisico; nosotros en 1D/2D adimensional con SIREN. El factor refleja tanto la ventaja arquitectonica de SIREN como la diferencia en complejidad dimensional.</a:t>
            </a:r>
          </a:p>
          <a:p/>
          <a:p>
            <a:r>
              <a:t>El mensaje clave: SIREN con optimizacion hibrida Adam + L-BFGS supera significativamente a PINNs convencionales para ecuaciones de onda.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DISCUSION - 1.5 min</a:t>
            </a:r>
          </a:p>
          <a:p>
            <a:r>
              <a:t>Resumiendo los hallazgos principales del primer avance.</a:t>
            </a:r>
          </a:p>
          <a:p/>
          <a:p>
            <a:r>
              <a:t>Los tres experimentos cumplieron sus objetivos con margen amplio.</a:t>
            </a:r>
          </a:p>
          <a:p/>
          <a:p>
            <a:r>
              <a:t>El hallazgo mas importante es la generalidad: la misma red SIREN 5x128 resuelve Helmholtz con onda plana y con fase rugosa aleatoria sin ninguna modificacion. Solo cambia la condicion de frontera. Esto sugiere que el metodo es generalizable a cualquier condicion de frontera.</a:t>
            </a:r>
          </a:p>
          <a:p/>
          <a:p>
            <a:r>
              <a:t>La optimizacion hibrida es esencial: documentamos que L-BFGS puro diverge desde inicializacion aleatoria; Adam puro no alcanza la precision requerida; solo la combinacion converge de forma robusta.</a:t>
            </a:r>
          </a:p>
          <a:p/>
          <a:p>
            <a:r>
              <a:t>La calibracion de omega_0 y lambda_fis requirio experimentacion y esta documentada como guia para futuras implementaciones.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TRABAJO FUTURO - 1.5 min</a:t>
            </a:r>
          </a:p>
          <a:p>
            <a:r>
              <a:t>El paso inmediato mas importante es el NB04: el benchmark contra FEniCSx. Esto nos permitira cuantificar el factor de aceleracion S = T_FEM / T_PINN, que es la hipotesis central de la tesis.</a:t>
            </a:r>
          </a:p>
          <a:p/>
          <a:p>
            <a:r>
              <a:t>NB05 extiende el metodo a medios con indice de refraccion variable: fibras GRIN donde k depende de la posicion.</a:t>
            </a:r>
          </a:p>
          <a:p/>
          <a:p>
            <a:r>
              <a:t>NB06 incorpora la condicion de radiacion de Sommerfeld en el borde superior, que eliminara las reflexiones espurias que observamos en el test KS.</a:t>
            </a:r>
          </a:p>
          <a:p/>
          <a:p>
            <a:r>
              <a:t>NB07 explora transfer learning para acelerar la generacion de multiples realizaciones del speckle, que es critico para estudios estadisticos.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RESUMEN - 1 min</a:t>
            </a:r>
          </a:p>
          <a:p>
            <a:r>
              <a:t>En sintesis, este primer avance logro tres cosas:</a:t>
            </a:r>
          </a:p>
          <a:p/>
          <a:p>
            <a:r>
              <a:t>Primero: demostrar la precision del metodo, con errores muy por debajo del umbral.</a:t>
            </a:r>
          </a:p>
          <a:p/>
          <a:p>
            <a:r>
              <a:t>Segundo: validar estadisticamente el speckle generado segun el criterio de Goodman.</a:t>
            </a:r>
          </a:p>
          <a:p/>
          <a:p>
            <a:r>
              <a:t>Tercero: construir la infraestructura computacional reproducible.</a:t>
            </a:r>
          </a:p>
          <a:p/>
          <a:p>
            <a:r>
              <a:t>La pregunta central de la tesis tiene respuesta positiva en cuanto a calidad estadistica. Lo que falta es el benchmark FEM para cuantificar la aceleracion respecto al metodo clasico.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- 0.5 min</a:t>
            </a:r>
          </a:p>
          <a:p>
            <a:r>
              <a:t>Muchas gracias por su atencion. Quedo a sus ordenes para preguntas.</a:t>
            </a:r>
          </a:p>
          <a:p/>
          <a:p>
            <a:r>
              <a:t>Posibles preguntas:</a:t>
            </a:r>
          </a:p>
          <a:p>
            <a:r>
              <a:t>- Por que SIREN y no transformers? SIREN tiene derivadas analiticas exactas necesarias para nabla^2</a:t>
            </a:r>
          </a:p>
          <a:p>
            <a:r>
              <a:t>- Por que L-BFGS converge en pocas iteraciones? La buena inicializacion de Sitzmann parte de un punto favorable</a:t>
            </a:r>
          </a:p>
          <a:p>
            <a:r>
              <a:t>- Que tan escalable es a 3D? NB05 planificado, principal reto computacional</a:t>
            </a:r>
          </a:p>
          <a:p>
            <a:r>
              <a:t>- El speckle generado es util en la practica? Si, como sustituto computacional rapido para estudios estadisticos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45C8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91695" cy="1097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
            <a:ext cx="10698480" cy="411480"/>
          </a:xfrm>
          <a:prstGeom prst="rect">
            <a:avLst/>
          </a:prstGeom>
          <a:noFill/>
        </p:spPr>
        <p:txBody>
          <a:bodyPr wrap="square">
            <a:spAutoFit/>
          </a:bodyPr>
          <a:lstStyle/>
          <a:p>
            <a:pPr algn="ctr"/>
            <a:r>
              <a:rPr sz="1400" b="1" i="0">
                <a:solidFill>
                  <a:srgbClr val="FFFFFF"/>
                </a:solidFill>
                <a:latin typeface="Calibri"/>
              </a:rPr>
              <a:t>UNIVERSIDAD JUAREZ AUTONOMA DE TABASCO</a:t>
            </a:r>
          </a:p>
        </p:txBody>
      </p:sp>
      <p:sp>
        <p:nvSpPr>
          <p:cNvPr id="5" name="TextBox 4"/>
          <p:cNvSpPr txBox="1"/>
          <p:nvPr/>
        </p:nvSpPr>
        <p:spPr>
          <a:xfrm>
            <a:off x="731520" y="594360"/>
            <a:ext cx="10698480" cy="347472"/>
          </a:xfrm>
          <a:prstGeom prst="rect">
            <a:avLst/>
          </a:prstGeom>
          <a:noFill/>
        </p:spPr>
        <p:txBody>
          <a:bodyPr wrap="square">
            <a:spAutoFit/>
          </a:bodyPr>
          <a:lstStyle/>
          <a:p>
            <a:pPr algn="ctr"/>
            <a:r>
              <a:rPr sz="1200" b="0" i="0">
                <a:solidFill>
                  <a:srgbClr val="CCDDEE"/>
                </a:solidFill>
                <a:latin typeface="Calibri"/>
              </a:rPr>
              <a:t>Division Academica de Ciencias y Tecnologias de la Informacion (DACYTI)</a:t>
            </a:r>
          </a:p>
        </p:txBody>
      </p:sp>
      <p:sp>
        <p:nvSpPr>
          <p:cNvPr id="6" name="Rectangle 5"/>
          <p:cNvSpPr/>
          <p:nvPr/>
        </p:nvSpPr>
        <p:spPr>
          <a:xfrm>
            <a:off x="1371600" y="1078992"/>
            <a:ext cx="9418320" cy="22860"/>
          </a:xfrm>
          <a:prstGeom prst="rect">
            <a:avLst/>
          </a:prstGeom>
          <a:solidFill>
            <a:srgbClr val="BBCC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234440"/>
            <a:ext cx="11247120" cy="685800"/>
          </a:xfrm>
          <a:prstGeom prst="rect">
            <a:avLst/>
          </a:prstGeom>
          <a:noFill/>
        </p:spPr>
        <p:txBody>
          <a:bodyPr wrap="square">
            <a:spAutoFit/>
          </a:bodyPr>
          <a:lstStyle/>
          <a:p>
            <a:pPr algn="ctr"/>
            <a:r>
              <a:rPr sz="3400" b="1" i="0">
                <a:solidFill>
                  <a:srgbClr val="FFFFFF"/>
                </a:solidFill>
                <a:latin typeface="Calibri"/>
              </a:rPr>
              <a:t>Simulacion Acelerada de Speckle Optico</a:t>
            </a:r>
          </a:p>
        </p:txBody>
      </p:sp>
      <p:sp>
        <p:nvSpPr>
          <p:cNvPr id="8" name="TextBox 7"/>
          <p:cNvSpPr txBox="1"/>
          <p:nvPr/>
        </p:nvSpPr>
        <p:spPr>
          <a:xfrm>
            <a:off x="457200" y="1901952"/>
            <a:ext cx="11247120" cy="548640"/>
          </a:xfrm>
          <a:prstGeom prst="rect">
            <a:avLst/>
          </a:prstGeom>
          <a:noFill/>
        </p:spPr>
        <p:txBody>
          <a:bodyPr wrap="square">
            <a:spAutoFit/>
          </a:bodyPr>
          <a:lstStyle/>
          <a:p>
            <a:pPr algn="ctr"/>
            <a:r>
              <a:rPr sz="2000" b="0" i="0">
                <a:solidFill>
                  <a:srgbClr val="CCDDEE"/>
                </a:solidFill>
                <a:latin typeface="Calibri"/>
              </a:rPr>
              <a:t>mediante Redes Neuronales Informadas por Fisica con Activacion Sinusoidal</a:t>
            </a:r>
          </a:p>
        </p:txBody>
      </p:sp>
      <p:sp>
        <p:nvSpPr>
          <p:cNvPr id="9" name="Rectangle 8"/>
          <p:cNvSpPr/>
          <p:nvPr/>
        </p:nvSpPr>
        <p:spPr>
          <a:xfrm>
            <a:off x="1828800" y="2578608"/>
            <a:ext cx="8503920" cy="27432"/>
          </a:xfrm>
          <a:prstGeom prst="rect">
            <a:avLst/>
          </a:prstGeom>
          <a:solidFill>
            <a:srgbClr val="CCD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697480"/>
            <a:ext cx="11247120" cy="347472"/>
          </a:xfrm>
          <a:prstGeom prst="rect">
            <a:avLst/>
          </a:prstGeom>
          <a:noFill/>
        </p:spPr>
        <p:txBody>
          <a:bodyPr wrap="square">
            <a:spAutoFit/>
          </a:bodyPr>
          <a:lstStyle/>
          <a:p>
            <a:pPr algn="ctr"/>
            <a:r>
              <a:rPr sz="1400" b="1" i="0">
                <a:solidFill>
                  <a:srgbClr val="CCDDEE"/>
                </a:solidFill>
                <a:latin typeface="Calibri"/>
              </a:rPr>
              <a:t>PRIMER AVANCE  -  COLOQUIO DE MAESTRIA</a:t>
            </a:r>
          </a:p>
        </p:txBody>
      </p:sp>
      <p:sp>
        <p:nvSpPr>
          <p:cNvPr id="11" name="TextBox 10"/>
          <p:cNvSpPr txBox="1"/>
          <p:nvPr/>
        </p:nvSpPr>
        <p:spPr>
          <a:xfrm>
            <a:off x="457200" y="3182112"/>
            <a:ext cx="11247120" cy="438912"/>
          </a:xfrm>
          <a:prstGeom prst="rect">
            <a:avLst/>
          </a:prstGeom>
          <a:noFill/>
        </p:spPr>
        <p:txBody>
          <a:bodyPr wrap="square">
            <a:spAutoFit/>
          </a:bodyPr>
          <a:lstStyle/>
          <a:p>
            <a:pPr algn="ctr"/>
            <a:r>
              <a:rPr sz="2200" b="1" i="0">
                <a:solidFill>
                  <a:srgbClr val="FFFFFF"/>
                </a:solidFill>
                <a:latin typeface="Calibri"/>
              </a:rPr>
              <a:t>Roberto Hernandez Estrada</a:t>
            </a:r>
          </a:p>
        </p:txBody>
      </p:sp>
      <p:sp>
        <p:nvSpPr>
          <p:cNvPr id="12" name="TextBox 11"/>
          <p:cNvSpPr txBox="1"/>
          <p:nvPr/>
        </p:nvSpPr>
        <p:spPr>
          <a:xfrm>
            <a:off x="457200" y="3602736"/>
            <a:ext cx="11247120" cy="320040"/>
          </a:xfrm>
          <a:prstGeom prst="rect">
            <a:avLst/>
          </a:prstGeom>
          <a:noFill/>
        </p:spPr>
        <p:txBody>
          <a:bodyPr wrap="square">
            <a:spAutoFit/>
          </a:bodyPr>
          <a:lstStyle/>
          <a:p>
            <a:pPr algn="ctr"/>
            <a:r>
              <a:rPr sz="1300" b="0" i="0">
                <a:solidFill>
                  <a:srgbClr val="CCDDEE"/>
                </a:solidFill>
                <a:latin typeface="Calibri"/>
              </a:rPr>
              <a:t>Maestria en Ciencias de la Computacion  |  Matricula: 252H21004</a:t>
            </a:r>
          </a:p>
        </p:txBody>
      </p:sp>
      <p:sp>
        <p:nvSpPr>
          <p:cNvPr id="13" name="Rectangle 12"/>
          <p:cNvSpPr/>
          <p:nvPr/>
        </p:nvSpPr>
        <p:spPr>
          <a:xfrm>
            <a:off x="1828800" y="4023360"/>
            <a:ext cx="8503920" cy="22860"/>
          </a:xfrm>
          <a:prstGeom prst="rect">
            <a:avLst/>
          </a:prstGeom>
          <a:solidFill>
            <a:srgbClr val="80A0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133087"/>
            <a:ext cx="11247120" cy="320040"/>
          </a:xfrm>
          <a:prstGeom prst="rect">
            <a:avLst/>
          </a:prstGeom>
          <a:noFill/>
        </p:spPr>
        <p:txBody>
          <a:bodyPr wrap="square">
            <a:spAutoFit/>
          </a:bodyPr>
          <a:lstStyle/>
          <a:p>
            <a:pPr algn="ctr"/>
            <a:r>
              <a:rPr sz="1500" b="0" i="0">
                <a:solidFill>
                  <a:srgbClr val="FFFFFF"/>
                </a:solidFill>
                <a:latin typeface="Calibri"/>
              </a:rPr>
              <a:t>Director: Dr. Jose Adan Hernandez Nolasco</a:t>
            </a:r>
          </a:p>
        </p:txBody>
      </p:sp>
      <p:sp>
        <p:nvSpPr>
          <p:cNvPr id="15" name="TextBox 14"/>
          <p:cNvSpPr txBox="1"/>
          <p:nvPr/>
        </p:nvSpPr>
        <p:spPr>
          <a:xfrm>
            <a:off x="457200" y="4443984"/>
            <a:ext cx="11247120" cy="320040"/>
          </a:xfrm>
          <a:prstGeom prst="rect">
            <a:avLst/>
          </a:prstGeom>
          <a:noFill/>
        </p:spPr>
        <p:txBody>
          <a:bodyPr wrap="square">
            <a:spAutoFit/>
          </a:bodyPr>
          <a:lstStyle/>
          <a:p>
            <a:pPr algn="ctr"/>
            <a:r>
              <a:rPr sz="1500" b="0" i="0">
                <a:solidFill>
                  <a:srgbClr val="FFFFFF"/>
                </a:solidFill>
                <a:latin typeface="Calibri"/>
              </a:rPr>
              <a:t>Codirector: Dr. Oscar Alberto Chavez Bosquez</a:t>
            </a:r>
          </a:p>
        </p:txBody>
      </p:sp>
      <p:sp>
        <p:nvSpPr>
          <p:cNvPr id="16" name="TextBox 15"/>
          <p:cNvSpPr txBox="1"/>
          <p:nvPr/>
        </p:nvSpPr>
        <p:spPr>
          <a:xfrm>
            <a:off x="457200" y="6263640"/>
            <a:ext cx="11247120" cy="347472"/>
          </a:xfrm>
          <a:prstGeom prst="rect">
            <a:avLst/>
          </a:prstGeom>
          <a:noFill/>
        </p:spPr>
        <p:txBody>
          <a:bodyPr wrap="square">
            <a:spAutoFit/>
          </a:bodyPr>
          <a:lstStyle/>
          <a:p>
            <a:pPr algn="ctr"/>
            <a:r>
              <a:rPr sz="1300" b="0" i="0">
                <a:solidFill>
                  <a:srgbClr val="AACCEE"/>
                </a:solidFill>
                <a:latin typeface="Calibri"/>
              </a:rPr>
              <a:t>Cunduacan, Tabasco  -  Junio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713232"/>
          </a:xfrm>
          <a:prstGeom prst="rect">
            <a:avLst/>
          </a:prstGeom>
          <a:noFill/>
        </p:spPr>
        <p:txBody>
          <a:bodyPr wrap="square">
            <a:spAutoFit/>
          </a:bodyPr>
          <a:lstStyle/>
          <a:p>
            <a:pPr algn="l"/>
            <a:r>
              <a:rPr sz="2700" b="1" i="0">
                <a:solidFill>
                  <a:srgbClr val="FFFFFF"/>
                </a:solidFill>
                <a:latin typeface="Calibri"/>
              </a:rPr>
              <a:t>Contenido de la presentacion</a:t>
            </a:r>
          </a:p>
        </p:txBody>
      </p:sp>
      <p:sp>
        <p:nvSpPr>
          <p:cNvPr id="4" name="TextBox 3"/>
          <p:cNvSpPr txBox="1"/>
          <p:nvPr/>
        </p:nvSpPr>
        <p:spPr>
          <a:xfrm>
            <a:off x="11521440" y="6492240"/>
            <a:ext cx="548640" cy="274320"/>
          </a:xfrm>
          <a:prstGeom prst="rect">
            <a:avLst/>
          </a:prstGeom>
          <a:noFill/>
        </p:spPr>
        <p:txBody>
          <a:bodyPr wrap="square">
            <a:spAutoFit/>
          </a:bodyPr>
          <a:lstStyle/>
          <a:p>
            <a:pPr algn="r"/>
            <a:r>
              <a:rPr sz="1100" b="0" i="0">
                <a:solidFill>
                  <a:srgbClr val="AAAAAA"/>
                </a:solidFill>
                <a:latin typeface="Calibri"/>
              </a:rPr>
              <a:t>2</a:t>
            </a:r>
          </a:p>
        </p:txBody>
      </p:sp>
      <p:sp>
        <p:nvSpPr>
          <p:cNvPr id="5" name="TextBox 4"/>
          <p:cNvSpPr txBox="1"/>
          <p:nvPr/>
        </p:nvSpPr>
        <p:spPr>
          <a:xfrm>
            <a:off x="1097280" y="1097280"/>
            <a:ext cx="10058400" cy="5486400"/>
          </a:xfrm>
          <a:prstGeom prst="rect">
            <a:avLst/>
          </a:prstGeom>
          <a:noFill/>
        </p:spPr>
        <p:txBody>
          <a:bodyPr wrap="square">
            <a:spAutoFit/>
          </a:bodyPr>
          <a:lstStyle/>
          <a:p>
            <a:pPr>
              <a:spcBef>
                <a:spcPts val="900"/>
              </a:spcBef>
            </a:pPr>
            <a:r>
              <a:rPr sz="2000">
                <a:solidFill>
                  <a:srgbClr val="2C2C2C"/>
                </a:solidFill>
                <a:latin typeface="Calibri"/>
              </a:rPr>
              <a:t>1.  Motivacion y el problema computacional</a:t>
            </a:r>
          </a:p>
          <a:p>
            <a:pPr>
              <a:spcBef>
                <a:spcPts val="900"/>
              </a:spcBef>
            </a:pPr>
            <a:r>
              <a:rPr sz="2000">
                <a:solidFill>
                  <a:srgbClr val="2C2C2C"/>
                </a:solidFill>
                <a:latin typeface="Calibri"/>
              </a:rPr>
              <a:t>2.  Objetivos del avance</a:t>
            </a:r>
          </a:p>
          <a:p>
            <a:pPr>
              <a:spcBef>
                <a:spcPts val="900"/>
              </a:spcBef>
            </a:pPr>
            <a:r>
              <a:rPr sz="2000">
                <a:solidFill>
                  <a:srgbClr val="2C2C2C"/>
                </a:solidFill>
                <a:latin typeface="Calibri"/>
              </a:rPr>
              <a:t>3.  Marco teorico: Speckle optico y ecuacion de Helmholtz</a:t>
            </a:r>
          </a:p>
          <a:p>
            <a:pPr>
              <a:spcBef>
                <a:spcPts val="900"/>
              </a:spcBef>
            </a:pPr>
            <a:r>
              <a:rPr sz="2000">
                <a:solidFill>
                  <a:srgbClr val="2C2C2C"/>
                </a:solidFill>
                <a:latin typeface="Calibri"/>
              </a:rPr>
              <a:t>4.  PINNs y arquitectura SIREN</a:t>
            </a:r>
          </a:p>
          <a:p>
            <a:pPr>
              <a:spcBef>
                <a:spcPts val="900"/>
              </a:spcBef>
            </a:pPr>
            <a:r>
              <a:rPr sz="2000">
                <a:solidFill>
                  <a:srgbClr val="2C2C2C"/>
                </a:solidFill>
                <a:latin typeface="Calibri"/>
              </a:rPr>
              <a:t>5.  Metodologia: muestreo, perdida, optimizacion</a:t>
            </a:r>
          </a:p>
          <a:p>
            <a:pPr>
              <a:spcBef>
                <a:spcPts val="900"/>
              </a:spcBef>
            </a:pPr>
            <a:r>
              <a:rPr sz="2000">
                <a:solidFill>
                  <a:srgbClr val="2C2C2C"/>
                </a:solidFill>
                <a:latin typeface="Calibri"/>
              </a:rPr>
              <a:t>6.  Resultados NB01 - Validacion Helmholtz 1D</a:t>
            </a:r>
          </a:p>
          <a:p>
            <a:pPr>
              <a:spcBef>
                <a:spcPts val="900"/>
              </a:spcBef>
            </a:pPr>
            <a:r>
              <a:rPr sz="2000">
                <a:solidFill>
                  <a:srgbClr val="2C2C2C"/>
                </a:solidFill>
                <a:latin typeface="Calibri"/>
              </a:rPr>
              <a:t>7.  Resultados NB02 - Helmholtz 2D campo complejo</a:t>
            </a:r>
          </a:p>
          <a:p>
            <a:pPr>
              <a:spcBef>
                <a:spcPts val="900"/>
              </a:spcBef>
            </a:pPr>
            <a:r>
              <a:rPr sz="2000">
                <a:solidFill>
                  <a:srgbClr val="2C2C2C"/>
                </a:solidFill>
                <a:latin typeface="Calibri"/>
              </a:rPr>
              <a:t>8.  Resultados NB03 - Simulacion de speckle optico</a:t>
            </a:r>
          </a:p>
          <a:p>
            <a:pPr>
              <a:spcBef>
                <a:spcPts val="900"/>
              </a:spcBef>
            </a:pPr>
            <a:r>
              <a:rPr sz="2000">
                <a:solidFill>
                  <a:srgbClr val="2C2C2C"/>
                </a:solidFill>
                <a:latin typeface="Calibri"/>
              </a:rPr>
              <a:t>9.  Comparativa con el estado del arte</a:t>
            </a:r>
          </a:p>
          <a:p>
            <a:pPr>
              <a:spcBef>
                <a:spcPts val="900"/>
              </a:spcBef>
            </a:pPr>
            <a:r>
              <a:rPr sz="2000">
                <a:solidFill>
                  <a:srgbClr val="2C2C2C"/>
                </a:solidFill>
                <a:latin typeface="Calibri"/>
              </a:rPr>
              <a:t>10. Trabajo futuro y conclusiones preliminares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713232"/>
          </a:xfrm>
          <a:prstGeom prst="rect">
            <a:avLst/>
          </a:prstGeom>
          <a:noFill/>
        </p:spPr>
        <p:txBody>
          <a:bodyPr wrap="square">
            <a:spAutoFit/>
          </a:bodyPr>
          <a:lstStyle/>
          <a:p>
            <a:pPr algn="l"/>
            <a:r>
              <a:rPr sz="2700" b="1" i="0">
                <a:solidFill>
                  <a:srgbClr val="FFFFFF"/>
                </a:solidFill>
                <a:latin typeface="Calibri"/>
              </a:rPr>
              <a:t>Motivacion: Por que simular speckle optico?</a:t>
            </a:r>
          </a:p>
        </p:txBody>
      </p:sp>
      <p:sp>
        <p:nvSpPr>
          <p:cNvPr id="4" name="TextBox 3"/>
          <p:cNvSpPr txBox="1"/>
          <p:nvPr/>
        </p:nvSpPr>
        <p:spPr>
          <a:xfrm>
            <a:off x="11521440" y="6492240"/>
            <a:ext cx="548640" cy="274320"/>
          </a:xfrm>
          <a:prstGeom prst="rect">
            <a:avLst/>
          </a:prstGeom>
          <a:noFill/>
        </p:spPr>
        <p:txBody>
          <a:bodyPr wrap="square">
            <a:spAutoFit/>
          </a:bodyPr>
          <a:lstStyle/>
          <a:p>
            <a:pPr algn="r"/>
            <a:r>
              <a:rPr sz="1100" b="0" i="0">
                <a:solidFill>
                  <a:srgbClr val="AAAAAA"/>
                </a:solidFill>
                <a:latin typeface="Calibri"/>
              </a:rPr>
              <a:t>3</a:t>
            </a:r>
          </a:p>
        </p:txBody>
      </p:sp>
      <p:sp>
        <p:nvSpPr>
          <p:cNvPr id="5" name="TextBox 4"/>
          <p:cNvSpPr txBox="1"/>
          <p:nvPr/>
        </p:nvSpPr>
        <p:spPr>
          <a:xfrm>
            <a:off x="365760" y="1051560"/>
            <a:ext cx="5303520" cy="347472"/>
          </a:xfrm>
          <a:prstGeom prst="rect">
            <a:avLst/>
          </a:prstGeom>
          <a:noFill/>
        </p:spPr>
        <p:txBody>
          <a:bodyPr wrap="square">
            <a:spAutoFit/>
          </a:bodyPr>
          <a:lstStyle/>
          <a:p>
            <a:pPr algn="l"/>
            <a:r>
              <a:rPr sz="1800" b="1" i="0">
                <a:solidFill>
                  <a:srgbClr val="345C8C"/>
                </a:solidFill>
                <a:latin typeface="Calibri"/>
              </a:rPr>
              <a:t>El speckle optico aparece en:</a:t>
            </a:r>
          </a:p>
        </p:txBody>
      </p:sp>
      <p:sp>
        <p:nvSpPr>
          <p:cNvPr id="6" name="TextBox 5"/>
          <p:cNvSpPr txBox="1"/>
          <p:nvPr/>
        </p:nvSpPr>
        <p:spPr>
          <a:xfrm>
            <a:off x="365760" y="1463040"/>
            <a:ext cx="5303520" cy="2926080"/>
          </a:xfrm>
          <a:prstGeom prst="rect">
            <a:avLst/>
          </a:prstGeom>
          <a:noFill/>
        </p:spPr>
        <p:txBody>
          <a:bodyPr wrap="square">
            <a:spAutoFit/>
          </a:bodyPr>
          <a:lstStyle/>
          <a:p>
            <a:pPr>
              <a:spcBef>
                <a:spcPts val="600"/>
              </a:spcBef>
              <a:spcAft>
                <a:spcPts val="200"/>
              </a:spcAft>
            </a:pPr>
            <a:r>
              <a:rPr sz="1800">
                <a:solidFill>
                  <a:srgbClr val="2C2C2C"/>
                </a:solidFill>
                <a:latin typeface="Calibri"/>
              </a:rPr>
              <a:t>  Metrologia optica y deteccion de defectos superficiales</a:t>
            </a:r>
          </a:p>
          <a:p>
            <a:pPr>
              <a:spcBef>
                <a:spcPts val="600"/>
              </a:spcBef>
              <a:spcAft>
                <a:spcPts val="200"/>
              </a:spcAft>
            </a:pPr>
            <a:r>
              <a:rPr sz="1800">
                <a:solidFill>
                  <a:srgbClr val="2C2C2C"/>
                </a:solidFill>
                <a:latin typeface="Calibri"/>
              </a:rPr>
              <a:t>  Tomografia de coherencia optica (OCT)</a:t>
            </a:r>
          </a:p>
          <a:p>
            <a:pPr>
              <a:spcBef>
                <a:spcPts val="600"/>
              </a:spcBef>
              <a:spcAft>
                <a:spcPts val="200"/>
              </a:spcAft>
            </a:pPr>
            <a:r>
              <a:rPr sz="1800">
                <a:solidFill>
                  <a:srgbClr val="2C2C2C"/>
                </a:solidFill>
                <a:latin typeface="Calibri"/>
              </a:rPr>
              <a:t>  Imagenologia biomedica</a:t>
            </a:r>
          </a:p>
          <a:p>
            <a:pPr>
              <a:spcBef>
                <a:spcPts val="600"/>
              </a:spcBef>
              <a:spcAft>
                <a:spcPts val="200"/>
              </a:spcAft>
            </a:pPr>
            <a:r>
              <a:rPr sz="1800">
                <a:solidFill>
                  <a:srgbClr val="2C2C2C"/>
                </a:solidFill>
                <a:latin typeface="Calibri"/>
              </a:rPr>
              <a:t>  Criptografia optica</a:t>
            </a:r>
          </a:p>
          <a:p>
            <a:pPr>
              <a:spcBef>
                <a:spcPts val="600"/>
              </a:spcBef>
              <a:spcAft>
                <a:spcPts val="200"/>
              </a:spcAft>
            </a:pPr>
            <a:r>
              <a:rPr sz="1800">
                <a:solidFill>
                  <a:srgbClr val="2C2C2C"/>
                </a:solidFill>
                <a:latin typeface="Calibri"/>
              </a:rPr>
              <a:t>  Comunicaciones por fibra optica</a:t>
            </a:r>
          </a:p>
        </p:txBody>
      </p:sp>
      <p:sp>
        <p:nvSpPr>
          <p:cNvPr id="7" name="Rectangle 6"/>
          <p:cNvSpPr/>
          <p:nvPr/>
        </p:nvSpPr>
        <p:spPr>
          <a:xfrm>
            <a:off x="6217920" y="1005840"/>
            <a:ext cx="5577840" cy="2468880"/>
          </a:xfrm>
          <a:prstGeom prst="rect">
            <a:avLst/>
          </a:prstGeom>
          <a:solidFill>
            <a:srgbClr val="F0F2F5"/>
          </a:solidFill>
          <a:ln w="12700">
            <a:solidFill>
              <a:srgbClr val="34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097280"/>
            <a:ext cx="5212080" cy="347472"/>
          </a:xfrm>
          <a:prstGeom prst="rect">
            <a:avLst/>
          </a:prstGeom>
          <a:noFill/>
        </p:spPr>
        <p:txBody>
          <a:bodyPr wrap="square">
            <a:spAutoFit/>
          </a:bodyPr>
          <a:lstStyle/>
          <a:p>
            <a:pPr algn="l"/>
            <a:r>
              <a:rPr sz="1700" b="1" i="0">
                <a:solidFill>
                  <a:srgbClr val="345C8C"/>
                </a:solidFill>
                <a:latin typeface="Calibri"/>
              </a:rPr>
              <a:t>El reto computacional con metodos clasicos (FEM):</a:t>
            </a:r>
          </a:p>
        </p:txBody>
      </p:sp>
      <p:sp>
        <p:nvSpPr>
          <p:cNvPr id="9" name="TextBox 8"/>
          <p:cNvSpPr txBox="1"/>
          <p:nvPr/>
        </p:nvSpPr>
        <p:spPr>
          <a:xfrm>
            <a:off x="6400800" y="1508760"/>
            <a:ext cx="5212080" cy="1828800"/>
          </a:xfrm>
          <a:prstGeom prst="rect">
            <a:avLst/>
          </a:prstGeom>
          <a:noFill/>
        </p:spPr>
        <p:txBody>
          <a:bodyPr wrap="square">
            <a:spAutoFit/>
          </a:bodyPr>
          <a:lstStyle/>
          <a:p>
            <a:pPr>
              <a:spcBef>
                <a:spcPts val="600"/>
              </a:spcBef>
              <a:spcAft>
                <a:spcPts val="200"/>
              </a:spcAft>
            </a:pPr>
            <a:r>
              <a:rPr sz="1600">
                <a:solidFill>
                  <a:srgbClr val="2C2C2C"/>
                </a:solidFill>
                <a:latin typeface="Calibri"/>
              </a:rPr>
              <a:t>  Malla debe tener resolucion &lt; longitud de onda</a:t>
            </a:r>
          </a:p>
          <a:p>
            <a:pPr>
              <a:spcBef>
                <a:spcPts val="600"/>
              </a:spcBef>
              <a:spcAft>
                <a:spcPts val="200"/>
              </a:spcAft>
            </a:pPr>
            <a:r>
              <a:rPr sz="1600">
                <a:solidFill>
                  <a:srgbClr val="2C2C2C"/>
                </a:solidFill>
                <a:latin typeface="Calibri"/>
              </a:rPr>
              <a:t>  Millones de incognitas por realizacion</a:t>
            </a:r>
          </a:p>
          <a:p>
            <a:pPr>
              <a:spcBef>
                <a:spcPts val="600"/>
              </a:spcBef>
              <a:spcAft>
                <a:spcPts val="200"/>
              </a:spcAft>
            </a:pPr>
            <a:r>
              <a:rPr sz="1600">
                <a:solidFill>
                  <a:srgbClr val="2C2C2C"/>
                </a:solidFill>
                <a:latin typeface="Calibri"/>
              </a:rPr>
              <a:t>  Cada nuevo perfil de rugosidad: resolver desde cero</a:t>
            </a:r>
          </a:p>
          <a:p>
            <a:pPr>
              <a:spcBef>
                <a:spcPts val="600"/>
              </a:spcBef>
              <a:spcAft>
                <a:spcPts val="200"/>
              </a:spcAft>
            </a:pPr>
            <a:r>
              <a:rPr sz="1600">
                <a:solidFill>
                  <a:srgbClr val="2C2C2C"/>
                </a:solidFill>
                <a:latin typeface="Calibri"/>
              </a:rPr>
              <a:t>  Para estudios estadisticos (miles de realizaciones): costo intratable</a:t>
            </a:r>
          </a:p>
        </p:txBody>
      </p:sp>
      <p:sp>
        <p:nvSpPr>
          <p:cNvPr id="10" name="Rectangle 9"/>
          <p:cNvSpPr/>
          <p:nvPr/>
        </p:nvSpPr>
        <p:spPr>
          <a:xfrm>
            <a:off x="6217920" y="3611880"/>
            <a:ext cx="5577840" cy="182880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3703320"/>
            <a:ext cx="5212080" cy="347472"/>
          </a:xfrm>
          <a:prstGeom prst="rect">
            <a:avLst/>
          </a:prstGeom>
          <a:noFill/>
        </p:spPr>
        <p:txBody>
          <a:bodyPr wrap="square">
            <a:spAutoFit/>
          </a:bodyPr>
          <a:lstStyle/>
          <a:p>
            <a:pPr algn="l"/>
            <a:r>
              <a:rPr sz="1700" b="1" i="0">
                <a:solidFill>
                  <a:srgbClr val="FFFFFF"/>
                </a:solidFill>
                <a:latin typeface="Calibri"/>
              </a:rPr>
              <a:t>Propuesta: PINN libre de malla</a:t>
            </a:r>
          </a:p>
        </p:txBody>
      </p:sp>
      <p:sp>
        <p:nvSpPr>
          <p:cNvPr id="12" name="TextBox 11"/>
          <p:cNvSpPr txBox="1"/>
          <p:nvPr/>
        </p:nvSpPr>
        <p:spPr>
          <a:xfrm>
            <a:off x="6400800" y="4069080"/>
            <a:ext cx="5212080" cy="1234440"/>
          </a:xfrm>
          <a:prstGeom prst="rect">
            <a:avLst/>
          </a:prstGeom>
          <a:noFill/>
        </p:spPr>
        <p:txBody>
          <a:bodyPr wrap="square">
            <a:spAutoFit/>
          </a:bodyPr>
          <a:lstStyle/>
          <a:p>
            <a:pPr algn="l"/>
            <a:r>
              <a:rPr sz="1600" b="0" i="0">
                <a:solidFill>
                  <a:srgbClr val="FFFFFF"/>
                </a:solidFill>
                <a:latin typeface="Calibri"/>
              </a:rPr>
              <a:t>Incorporar la fisica directamente en la funcion de perdida de una red neuronal. Una vez entrenada, evalua el campo completo en ~1.3 ms (GPU RTX 5050).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713232"/>
          </a:xfrm>
          <a:prstGeom prst="rect">
            <a:avLst/>
          </a:prstGeom>
          <a:noFill/>
        </p:spPr>
        <p:txBody>
          <a:bodyPr wrap="square">
            <a:spAutoFit/>
          </a:bodyPr>
          <a:lstStyle/>
          <a:p>
            <a:pPr algn="l"/>
            <a:r>
              <a:rPr sz="2700" b="1" i="0">
                <a:solidFill>
                  <a:srgbClr val="FFFFFF"/>
                </a:solidFill>
                <a:latin typeface="Calibri"/>
              </a:rPr>
              <a:t>Objetivos de investigacion</a:t>
            </a:r>
          </a:p>
        </p:txBody>
      </p:sp>
      <p:sp>
        <p:nvSpPr>
          <p:cNvPr id="4" name="TextBox 3"/>
          <p:cNvSpPr txBox="1"/>
          <p:nvPr/>
        </p:nvSpPr>
        <p:spPr>
          <a:xfrm>
            <a:off x="11521440" y="6492240"/>
            <a:ext cx="548640" cy="274320"/>
          </a:xfrm>
          <a:prstGeom prst="rect">
            <a:avLst/>
          </a:prstGeom>
          <a:noFill/>
        </p:spPr>
        <p:txBody>
          <a:bodyPr wrap="square">
            <a:spAutoFit/>
          </a:bodyPr>
          <a:lstStyle/>
          <a:p>
            <a:pPr algn="r"/>
            <a:r>
              <a:rPr sz="1100" b="0" i="0">
                <a:solidFill>
                  <a:srgbClr val="AAAAAA"/>
                </a:solidFill>
                <a:latin typeface="Calibri"/>
              </a:rPr>
              <a:t>4</a:t>
            </a:r>
          </a:p>
        </p:txBody>
      </p:sp>
      <p:sp>
        <p:nvSpPr>
          <p:cNvPr id="5" name="TextBox 4"/>
          <p:cNvSpPr txBox="1"/>
          <p:nvPr/>
        </p:nvSpPr>
        <p:spPr>
          <a:xfrm>
            <a:off x="365760" y="1051560"/>
            <a:ext cx="11430000" cy="347472"/>
          </a:xfrm>
          <a:prstGeom prst="rect">
            <a:avLst/>
          </a:prstGeom>
          <a:noFill/>
        </p:spPr>
        <p:txBody>
          <a:bodyPr wrap="square">
            <a:spAutoFit/>
          </a:bodyPr>
          <a:lstStyle/>
          <a:p>
            <a:pPr algn="l"/>
            <a:r>
              <a:rPr sz="2000" b="1" i="0">
                <a:solidFill>
                  <a:srgbClr val="345C8C"/>
                </a:solidFill>
                <a:latin typeface="Calibri"/>
              </a:rPr>
              <a:t>Objetivo general</a:t>
            </a:r>
          </a:p>
        </p:txBody>
      </p:sp>
      <p:sp>
        <p:nvSpPr>
          <p:cNvPr id="6" name="Rectangle 5"/>
          <p:cNvSpPr/>
          <p:nvPr/>
        </p:nvSpPr>
        <p:spPr>
          <a:xfrm>
            <a:off x="365760" y="1444752"/>
            <a:ext cx="11430000" cy="822960"/>
          </a:xfrm>
          <a:prstGeom prst="rect">
            <a:avLst/>
          </a:prstGeom>
          <a:solidFill>
            <a:srgbClr val="F0F2F5"/>
          </a:solidFill>
          <a:ln w="1270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08760"/>
            <a:ext cx="11064240" cy="685800"/>
          </a:xfrm>
          <a:prstGeom prst="rect">
            <a:avLst/>
          </a:prstGeom>
          <a:noFill/>
        </p:spPr>
        <p:txBody>
          <a:bodyPr wrap="square">
            <a:spAutoFit/>
          </a:bodyPr>
          <a:lstStyle/>
          <a:p>
            <a:pPr algn="l"/>
            <a:r>
              <a:rPr sz="1800" b="0" i="0">
                <a:solidFill>
                  <a:srgbClr val="2C2C2C"/>
                </a:solidFill>
                <a:latin typeface="Calibri"/>
              </a:rPr>
              <a:t>Desarrollar y validar una PINN-SIREN que simule speckle optico resolviendo la ecuación de Helmholtz 2D con error L² &lt; 5% y contraste C ≈ 1.</a:t>
            </a:r>
          </a:p>
        </p:txBody>
      </p:sp>
      <p:sp>
        <p:nvSpPr>
          <p:cNvPr id="8" name="Rectangle 7"/>
          <p:cNvSpPr/>
          <p:nvPr/>
        </p:nvSpPr>
        <p:spPr>
          <a:xfrm>
            <a:off x="365760" y="2377440"/>
            <a:ext cx="11430000" cy="228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468880"/>
            <a:ext cx="11430000" cy="347472"/>
          </a:xfrm>
          <a:prstGeom prst="rect">
            <a:avLst/>
          </a:prstGeom>
          <a:noFill/>
        </p:spPr>
        <p:txBody>
          <a:bodyPr wrap="square">
            <a:spAutoFit/>
          </a:bodyPr>
          <a:lstStyle/>
          <a:p>
            <a:pPr algn="l"/>
            <a:r>
              <a:rPr sz="2000" b="1" i="0">
                <a:solidFill>
                  <a:srgbClr val="345C8C"/>
                </a:solidFill>
                <a:latin typeface="Calibri"/>
              </a:rPr>
              <a:t>Objetivos especificos de este avance</a:t>
            </a:r>
          </a:p>
        </p:txBody>
      </p:sp>
      <p:sp>
        <p:nvSpPr>
          <p:cNvPr id="10" name="Rectangle 9"/>
          <p:cNvSpPr/>
          <p:nvPr/>
        </p:nvSpPr>
        <p:spPr>
          <a:xfrm>
            <a:off x="365760" y="2907792"/>
            <a:ext cx="868680" cy="521207"/>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935224"/>
            <a:ext cx="868680" cy="457200"/>
          </a:xfrm>
          <a:prstGeom prst="rect">
            <a:avLst/>
          </a:prstGeom>
          <a:noFill/>
        </p:spPr>
        <p:txBody>
          <a:bodyPr wrap="square">
            <a:spAutoFit/>
          </a:bodyPr>
          <a:lstStyle/>
          <a:p>
            <a:pPr algn="ctr"/>
            <a:r>
              <a:rPr sz="1400" b="1" i="0">
                <a:solidFill>
                  <a:srgbClr val="FFFFFF"/>
                </a:solidFill>
                <a:latin typeface="Calibri"/>
              </a:rPr>
              <a:t>NB01</a:t>
            </a:r>
          </a:p>
        </p:txBody>
      </p:sp>
      <p:sp>
        <p:nvSpPr>
          <p:cNvPr id="12" name="TextBox 11"/>
          <p:cNvSpPr txBox="1"/>
          <p:nvPr/>
        </p:nvSpPr>
        <p:spPr>
          <a:xfrm>
            <a:off x="1371600" y="2980944"/>
            <a:ext cx="10332720" cy="384048"/>
          </a:xfrm>
          <a:prstGeom prst="rect">
            <a:avLst/>
          </a:prstGeom>
          <a:noFill/>
        </p:spPr>
        <p:txBody>
          <a:bodyPr wrap="square">
            <a:spAutoFit/>
          </a:bodyPr>
          <a:lstStyle/>
          <a:p>
            <a:pPr algn="l"/>
            <a:r>
              <a:rPr sz="1800" b="0" i="0">
                <a:solidFill>
                  <a:srgbClr val="2C2C2C"/>
                </a:solidFill>
                <a:latin typeface="Calibri"/>
              </a:rPr>
              <a:t>Validar la arquitectura SIREN con solucion analitica exacta (Helmholtz 1D)</a:t>
            </a:r>
          </a:p>
        </p:txBody>
      </p:sp>
      <p:sp>
        <p:nvSpPr>
          <p:cNvPr id="13" name="Rectangle 12"/>
          <p:cNvSpPr/>
          <p:nvPr/>
        </p:nvSpPr>
        <p:spPr>
          <a:xfrm>
            <a:off x="365760" y="3593592"/>
            <a:ext cx="868680" cy="521207"/>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3621024"/>
            <a:ext cx="868680" cy="457200"/>
          </a:xfrm>
          <a:prstGeom prst="rect">
            <a:avLst/>
          </a:prstGeom>
          <a:noFill/>
        </p:spPr>
        <p:txBody>
          <a:bodyPr wrap="square">
            <a:spAutoFit/>
          </a:bodyPr>
          <a:lstStyle/>
          <a:p>
            <a:pPr algn="ctr"/>
            <a:r>
              <a:rPr sz="1400" b="1" i="0">
                <a:solidFill>
                  <a:srgbClr val="FFFFFF"/>
                </a:solidFill>
                <a:latin typeface="Calibri"/>
              </a:rPr>
              <a:t>NB02</a:t>
            </a:r>
          </a:p>
        </p:txBody>
      </p:sp>
      <p:sp>
        <p:nvSpPr>
          <p:cNvPr id="15" name="TextBox 14"/>
          <p:cNvSpPr txBox="1"/>
          <p:nvPr/>
        </p:nvSpPr>
        <p:spPr>
          <a:xfrm>
            <a:off x="1371600" y="3666744"/>
            <a:ext cx="10332720" cy="384048"/>
          </a:xfrm>
          <a:prstGeom prst="rect">
            <a:avLst/>
          </a:prstGeom>
          <a:noFill/>
        </p:spPr>
        <p:txBody>
          <a:bodyPr wrap="square">
            <a:spAutoFit/>
          </a:bodyPr>
          <a:lstStyle/>
          <a:p>
            <a:pPr algn="l"/>
            <a:r>
              <a:rPr sz="1800" b="0" i="0">
                <a:solidFill>
                  <a:srgbClr val="2C2C2C"/>
                </a:solidFill>
                <a:latin typeface="Calibri"/>
              </a:rPr>
              <a:t>Extender al caso 2D con campo electrico complejo y muestreo LHS</a:t>
            </a:r>
          </a:p>
        </p:txBody>
      </p:sp>
      <p:sp>
        <p:nvSpPr>
          <p:cNvPr id="16" name="Rectangle 15"/>
          <p:cNvSpPr/>
          <p:nvPr/>
        </p:nvSpPr>
        <p:spPr>
          <a:xfrm>
            <a:off x="365760" y="4279392"/>
            <a:ext cx="868680" cy="521207"/>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4306824"/>
            <a:ext cx="868680" cy="457200"/>
          </a:xfrm>
          <a:prstGeom prst="rect">
            <a:avLst/>
          </a:prstGeom>
          <a:noFill/>
        </p:spPr>
        <p:txBody>
          <a:bodyPr wrap="square">
            <a:spAutoFit/>
          </a:bodyPr>
          <a:lstStyle/>
          <a:p>
            <a:pPr algn="ctr"/>
            <a:r>
              <a:rPr sz="1400" b="1" i="0">
                <a:solidFill>
                  <a:srgbClr val="FFFFFF"/>
                </a:solidFill>
                <a:latin typeface="Calibri"/>
              </a:rPr>
              <a:t>NB03</a:t>
            </a:r>
          </a:p>
        </p:txBody>
      </p:sp>
      <p:sp>
        <p:nvSpPr>
          <p:cNvPr id="18" name="TextBox 17"/>
          <p:cNvSpPr txBox="1"/>
          <p:nvPr/>
        </p:nvSpPr>
        <p:spPr>
          <a:xfrm>
            <a:off x="1371600" y="4352544"/>
            <a:ext cx="10332720" cy="384048"/>
          </a:xfrm>
          <a:prstGeom prst="rect">
            <a:avLst/>
          </a:prstGeom>
          <a:noFill/>
        </p:spPr>
        <p:txBody>
          <a:bodyPr wrap="square">
            <a:spAutoFit/>
          </a:bodyPr>
          <a:lstStyle/>
          <a:p>
            <a:pPr algn="l"/>
            <a:r>
              <a:rPr sz="1800" b="0" i="0">
                <a:solidFill>
                  <a:srgbClr val="2C2C2C"/>
                </a:solidFill>
                <a:latin typeface="Calibri"/>
              </a:rPr>
              <a:t>Generar patrones de speckle con validacion estadistica (criterio de Goodman)</a:t>
            </a:r>
          </a:p>
        </p:txBody>
      </p:sp>
      <p:sp>
        <p:nvSpPr>
          <p:cNvPr id="19" name="Rectangle 18"/>
          <p:cNvSpPr/>
          <p:nvPr/>
        </p:nvSpPr>
        <p:spPr>
          <a:xfrm>
            <a:off x="365760" y="4965192"/>
            <a:ext cx="868680" cy="521207"/>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4992624"/>
            <a:ext cx="868680" cy="457200"/>
          </a:xfrm>
          <a:prstGeom prst="rect">
            <a:avLst/>
          </a:prstGeom>
          <a:noFill/>
        </p:spPr>
        <p:txBody>
          <a:bodyPr wrap="square">
            <a:spAutoFit/>
          </a:bodyPr>
          <a:lstStyle/>
          <a:p>
            <a:pPr algn="ctr"/>
            <a:r>
              <a:rPr sz="1400" b="1" i="0">
                <a:solidFill>
                  <a:srgbClr val="FFFFFF"/>
                </a:solidFill>
                <a:latin typeface="Calibri"/>
              </a:rPr>
              <a:t>Meta</a:t>
            </a:r>
          </a:p>
        </p:txBody>
      </p:sp>
      <p:sp>
        <p:nvSpPr>
          <p:cNvPr id="21" name="TextBox 20"/>
          <p:cNvSpPr txBox="1"/>
          <p:nvPr/>
        </p:nvSpPr>
        <p:spPr>
          <a:xfrm>
            <a:off x="1371600" y="5038344"/>
            <a:ext cx="10332720" cy="384048"/>
          </a:xfrm>
          <a:prstGeom prst="rect">
            <a:avLst/>
          </a:prstGeom>
          <a:noFill/>
        </p:spPr>
        <p:txBody>
          <a:bodyPr wrap="square">
            <a:spAutoFit/>
          </a:bodyPr>
          <a:lstStyle/>
          <a:p>
            <a:pPr algn="l"/>
            <a:r>
              <a:rPr sz="1800" b="0" i="0">
                <a:solidFill>
                  <a:srgbClr val="2C2C2C"/>
                </a:solidFill>
                <a:latin typeface="Calibri"/>
              </a:rPr>
              <a:t>Error L2 &lt; 5%  |  Contraste |C - 1| &lt; 0.1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713232"/>
          </a:xfrm>
          <a:prstGeom prst="rect">
            <a:avLst/>
          </a:prstGeom>
          <a:noFill/>
        </p:spPr>
        <p:txBody>
          <a:bodyPr wrap="square">
            <a:spAutoFit/>
          </a:bodyPr>
          <a:lstStyle/>
          <a:p>
            <a:pPr algn="l"/>
            <a:r>
              <a:rPr sz="2700" b="1" i="0">
                <a:solidFill>
                  <a:srgbClr val="FFFFFF"/>
                </a:solidFill>
                <a:latin typeface="Calibri"/>
              </a:rPr>
              <a:t>Marco teorico: Ecuacion de Helmholtz y speckle optico</a:t>
            </a:r>
          </a:p>
        </p:txBody>
      </p:sp>
      <p:sp>
        <p:nvSpPr>
          <p:cNvPr id="4" name="TextBox 3"/>
          <p:cNvSpPr txBox="1"/>
          <p:nvPr/>
        </p:nvSpPr>
        <p:spPr>
          <a:xfrm>
            <a:off x="11521440" y="6492240"/>
            <a:ext cx="548640" cy="274320"/>
          </a:xfrm>
          <a:prstGeom prst="rect">
            <a:avLst/>
          </a:prstGeom>
          <a:noFill/>
        </p:spPr>
        <p:txBody>
          <a:bodyPr wrap="square">
            <a:spAutoFit/>
          </a:bodyPr>
          <a:lstStyle/>
          <a:p>
            <a:pPr algn="r"/>
            <a:r>
              <a:rPr sz="1100" b="0" i="0">
                <a:solidFill>
                  <a:srgbClr val="AAAAAA"/>
                </a:solidFill>
                <a:latin typeface="Calibri"/>
              </a:rPr>
              <a:t>5</a:t>
            </a:r>
          </a:p>
        </p:txBody>
      </p:sp>
      <p:sp>
        <p:nvSpPr>
          <p:cNvPr id="5" name="TextBox 4"/>
          <p:cNvSpPr txBox="1"/>
          <p:nvPr/>
        </p:nvSpPr>
        <p:spPr>
          <a:xfrm>
            <a:off x="365760" y="1051560"/>
            <a:ext cx="5486400" cy="347472"/>
          </a:xfrm>
          <a:prstGeom prst="rect">
            <a:avLst/>
          </a:prstGeom>
          <a:noFill/>
        </p:spPr>
        <p:txBody>
          <a:bodyPr wrap="square">
            <a:spAutoFit/>
          </a:bodyPr>
          <a:lstStyle/>
          <a:p>
            <a:pPr algn="l"/>
            <a:r>
              <a:rPr sz="1800" b="1" i="0">
                <a:solidFill>
                  <a:srgbClr val="345C8C"/>
                </a:solidFill>
                <a:latin typeface="Calibri"/>
              </a:rPr>
              <a:t>Ecuacion de Helmholtz escalar 2D:</a:t>
            </a:r>
          </a:p>
        </p:txBody>
      </p:sp>
      <p:sp>
        <p:nvSpPr>
          <p:cNvPr id="6" name="Rectangle 5"/>
          <p:cNvSpPr/>
          <p:nvPr/>
        </p:nvSpPr>
        <p:spPr>
          <a:xfrm>
            <a:off x="365760" y="1444752"/>
            <a:ext cx="5486400" cy="1463040"/>
          </a:xfrm>
          <a:prstGeom prst="rect">
            <a:avLst/>
          </a:prstGeom>
          <a:solidFill>
            <a:srgbClr val="F0F2F5"/>
          </a:solidFill>
          <a:ln w="1270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72768"/>
            <a:ext cx="5120640" cy="457200"/>
          </a:xfrm>
          <a:prstGeom prst="rect">
            <a:avLst/>
          </a:prstGeom>
          <a:noFill/>
        </p:spPr>
        <p:txBody>
          <a:bodyPr wrap="square">
            <a:spAutoFit/>
          </a:bodyPr>
          <a:lstStyle/>
          <a:p>
            <a:pPr algn="ctr"/>
            <a:r>
              <a:rPr sz="2400" b="1" i="0">
                <a:solidFill>
                  <a:srgbClr val="1B4F72"/>
                </a:solidFill>
                <a:latin typeface="Calibri"/>
              </a:rPr>
              <a:t>∇²E(r) + k²E(r) = 0</a:t>
            </a:r>
          </a:p>
        </p:txBody>
      </p:sp>
      <p:sp>
        <p:nvSpPr>
          <p:cNvPr id="8" name="TextBox 7"/>
          <p:cNvSpPr txBox="1"/>
          <p:nvPr/>
        </p:nvSpPr>
        <p:spPr>
          <a:xfrm>
            <a:off x="548640" y="2011680"/>
            <a:ext cx="5120640" cy="777240"/>
          </a:xfrm>
          <a:prstGeom prst="rect">
            <a:avLst/>
          </a:prstGeom>
          <a:noFill/>
        </p:spPr>
        <p:txBody>
          <a:bodyPr wrap="square">
            <a:spAutoFit/>
          </a:bodyPr>
          <a:lstStyle/>
          <a:p>
            <a:pPr algn="l"/>
            <a:r>
              <a:rPr sz="1400" b="0" i="0">
                <a:solidFill>
                  <a:srgbClr val="2C2C2C"/>
                </a:solidFill>
                <a:latin typeface="Calibri"/>
              </a:rPr>
              <a:t>k = 2π/λ,   λ = 638 nm (láser diodo rojo)
Dominio: Ω = [0,1]²  (adimensional)
Campo complejo: E = E_real + i·E_imag</a:t>
            </a:r>
          </a:p>
        </p:txBody>
      </p:sp>
      <p:sp>
        <p:nvSpPr>
          <p:cNvPr id="9" name="TextBox 8"/>
          <p:cNvSpPr txBox="1"/>
          <p:nvPr/>
        </p:nvSpPr>
        <p:spPr>
          <a:xfrm>
            <a:off x="365760" y="3017520"/>
            <a:ext cx="5486400" cy="320040"/>
          </a:xfrm>
          <a:prstGeom prst="rect">
            <a:avLst/>
          </a:prstGeom>
          <a:noFill/>
        </p:spPr>
        <p:txBody>
          <a:bodyPr wrap="square">
            <a:spAutoFit/>
          </a:bodyPr>
          <a:lstStyle/>
          <a:p>
            <a:pPr algn="l"/>
            <a:r>
              <a:rPr sz="1600" b="0" i="0">
                <a:solidFill>
                  <a:srgbClr val="2C2C2C"/>
                </a:solidFill>
                <a:latin typeface="Calibri"/>
              </a:rPr>
              <a:t>La red predice ambas componentes independientemente:</a:t>
            </a:r>
          </a:p>
        </p:txBody>
      </p:sp>
      <p:sp>
        <p:nvSpPr>
          <p:cNvPr id="10" name="Rectangle 9"/>
          <p:cNvSpPr/>
          <p:nvPr/>
        </p:nvSpPr>
        <p:spPr>
          <a:xfrm>
            <a:off x="365760" y="3383280"/>
            <a:ext cx="5486400" cy="777240"/>
          </a:xfrm>
          <a:prstGeom prst="rect">
            <a:avLst/>
          </a:prstGeom>
          <a:solidFill>
            <a:srgbClr val="F0F2F5"/>
          </a:solidFill>
          <a:ln w="1270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456432"/>
            <a:ext cx="5120640" cy="621792"/>
          </a:xfrm>
          <a:prstGeom prst="rect">
            <a:avLst/>
          </a:prstGeom>
          <a:noFill/>
        </p:spPr>
        <p:txBody>
          <a:bodyPr wrap="square">
            <a:spAutoFit/>
          </a:bodyPr>
          <a:lstStyle/>
          <a:p>
            <a:pPr algn="l"/>
            <a:r>
              <a:rPr sz="1700" b="1" i="0">
                <a:solidFill>
                  <a:srgbClr val="1B4F72"/>
                </a:solidFill>
                <a:latin typeface="Calibri"/>
              </a:rPr>
              <a:t>∇²E_real + k²E_real = 0
∇²E_imag + k²E_imag = 0</a:t>
            </a:r>
          </a:p>
        </p:txBody>
      </p:sp>
      <p:sp>
        <p:nvSpPr>
          <p:cNvPr id="12" name="TextBox 11"/>
          <p:cNvSpPr txBox="1"/>
          <p:nvPr/>
        </p:nvSpPr>
        <p:spPr>
          <a:xfrm>
            <a:off x="6400800" y="1051560"/>
            <a:ext cx="5486400" cy="347472"/>
          </a:xfrm>
          <a:prstGeom prst="rect">
            <a:avLst/>
          </a:prstGeom>
          <a:noFill/>
        </p:spPr>
        <p:txBody>
          <a:bodyPr wrap="square">
            <a:spAutoFit/>
          </a:bodyPr>
          <a:lstStyle/>
          <a:p>
            <a:pPr algn="l"/>
            <a:r>
              <a:rPr sz="1800" b="1" i="0">
                <a:solidFill>
                  <a:srgbClr val="345C8C"/>
                </a:solidFill>
                <a:latin typeface="Calibri"/>
              </a:rPr>
              <a:t>Estadistica del speckle completamente desarrollado:</a:t>
            </a:r>
          </a:p>
        </p:txBody>
      </p:sp>
      <p:sp>
        <p:nvSpPr>
          <p:cNvPr id="13" name="TextBox 12"/>
          <p:cNvSpPr txBox="1"/>
          <p:nvPr/>
        </p:nvSpPr>
        <p:spPr>
          <a:xfrm>
            <a:off x="6400800" y="1463040"/>
            <a:ext cx="5486400" cy="2560320"/>
          </a:xfrm>
          <a:prstGeom prst="rect">
            <a:avLst/>
          </a:prstGeom>
          <a:noFill/>
        </p:spPr>
        <p:txBody>
          <a:bodyPr wrap="square">
            <a:spAutoFit/>
          </a:bodyPr>
          <a:lstStyle/>
          <a:p>
            <a:pPr>
              <a:spcBef>
                <a:spcPts val="600"/>
              </a:spcBef>
              <a:spcAft>
                <a:spcPts val="200"/>
              </a:spcAft>
            </a:pPr>
            <a:r>
              <a:rPr sz="1700">
                <a:solidFill>
                  <a:srgbClr val="2C2C2C"/>
                </a:solidFill>
                <a:latin typeface="Calibri"/>
              </a:rPr>
              <a:t>  Intensidad: I = |E|² = E²_real + E²_imag</a:t>
            </a:r>
          </a:p>
          <a:p>
            <a:pPr>
              <a:spcBef>
                <a:spcPts val="600"/>
              </a:spcBef>
              <a:spcAft>
                <a:spcPts val="200"/>
              </a:spcAft>
            </a:pPr>
            <a:r>
              <a:rPr sz="1700">
                <a:solidFill>
                  <a:srgbClr val="2C2C2C"/>
                </a:solidFill>
                <a:latin typeface="Calibri"/>
              </a:rPr>
              <a:t>  Distribución teórica: exponencial negativa</a:t>
            </a:r>
          </a:p>
          <a:p>
            <a:pPr>
              <a:spcBef>
                <a:spcPts val="600"/>
              </a:spcBef>
              <a:spcAft>
                <a:spcPts val="200"/>
              </a:spcAft>
            </a:pPr>
            <a:r>
              <a:rPr sz="1700">
                <a:solidFill>
                  <a:srgbClr val="2C2C2C"/>
                </a:solidFill>
                <a:latin typeface="Calibri"/>
              </a:rPr>
              <a:t>  p(I) = (1/⟨I⟩)·exp(−I/⟨I⟩)</a:t>
            </a:r>
          </a:p>
          <a:p>
            <a:pPr>
              <a:spcBef>
                <a:spcPts val="600"/>
              </a:spcBef>
              <a:spcAft>
                <a:spcPts val="200"/>
              </a:spcAft>
            </a:pPr>
            <a:r>
              <a:rPr sz="1700">
                <a:solidFill>
                  <a:srgbClr val="2C2C2C"/>
                </a:solidFill>
                <a:latin typeface="Calibri"/>
              </a:rPr>
              <a:t>  Contraste: C = σ_I / ⟨I⟩ = 1  (para speckle puro)</a:t>
            </a:r>
          </a:p>
          <a:p>
            <a:pPr>
              <a:spcBef>
                <a:spcPts val="600"/>
              </a:spcBef>
              <a:spcAft>
                <a:spcPts val="200"/>
              </a:spcAft>
            </a:pPr>
            <a:r>
              <a:rPr sz="1700">
                <a:solidFill>
                  <a:srgbClr val="2C2C2C"/>
                </a:solidFill>
                <a:latin typeface="Calibri"/>
              </a:rPr>
              <a:t>  Criterio validación: |C − 1| &lt; 0.1  (Goodman 2007)</a:t>
            </a:r>
          </a:p>
        </p:txBody>
      </p:sp>
      <p:sp>
        <p:nvSpPr>
          <p:cNvPr id="14" name="Rectangle 13"/>
          <p:cNvSpPr/>
          <p:nvPr/>
        </p:nvSpPr>
        <p:spPr>
          <a:xfrm>
            <a:off x="6400800" y="4160520"/>
            <a:ext cx="5486400" cy="201168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4251960"/>
            <a:ext cx="5120640" cy="320040"/>
          </a:xfrm>
          <a:prstGeom prst="rect">
            <a:avLst/>
          </a:prstGeom>
          <a:noFill/>
        </p:spPr>
        <p:txBody>
          <a:bodyPr wrap="square">
            <a:spAutoFit/>
          </a:bodyPr>
          <a:lstStyle/>
          <a:p>
            <a:pPr algn="l"/>
            <a:r>
              <a:rPr sz="1500" b="1" i="0">
                <a:solidFill>
                  <a:srgbClr val="FFFFFF"/>
                </a:solidFill>
                <a:latin typeface="Calibri"/>
              </a:rPr>
              <a:t>Condicion de frontera NB03 (speckle):</a:t>
            </a:r>
          </a:p>
        </p:txBody>
      </p:sp>
      <p:sp>
        <p:nvSpPr>
          <p:cNvPr id="16" name="TextBox 15"/>
          <p:cNvSpPr txBox="1"/>
          <p:nvPr/>
        </p:nvSpPr>
        <p:spPr>
          <a:xfrm>
            <a:off x="6583680" y="4590288"/>
            <a:ext cx="5120640" cy="1417320"/>
          </a:xfrm>
          <a:prstGeom prst="rect">
            <a:avLst/>
          </a:prstGeom>
          <a:noFill/>
        </p:spPr>
        <p:txBody>
          <a:bodyPr wrap="square">
            <a:spAutoFit/>
          </a:bodyPr>
          <a:lstStyle/>
          <a:p>
            <a:pPr algn="l"/>
            <a:r>
              <a:rPr sz="1600" b="0" i="0">
                <a:solidFill>
                  <a:srgbClr val="FFFFFF"/>
                </a:solidFill>
                <a:latin typeface="Calibri"/>
              </a:rPr>
              <a:t>E(x,0) = e^(iφ(x)),   φ(x) ∼ U(0, 2π)
N_φ = 256 puntos en y=0
Bordes x=0, x=1, y=1: libres (sin Dirichlet)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713232"/>
          </a:xfrm>
          <a:prstGeom prst="rect">
            <a:avLst/>
          </a:prstGeom>
          <a:noFill/>
        </p:spPr>
        <p:txBody>
          <a:bodyPr wrap="square">
            <a:spAutoFit/>
          </a:bodyPr>
          <a:lstStyle/>
          <a:p>
            <a:pPr algn="l"/>
            <a:r>
              <a:rPr sz="2700" b="1" i="0">
                <a:solidFill>
                  <a:srgbClr val="FFFFFF"/>
                </a:solidFill>
                <a:latin typeface="Calibri"/>
              </a:rPr>
              <a:t>Physics-Informed Neural Networks y arquitectura SIREN</a:t>
            </a:r>
          </a:p>
        </p:txBody>
      </p:sp>
      <p:sp>
        <p:nvSpPr>
          <p:cNvPr id="4" name="TextBox 3"/>
          <p:cNvSpPr txBox="1"/>
          <p:nvPr/>
        </p:nvSpPr>
        <p:spPr>
          <a:xfrm>
            <a:off x="11521440" y="6492240"/>
            <a:ext cx="548640" cy="274320"/>
          </a:xfrm>
          <a:prstGeom prst="rect">
            <a:avLst/>
          </a:prstGeom>
          <a:noFill/>
        </p:spPr>
        <p:txBody>
          <a:bodyPr wrap="square">
            <a:spAutoFit/>
          </a:bodyPr>
          <a:lstStyle/>
          <a:p>
            <a:pPr algn="r"/>
            <a:r>
              <a:rPr sz="1100" b="0" i="0">
                <a:solidFill>
                  <a:srgbClr val="AAAAAA"/>
                </a:solidFill>
                <a:latin typeface="Calibri"/>
              </a:rPr>
              <a:t>6</a:t>
            </a:r>
          </a:p>
        </p:txBody>
      </p:sp>
      <p:sp>
        <p:nvSpPr>
          <p:cNvPr id="5" name="TextBox 4"/>
          <p:cNvSpPr txBox="1"/>
          <p:nvPr/>
        </p:nvSpPr>
        <p:spPr>
          <a:xfrm>
            <a:off x="365760" y="1051560"/>
            <a:ext cx="11430000" cy="347472"/>
          </a:xfrm>
          <a:prstGeom prst="rect">
            <a:avLst/>
          </a:prstGeom>
          <a:noFill/>
        </p:spPr>
        <p:txBody>
          <a:bodyPr wrap="square">
            <a:spAutoFit/>
          </a:bodyPr>
          <a:lstStyle/>
          <a:p>
            <a:pPr algn="l"/>
            <a:r>
              <a:rPr sz="1900" b="1" i="0">
                <a:solidFill>
                  <a:srgbClr val="345C8C"/>
                </a:solidFill>
                <a:latin typeface="Calibri"/>
              </a:rPr>
              <a:t>Funcion de perdida PINN:</a:t>
            </a:r>
          </a:p>
        </p:txBody>
      </p:sp>
      <p:sp>
        <p:nvSpPr>
          <p:cNvPr id="6" name="Rectangle 5"/>
          <p:cNvSpPr/>
          <p:nvPr/>
        </p:nvSpPr>
        <p:spPr>
          <a:xfrm>
            <a:off x="365760" y="1444752"/>
            <a:ext cx="11430000" cy="640080"/>
          </a:xfrm>
          <a:prstGeom prst="rect">
            <a:avLst/>
          </a:prstGeom>
          <a:solidFill>
            <a:srgbClr val="F0F2F5"/>
          </a:solidFill>
          <a:ln w="1270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36192"/>
            <a:ext cx="11064240" cy="457200"/>
          </a:xfrm>
          <a:prstGeom prst="rect">
            <a:avLst/>
          </a:prstGeom>
          <a:noFill/>
        </p:spPr>
        <p:txBody>
          <a:bodyPr wrap="square">
            <a:spAutoFit/>
          </a:bodyPr>
          <a:lstStyle/>
          <a:p>
            <a:pPr algn="ctr"/>
            <a:r>
              <a:rPr sz="2200" b="1" i="0">
                <a:solidFill>
                  <a:srgbClr val="1B4F72"/>
                </a:solidFill>
                <a:latin typeface="Calibri"/>
              </a:rPr>
              <a:t>ℒ(θ) = ℒ_datos(θ)  +  λ_fis · ℒ_física(θ)</a:t>
            </a:r>
          </a:p>
        </p:txBody>
      </p:sp>
      <p:sp>
        <p:nvSpPr>
          <p:cNvPr id="8" name="TextBox 7"/>
          <p:cNvSpPr txBox="1"/>
          <p:nvPr/>
        </p:nvSpPr>
        <p:spPr>
          <a:xfrm>
            <a:off x="548640" y="2176272"/>
            <a:ext cx="5029200" cy="320040"/>
          </a:xfrm>
          <a:prstGeom prst="rect">
            <a:avLst/>
          </a:prstGeom>
          <a:noFill/>
        </p:spPr>
        <p:txBody>
          <a:bodyPr wrap="square">
            <a:spAutoFit/>
          </a:bodyPr>
          <a:lstStyle/>
          <a:p>
            <a:pPr algn="l"/>
            <a:r>
              <a:rPr sz="1600" b="0" i="0">
                <a:solidFill>
                  <a:srgbClr val="2C2C2C"/>
                </a:solidFill>
                <a:latin typeface="Calibri"/>
              </a:rPr>
              <a:t>ℒ_datos: error en condiciones de frontera</a:t>
            </a:r>
          </a:p>
        </p:txBody>
      </p:sp>
      <p:sp>
        <p:nvSpPr>
          <p:cNvPr id="9" name="TextBox 8"/>
          <p:cNvSpPr txBox="1"/>
          <p:nvPr/>
        </p:nvSpPr>
        <p:spPr>
          <a:xfrm>
            <a:off x="6217920" y="2176272"/>
            <a:ext cx="5486400" cy="320040"/>
          </a:xfrm>
          <a:prstGeom prst="rect">
            <a:avLst/>
          </a:prstGeom>
          <a:noFill/>
        </p:spPr>
        <p:txBody>
          <a:bodyPr wrap="square">
            <a:spAutoFit/>
          </a:bodyPr>
          <a:lstStyle/>
          <a:p>
            <a:pPr algn="l"/>
            <a:r>
              <a:rPr sz="1600" b="0" i="0">
                <a:solidFill>
                  <a:srgbClr val="2C2C2C"/>
                </a:solidFill>
                <a:latin typeface="Calibri"/>
              </a:rPr>
              <a:t>ℒ_física: residuo de Helmholtz en puntos interiores</a:t>
            </a:r>
          </a:p>
        </p:txBody>
      </p:sp>
      <p:sp>
        <p:nvSpPr>
          <p:cNvPr id="10" name="Rectangle 9"/>
          <p:cNvSpPr/>
          <p:nvPr/>
        </p:nvSpPr>
        <p:spPr>
          <a:xfrm>
            <a:off x="365760" y="2578608"/>
            <a:ext cx="11430000" cy="228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670048"/>
            <a:ext cx="11430000" cy="347472"/>
          </a:xfrm>
          <a:prstGeom prst="rect">
            <a:avLst/>
          </a:prstGeom>
          <a:noFill/>
        </p:spPr>
        <p:txBody>
          <a:bodyPr wrap="square">
            <a:spAutoFit/>
          </a:bodyPr>
          <a:lstStyle/>
          <a:p>
            <a:pPr algn="l"/>
            <a:r>
              <a:rPr sz="1900" b="1" i="0">
                <a:solidFill>
                  <a:srgbClr val="345C8C"/>
                </a:solidFill>
                <a:latin typeface="Calibri"/>
              </a:rPr>
              <a:t>¿Por qué SIREN?  Activación sinusoidal: φ(z) = sin(ω₀·z)</a:t>
            </a:r>
          </a:p>
        </p:txBody>
      </p:sp>
      <p:sp>
        <p:nvSpPr>
          <p:cNvPr id="12" name="TextBox 11"/>
          <p:cNvSpPr txBox="1"/>
          <p:nvPr/>
        </p:nvSpPr>
        <p:spPr>
          <a:xfrm>
            <a:off x="365760" y="3090672"/>
            <a:ext cx="11430000" cy="3200400"/>
          </a:xfrm>
          <a:prstGeom prst="rect">
            <a:avLst/>
          </a:prstGeom>
          <a:noFill/>
        </p:spPr>
        <p:txBody>
          <a:bodyPr wrap="square">
            <a:spAutoFit/>
          </a:bodyPr>
          <a:lstStyle/>
          <a:p>
            <a:pPr>
              <a:spcBef>
                <a:spcPts val="600"/>
              </a:spcBef>
              <a:spcAft>
                <a:spcPts val="200"/>
              </a:spcAft>
            </a:pPr>
            <a:r>
              <a:rPr sz="1700">
                <a:solidFill>
                  <a:srgbClr val="2C2C2C"/>
                </a:solidFill>
                <a:latin typeface="Calibri"/>
              </a:rPr>
              <a:t>  ReLU / tanh: derivadas de 2.º orden inestables (Helmholtz requiere ∇²E)</a:t>
            </a:r>
          </a:p>
          <a:p>
            <a:pPr>
              <a:spcBef>
                <a:spcPts val="600"/>
              </a:spcBef>
              <a:spcAft>
                <a:spcPts val="200"/>
              </a:spcAft>
            </a:pPr>
            <a:r>
              <a:rPr sz="1700">
                <a:solidFill>
                  <a:srgbClr val="2C2C2C"/>
                </a:solidFill>
                <a:latin typeface="Calibri"/>
              </a:rPr>
              <a:t>  Sesgo espectral (spectral bias): aprenden frecuencias bajas primero, fallan para speckle</a:t>
            </a:r>
          </a:p>
          <a:p>
            <a:pPr>
              <a:spcBef>
                <a:spcPts val="600"/>
              </a:spcBef>
              <a:spcAft>
                <a:spcPts val="200"/>
              </a:spcAft>
            </a:pPr>
            <a:r>
              <a:rPr sz="1700">
                <a:solidFill>
                  <a:srgbClr val="2C2C2C"/>
                </a:solidFill>
                <a:latin typeface="Calibri"/>
              </a:rPr>
              <a:t>  SIREN: sin(ω₀z) → derivadas de cualquier orden son sinusoides → estabilidad numérica</a:t>
            </a:r>
          </a:p>
          <a:p>
            <a:pPr>
              <a:spcBef>
                <a:spcPts val="600"/>
              </a:spcBef>
              <a:spcAft>
                <a:spcPts val="200"/>
              </a:spcAft>
            </a:pPr>
            <a:r>
              <a:rPr sz="1700">
                <a:solidFill>
                  <a:srgbClr val="2C2C2C"/>
                </a:solidFill>
                <a:latin typeface="Calibri"/>
              </a:rPr>
              <a:t>  Inicialización especial (Sitzmann et al. 2020): distribución uniforme en [−1, 1] en todas las capas</a:t>
            </a:r>
          </a:p>
          <a:p>
            <a:pPr>
              <a:spcBef>
                <a:spcPts val="600"/>
              </a:spcBef>
              <a:spcAft>
                <a:spcPts val="200"/>
              </a:spcAft>
            </a:pPr>
            <a:r>
              <a:rPr sz="1700">
                <a:solidFill>
                  <a:srgbClr val="2C2C2C"/>
                </a:solidFill>
                <a:latin typeface="Calibri"/>
              </a:rPr>
              <a:t>  ω₀ = 1.0 (calibrado para dominio adimensional k = 2π, vs. ω₀ = 30 para imágenes)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713232"/>
          </a:xfrm>
          <a:prstGeom prst="rect">
            <a:avLst/>
          </a:prstGeom>
          <a:noFill/>
        </p:spPr>
        <p:txBody>
          <a:bodyPr wrap="square">
            <a:spAutoFit/>
          </a:bodyPr>
          <a:lstStyle/>
          <a:p>
            <a:pPr algn="l"/>
            <a:r>
              <a:rPr sz="2700" b="1" i="0">
                <a:solidFill>
                  <a:srgbClr val="FFFFFF"/>
                </a:solidFill>
                <a:latin typeface="Calibri"/>
              </a:rPr>
              <a:t>Arquitectura SIREN 5x128 y estrategia de entrenamiento</a:t>
            </a:r>
          </a:p>
        </p:txBody>
      </p:sp>
      <p:sp>
        <p:nvSpPr>
          <p:cNvPr id="4" name="TextBox 3"/>
          <p:cNvSpPr txBox="1"/>
          <p:nvPr/>
        </p:nvSpPr>
        <p:spPr>
          <a:xfrm>
            <a:off x="11521440" y="6492240"/>
            <a:ext cx="548640" cy="274320"/>
          </a:xfrm>
          <a:prstGeom prst="rect">
            <a:avLst/>
          </a:prstGeom>
          <a:noFill/>
        </p:spPr>
        <p:txBody>
          <a:bodyPr wrap="square">
            <a:spAutoFit/>
          </a:bodyPr>
          <a:lstStyle/>
          <a:p>
            <a:pPr algn="r"/>
            <a:r>
              <a:rPr sz="1100" b="0" i="0">
                <a:solidFill>
                  <a:srgbClr val="AAAAAA"/>
                </a:solidFill>
                <a:latin typeface="Calibri"/>
              </a:rPr>
              <a:t>7</a:t>
            </a:r>
          </a:p>
        </p:txBody>
      </p:sp>
      <p:sp>
        <p:nvSpPr>
          <p:cNvPr id="5" name="TextBox 4"/>
          <p:cNvSpPr txBox="1"/>
          <p:nvPr/>
        </p:nvSpPr>
        <p:spPr>
          <a:xfrm>
            <a:off x="365760" y="1051560"/>
            <a:ext cx="5303520" cy="347472"/>
          </a:xfrm>
          <a:prstGeom prst="rect">
            <a:avLst/>
          </a:prstGeom>
          <a:noFill/>
        </p:spPr>
        <p:txBody>
          <a:bodyPr wrap="square">
            <a:spAutoFit/>
          </a:bodyPr>
          <a:lstStyle/>
          <a:p>
            <a:pPr algn="l"/>
            <a:r>
              <a:rPr sz="1900" b="1" i="0">
                <a:solidFill>
                  <a:srgbClr val="345C8C"/>
                </a:solidFill>
                <a:latin typeface="Calibri"/>
              </a:rPr>
              <a:t>Arquitectura SIREN 5 x 128</a:t>
            </a:r>
          </a:p>
        </p:txBody>
      </p:sp>
      <p:sp>
        <p:nvSpPr>
          <p:cNvPr id="6" name="TextBox 5"/>
          <p:cNvSpPr txBox="1"/>
          <p:nvPr/>
        </p:nvSpPr>
        <p:spPr>
          <a:xfrm>
            <a:off x="365760" y="1463040"/>
            <a:ext cx="5303520" cy="2926080"/>
          </a:xfrm>
          <a:prstGeom prst="rect">
            <a:avLst/>
          </a:prstGeom>
          <a:noFill/>
        </p:spPr>
        <p:txBody>
          <a:bodyPr wrap="square">
            <a:spAutoFit/>
          </a:bodyPr>
          <a:lstStyle/>
          <a:p>
            <a:pPr>
              <a:spcBef>
                <a:spcPts val="600"/>
              </a:spcBef>
              <a:spcAft>
                <a:spcPts val="200"/>
              </a:spcAft>
            </a:pPr>
            <a:r>
              <a:rPr sz="1800">
                <a:solidFill>
                  <a:srgbClr val="2C2C2C"/>
                </a:solidFill>
                <a:latin typeface="Calibri"/>
              </a:rPr>
              <a:t>  Entrada:  (x, y)  →  2 valores</a:t>
            </a:r>
          </a:p>
          <a:p>
            <a:pPr>
              <a:spcBef>
                <a:spcPts val="600"/>
              </a:spcBef>
              <a:spcAft>
                <a:spcPts val="200"/>
              </a:spcAft>
            </a:pPr>
            <a:r>
              <a:rPr sz="1800">
                <a:solidFill>
                  <a:srgbClr val="2C2C2C"/>
                </a:solidFill>
                <a:latin typeface="Calibri"/>
              </a:rPr>
              <a:t>  5 capas ocultas x 128 neuronas</a:t>
            </a:r>
          </a:p>
          <a:p>
            <a:pPr>
              <a:spcBef>
                <a:spcPts val="600"/>
              </a:spcBef>
              <a:spcAft>
                <a:spcPts val="200"/>
              </a:spcAft>
            </a:pPr>
            <a:r>
              <a:rPr sz="1800">
                <a:solidFill>
                  <a:srgbClr val="2C2C2C"/>
                </a:solidFill>
                <a:latin typeface="Calibri"/>
              </a:rPr>
              <a:t>  Activación: sin(ω₀·z),  ω₀ = 1.0</a:t>
            </a:r>
          </a:p>
          <a:p>
            <a:pPr>
              <a:spcBef>
                <a:spcPts val="600"/>
              </a:spcBef>
              <a:spcAft>
                <a:spcPts val="200"/>
              </a:spcAft>
            </a:pPr>
            <a:r>
              <a:rPr sz="1800">
                <a:solidFill>
                  <a:srgbClr val="2C2C2C"/>
                </a:solidFill>
                <a:latin typeface="Calibri"/>
              </a:rPr>
              <a:t>  Salida lineal: (E_real, E_imag)  →  2 neuronas</a:t>
            </a:r>
          </a:p>
          <a:p>
            <a:pPr>
              <a:spcBef>
                <a:spcPts val="600"/>
              </a:spcBef>
              <a:spcAft>
                <a:spcPts val="200"/>
              </a:spcAft>
            </a:pPr>
            <a:r>
              <a:rPr sz="1800">
                <a:solidFill>
                  <a:srgbClr val="2C2C2C"/>
                </a:solidFill>
                <a:latin typeface="Calibri"/>
              </a:rPr>
              <a:t>  Parametros entrenables: 66,690</a:t>
            </a:r>
          </a:p>
          <a:p>
            <a:pPr>
              <a:spcBef>
                <a:spcPts val="600"/>
              </a:spcBef>
              <a:spcAft>
                <a:spcPts val="200"/>
              </a:spcAft>
            </a:pPr>
            <a:r>
              <a:rPr sz="1800">
                <a:solidFill>
                  <a:srgbClr val="2C2C2C"/>
                </a:solidFill>
                <a:latin typeface="Calibri"/>
              </a:rPr>
              <a:t>  Inicializacion: Sitzmann et al. (2020)</a:t>
            </a:r>
          </a:p>
        </p:txBody>
      </p:sp>
      <p:sp>
        <p:nvSpPr>
          <p:cNvPr id="7" name="Rectangle 6"/>
          <p:cNvSpPr/>
          <p:nvPr/>
        </p:nvSpPr>
        <p:spPr>
          <a:xfrm>
            <a:off x="411480" y="4754880"/>
            <a:ext cx="914400" cy="640080"/>
          </a:xfrm>
          <a:prstGeom prst="rect">
            <a:avLst/>
          </a:prstGeom>
          <a:solidFill>
            <a:srgbClr val="7A9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4809744"/>
            <a:ext cx="822960" cy="530352"/>
          </a:xfrm>
          <a:prstGeom prst="rect">
            <a:avLst/>
          </a:prstGeom>
          <a:noFill/>
        </p:spPr>
        <p:txBody>
          <a:bodyPr wrap="square">
            <a:spAutoFit/>
          </a:bodyPr>
          <a:lstStyle/>
          <a:p>
            <a:pPr algn="ctr"/>
            <a:r>
              <a:rPr sz="1200" b="1" i="0">
                <a:solidFill>
                  <a:srgbClr val="FFFFFF"/>
                </a:solidFill>
                <a:latin typeface="Calibri"/>
              </a:rPr>
              <a:t>(x,y)</a:t>
            </a:r>
          </a:p>
        </p:txBody>
      </p:sp>
      <p:sp>
        <p:nvSpPr>
          <p:cNvPr id="9" name="Rectangle 8"/>
          <p:cNvSpPr/>
          <p:nvPr/>
        </p:nvSpPr>
        <p:spPr>
          <a:xfrm>
            <a:off x="1435608" y="4754880"/>
            <a:ext cx="914400" cy="64008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81328" y="4809744"/>
            <a:ext cx="822960" cy="530352"/>
          </a:xfrm>
          <a:prstGeom prst="rect">
            <a:avLst/>
          </a:prstGeom>
          <a:noFill/>
        </p:spPr>
        <p:txBody>
          <a:bodyPr wrap="square">
            <a:spAutoFit/>
          </a:bodyPr>
          <a:lstStyle/>
          <a:p>
            <a:pPr algn="ctr"/>
            <a:r>
              <a:rPr sz="1200" b="1" i="0">
                <a:solidFill>
                  <a:srgbClr val="FFFFFF"/>
                </a:solidFill>
                <a:latin typeface="Calibri"/>
              </a:rPr>
              <a:t>128
sin(ω₀z)</a:t>
            </a:r>
          </a:p>
        </p:txBody>
      </p:sp>
      <p:sp>
        <p:nvSpPr>
          <p:cNvPr id="11" name="Rectangle 10"/>
          <p:cNvSpPr/>
          <p:nvPr/>
        </p:nvSpPr>
        <p:spPr>
          <a:xfrm>
            <a:off x="2459736" y="4754880"/>
            <a:ext cx="914400" cy="64008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05456" y="4809744"/>
            <a:ext cx="822960" cy="530352"/>
          </a:xfrm>
          <a:prstGeom prst="rect">
            <a:avLst/>
          </a:prstGeom>
          <a:noFill/>
        </p:spPr>
        <p:txBody>
          <a:bodyPr wrap="square">
            <a:spAutoFit/>
          </a:bodyPr>
          <a:lstStyle/>
          <a:p>
            <a:pPr algn="ctr"/>
            <a:r>
              <a:rPr sz="1200" b="1" i="0">
                <a:solidFill>
                  <a:srgbClr val="FFFFFF"/>
                </a:solidFill>
                <a:latin typeface="Calibri"/>
              </a:rPr>
              <a:t>128
sin(ω₀z) ×3</a:t>
            </a:r>
          </a:p>
        </p:txBody>
      </p:sp>
      <p:sp>
        <p:nvSpPr>
          <p:cNvPr id="13" name="Rectangle 12"/>
          <p:cNvSpPr/>
          <p:nvPr/>
        </p:nvSpPr>
        <p:spPr>
          <a:xfrm>
            <a:off x="3483864" y="4754880"/>
            <a:ext cx="914400" cy="64008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9584" y="4809744"/>
            <a:ext cx="822960" cy="530352"/>
          </a:xfrm>
          <a:prstGeom prst="rect">
            <a:avLst/>
          </a:prstGeom>
          <a:noFill/>
        </p:spPr>
        <p:txBody>
          <a:bodyPr wrap="square">
            <a:spAutoFit/>
          </a:bodyPr>
          <a:lstStyle/>
          <a:p>
            <a:pPr algn="ctr"/>
            <a:r>
              <a:rPr sz="1200" b="1" i="0">
                <a:solidFill>
                  <a:srgbClr val="FFFFFF"/>
                </a:solidFill>
                <a:latin typeface="Calibri"/>
              </a:rPr>
              <a:t>128
sin(ω₀z)</a:t>
            </a:r>
          </a:p>
        </p:txBody>
      </p:sp>
      <p:sp>
        <p:nvSpPr>
          <p:cNvPr id="15" name="Rectangle 14"/>
          <p:cNvSpPr/>
          <p:nvPr/>
        </p:nvSpPr>
        <p:spPr>
          <a:xfrm>
            <a:off x="4507992" y="4754880"/>
            <a:ext cx="914400" cy="640080"/>
          </a:xfrm>
          <a:prstGeom prst="rect">
            <a:avLst/>
          </a:prstGeom>
          <a:solidFill>
            <a:srgbClr val="1B4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53712" y="4809744"/>
            <a:ext cx="822960" cy="530352"/>
          </a:xfrm>
          <a:prstGeom prst="rect">
            <a:avLst/>
          </a:prstGeom>
          <a:noFill/>
        </p:spPr>
        <p:txBody>
          <a:bodyPr wrap="square">
            <a:spAutoFit/>
          </a:bodyPr>
          <a:lstStyle/>
          <a:p>
            <a:pPr algn="ctr"/>
            <a:r>
              <a:rPr sz="1200" b="1" i="0">
                <a:solidFill>
                  <a:srgbClr val="FFFFFF"/>
                </a:solidFill>
                <a:latin typeface="Calibri"/>
              </a:rPr>
              <a:t>(Er,Ei)</a:t>
            </a:r>
          </a:p>
        </p:txBody>
      </p:sp>
      <p:sp>
        <p:nvSpPr>
          <p:cNvPr id="17" name="TextBox 16"/>
          <p:cNvSpPr txBox="1"/>
          <p:nvPr/>
        </p:nvSpPr>
        <p:spPr>
          <a:xfrm>
            <a:off x="1463040" y="4937760"/>
            <a:ext cx="228600" cy="274320"/>
          </a:xfrm>
          <a:prstGeom prst="rect">
            <a:avLst/>
          </a:prstGeom>
          <a:noFill/>
        </p:spPr>
        <p:txBody>
          <a:bodyPr wrap="square">
            <a:spAutoFit/>
          </a:bodyPr>
          <a:lstStyle/>
          <a:p>
            <a:pPr algn="ctr"/>
            <a:r>
              <a:rPr sz="1400" b="1" i="0">
                <a:solidFill>
                  <a:srgbClr val="CCCCCC"/>
                </a:solidFill>
                <a:latin typeface="Calibri"/>
              </a:rPr>
              <a:t>→</a:t>
            </a:r>
          </a:p>
        </p:txBody>
      </p:sp>
      <p:sp>
        <p:nvSpPr>
          <p:cNvPr id="18" name="TextBox 17"/>
          <p:cNvSpPr txBox="1"/>
          <p:nvPr/>
        </p:nvSpPr>
        <p:spPr>
          <a:xfrm>
            <a:off x="2487168" y="4937760"/>
            <a:ext cx="228600" cy="274320"/>
          </a:xfrm>
          <a:prstGeom prst="rect">
            <a:avLst/>
          </a:prstGeom>
          <a:noFill/>
        </p:spPr>
        <p:txBody>
          <a:bodyPr wrap="square">
            <a:spAutoFit/>
          </a:bodyPr>
          <a:lstStyle/>
          <a:p>
            <a:pPr algn="ctr"/>
            <a:r>
              <a:rPr sz="1400" b="1" i="0">
                <a:solidFill>
                  <a:srgbClr val="CCCCCC"/>
                </a:solidFill>
                <a:latin typeface="Calibri"/>
              </a:rPr>
              <a:t>→</a:t>
            </a:r>
          </a:p>
        </p:txBody>
      </p:sp>
      <p:sp>
        <p:nvSpPr>
          <p:cNvPr id="19" name="TextBox 18"/>
          <p:cNvSpPr txBox="1"/>
          <p:nvPr/>
        </p:nvSpPr>
        <p:spPr>
          <a:xfrm>
            <a:off x="3511296" y="4937760"/>
            <a:ext cx="228600" cy="274320"/>
          </a:xfrm>
          <a:prstGeom prst="rect">
            <a:avLst/>
          </a:prstGeom>
          <a:noFill/>
        </p:spPr>
        <p:txBody>
          <a:bodyPr wrap="square">
            <a:spAutoFit/>
          </a:bodyPr>
          <a:lstStyle/>
          <a:p>
            <a:pPr algn="ctr"/>
            <a:r>
              <a:rPr sz="1400" b="1" i="0">
                <a:solidFill>
                  <a:srgbClr val="CCCCCC"/>
                </a:solidFill>
                <a:latin typeface="Calibri"/>
              </a:rPr>
              <a:t>→</a:t>
            </a:r>
          </a:p>
        </p:txBody>
      </p:sp>
      <p:sp>
        <p:nvSpPr>
          <p:cNvPr id="20" name="TextBox 19"/>
          <p:cNvSpPr txBox="1"/>
          <p:nvPr/>
        </p:nvSpPr>
        <p:spPr>
          <a:xfrm>
            <a:off x="4535424" y="4937760"/>
            <a:ext cx="228600" cy="274320"/>
          </a:xfrm>
          <a:prstGeom prst="rect">
            <a:avLst/>
          </a:prstGeom>
          <a:noFill/>
        </p:spPr>
        <p:txBody>
          <a:bodyPr wrap="square">
            <a:spAutoFit/>
          </a:bodyPr>
          <a:lstStyle/>
          <a:p>
            <a:pPr algn="ctr"/>
            <a:r>
              <a:rPr sz="1400" b="1" i="0">
                <a:solidFill>
                  <a:srgbClr val="CCCCCC"/>
                </a:solidFill>
                <a:latin typeface="Calibri"/>
              </a:rPr>
              <a:t>→</a:t>
            </a:r>
          </a:p>
        </p:txBody>
      </p:sp>
      <p:sp>
        <p:nvSpPr>
          <p:cNvPr id="21" name="TextBox 20"/>
          <p:cNvSpPr txBox="1"/>
          <p:nvPr/>
        </p:nvSpPr>
        <p:spPr>
          <a:xfrm>
            <a:off x="6126480" y="1051560"/>
            <a:ext cx="5669280" cy="347472"/>
          </a:xfrm>
          <a:prstGeom prst="rect">
            <a:avLst/>
          </a:prstGeom>
          <a:noFill/>
        </p:spPr>
        <p:txBody>
          <a:bodyPr wrap="square">
            <a:spAutoFit/>
          </a:bodyPr>
          <a:lstStyle/>
          <a:p>
            <a:pPr algn="l"/>
            <a:r>
              <a:rPr sz="1900" b="1" i="0">
                <a:solidFill>
                  <a:srgbClr val="345C8C"/>
                </a:solidFill>
                <a:latin typeface="Calibri"/>
              </a:rPr>
              <a:t>Muestreo y optimizacion</a:t>
            </a:r>
          </a:p>
        </p:txBody>
      </p:sp>
      <p:sp>
        <p:nvSpPr>
          <p:cNvPr id="22" name="TextBox 21"/>
          <p:cNvSpPr txBox="1"/>
          <p:nvPr/>
        </p:nvSpPr>
        <p:spPr>
          <a:xfrm>
            <a:off x="6126480" y="1463040"/>
            <a:ext cx="5669280" cy="3657600"/>
          </a:xfrm>
          <a:prstGeom prst="rect">
            <a:avLst/>
          </a:prstGeom>
          <a:noFill/>
        </p:spPr>
        <p:txBody>
          <a:bodyPr wrap="square">
            <a:spAutoFit/>
          </a:bodyPr>
          <a:lstStyle/>
          <a:p>
            <a:pPr>
              <a:spcBef>
                <a:spcPts val="600"/>
              </a:spcBef>
              <a:spcAft>
                <a:spcPts val="200"/>
              </a:spcAft>
            </a:pPr>
            <a:r>
              <a:rPr sz="1600">
                <a:solidFill>
                  <a:srgbClr val="2C2C2C"/>
                </a:solidFill>
                <a:latin typeface="Calibri"/>
              </a:rPr>
              <a:t>  Puntos interiores: LHS 3,000 pts (NB02/NB03)</a:t>
            </a:r>
          </a:p>
          <a:p>
            <a:pPr>
              <a:spcBef>
                <a:spcPts val="600"/>
              </a:spcBef>
              <a:spcAft>
                <a:spcPts val="200"/>
              </a:spcAft>
            </a:pPr>
            <a:r>
              <a:rPr sz="1600">
                <a:solidFill>
                  <a:srgbClr val="2C2C2C"/>
                </a:solidFill>
                <a:latin typeface="Calibri"/>
              </a:rPr>
              <a:t>    Cobertura uniforme sin patrones redundantes</a:t>
            </a:r>
          </a:p>
          <a:p>
            <a:pPr>
              <a:spcBef>
                <a:spcPts val="600"/>
              </a:spcBef>
              <a:spcAft>
                <a:spcPts val="200"/>
              </a:spcAft>
            </a:pPr>
            <a:r>
              <a:rPr sz="1600">
                <a:solidFill>
                  <a:srgbClr val="2C2C2C"/>
                </a:solidFill>
                <a:latin typeface="Calibri"/>
              </a:rPr>
              <a:t>  Puntos de frontera: 300 pts por borde (x 4 bordes)</a:t>
            </a:r>
          </a:p>
          <a:p>
            <a:pPr>
              <a:spcBef>
                <a:spcPts val="600"/>
              </a:spcBef>
              <a:spcAft>
                <a:spcPts val="200"/>
              </a:spcAft>
            </a:pPr>
            <a:r>
              <a:rPr sz="1600">
                <a:solidFill>
                  <a:srgbClr val="2C2C2C"/>
                </a:solidFill>
                <a:latin typeface="Calibri"/>
              </a:rPr>
              <a:t>  Peso de física: λ_fis = 0.1</a:t>
            </a:r>
          </a:p>
          <a:p>
            <a:pPr>
              <a:spcBef>
                <a:spcPts val="600"/>
              </a:spcBef>
              <a:spcAft>
                <a:spcPts val="200"/>
              </a:spcAft>
            </a:pPr>
            <a:r>
              <a:rPr sz="1600">
                <a:solidFill>
                  <a:srgbClr val="2C2C2C"/>
                </a:solidFill>
                <a:latin typeface="Calibri"/>
              </a:rPr>
              <a:t>    [Ablación: 0.01 → 0.1 (óptimo) → 1.0 (colapso)]</a:t>
            </a:r>
          </a:p>
          <a:p>
            <a:pPr>
              <a:spcBef>
                <a:spcPts val="600"/>
              </a:spcBef>
              <a:spcAft>
                <a:spcPts val="200"/>
              </a:spcAft>
            </a:pPr>
            <a:r>
              <a:rPr sz="1600">
                <a:solidFill>
                  <a:srgbClr val="2C2C2C"/>
                </a:solidFill>
                <a:latin typeface="Calibri"/>
              </a:rPr>
              <a:t>  </a:t>
            </a:r>
          </a:p>
          <a:p>
            <a:pPr>
              <a:spcBef>
                <a:spcPts val="600"/>
              </a:spcBef>
              <a:spcAft>
                <a:spcPts val="200"/>
              </a:spcAft>
            </a:pPr>
            <a:r>
              <a:rPr sz="1600">
                <a:solidFill>
                  <a:srgbClr val="2C2C2C"/>
                </a:solidFill>
                <a:latin typeface="Calibri"/>
              </a:rPr>
              <a:t>  Fase 1 - Adam:</a:t>
            </a:r>
          </a:p>
          <a:p>
            <a:pPr>
              <a:spcBef>
                <a:spcPts val="600"/>
              </a:spcBef>
              <a:spcAft>
                <a:spcPts val="200"/>
              </a:spcAft>
            </a:pPr>
            <a:r>
              <a:rPr sz="1600">
                <a:solidFill>
                  <a:srgbClr val="2C2C2C"/>
                </a:solidFill>
                <a:latin typeface="Calibri"/>
              </a:rPr>
              <a:t>    η = 10⁻³,  máx 15,000 épocas,  early stopping</a:t>
            </a:r>
          </a:p>
          <a:p>
            <a:pPr>
              <a:spcBef>
                <a:spcPts val="600"/>
              </a:spcBef>
              <a:spcAft>
                <a:spcPts val="200"/>
              </a:spcAft>
            </a:pPr>
            <a:r>
              <a:rPr sz="1600">
                <a:solidFill>
                  <a:srgbClr val="2C2C2C"/>
                </a:solidFill>
                <a:latin typeface="Calibri"/>
              </a:rPr>
              <a:t>  Fase 2 - L-BFGS (strong Wolfe):</a:t>
            </a:r>
          </a:p>
          <a:p>
            <a:pPr>
              <a:spcBef>
                <a:spcPts val="600"/>
              </a:spcBef>
              <a:spcAft>
                <a:spcPts val="200"/>
              </a:spcAft>
            </a:pPr>
            <a:r>
              <a:rPr sz="1600">
                <a:solidFill>
                  <a:srgbClr val="2C2C2C"/>
                </a:solidFill>
                <a:latin typeface="Calibri"/>
              </a:rPr>
              <a:t>    Max 1,000 iter,  historial 100</a:t>
            </a:r>
          </a:p>
          <a:p>
            <a:pPr>
              <a:spcBef>
                <a:spcPts val="600"/>
              </a:spcBef>
              <a:spcAft>
                <a:spcPts val="200"/>
              </a:spcAft>
            </a:pPr>
            <a:r>
              <a:rPr sz="1600">
                <a:solidFill>
                  <a:srgbClr val="2C2C2C"/>
                </a:solidFill>
                <a:latin typeface="Calibri"/>
              </a:rPr>
              <a:t>    Ajuste fino de alta precision con curvatura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713232"/>
          </a:xfrm>
          <a:prstGeom prst="rect">
            <a:avLst/>
          </a:prstGeom>
          <a:noFill/>
        </p:spPr>
        <p:txBody>
          <a:bodyPr wrap="square">
            <a:spAutoFit/>
          </a:bodyPr>
          <a:lstStyle/>
          <a:p>
            <a:pPr algn="l"/>
            <a:r>
              <a:rPr sz="2700" b="1" i="0">
                <a:solidFill>
                  <a:srgbClr val="FFFFFF"/>
                </a:solidFill>
                <a:latin typeface="Calibri"/>
              </a:rPr>
              <a:t>NB01: Validacion Helmholtz 1D - Comparacion con solucion analitica</a:t>
            </a:r>
          </a:p>
        </p:txBody>
      </p:sp>
      <p:sp>
        <p:nvSpPr>
          <p:cNvPr id="4" name="TextBox 3"/>
          <p:cNvSpPr txBox="1"/>
          <p:nvPr/>
        </p:nvSpPr>
        <p:spPr>
          <a:xfrm>
            <a:off x="365760" y="749808"/>
            <a:ext cx="11430000" cy="228600"/>
          </a:xfrm>
          <a:prstGeom prst="rect">
            <a:avLst/>
          </a:prstGeom>
          <a:noFill/>
        </p:spPr>
        <p:txBody>
          <a:bodyPr wrap="square">
            <a:spAutoFit/>
          </a:bodyPr>
          <a:lstStyle/>
          <a:p>
            <a:pPr algn="l"/>
            <a:r>
              <a:rPr sz="1200" b="0" i="1">
                <a:solidFill>
                  <a:srgbClr val="BBCFE5"/>
                </a:solidFill>
                <a:latin typeface="Calibri"/>
              </a:rPr>
              <a:t>SIREN 5×64  |  k = 2π  |  E_exacta(x) = cos(kx)  |  1,000 puntos de evaluación</a:t>
            </a:r>
          </a:p>
        </p:txBody>
      </p:sp>
      <p:sp>
        <p:nvSpPr>
          <p:cNvPr id="5" name="TextBox 4"/>
          <p:cNvSpPr txBox="1"/>
          <p:nvPr/>
        </p:nvSpPr>
        <p:spPr>
          <a:xfrm>
            <a:off x="11521440" y="6492240"/>
            <a:ext cx="548640" cy="274320"/>
          </a:xfrm>
          <a:prstGeom prst="rect">
            <a:avLst/>
          </a:prstGeom>
          <a:noFill/>
        </p:spPr>
        <p:txBody>
          <a:bodyPr wrap="square">
            <a:spAutoFit/>
          </a:bodyPr>
          <a:lstStyle/>
          <a:p>
            <a:pPr algn="r"/>
            <a:r>
              <a:rPr sz="1100" b="0" i="0">
                <a:solidFill>
                  <a:srgbClr val="AAAAAA"/>
                </a:solidFill>
                <a:latin typeface="Calibri"/>
              </a:rPr>
              <a:t>8</a:t>
            </a:r>
          </a:p>
        </p:txBody>
      </p:sp>
      <p:pic>
        <p:nvPicPr>
          <p:cNvPr id="6" name="Picture 5" descr="resultados_pinn_1d.png"/>
          <p:cNvPicPr>
            <a:picLocks noChangeAspect="1"/>
          </p:cNvPicPr>
          <p:nvPr/>
        </p:nvPicPr>
        <p:blipFill>
          <a:blip r:embed="rId2"/>
          <a:stretch>
            <a:fillRect/>
          </a:stretch>
        </p:blipFill>
        <p:spPr>
          <a:xfrm>
            <a:off x="228600" y="1024128"/>
            <a:ext cx="7818120" cy="5166360"/>
          </a:xfrm>
          <a:prstGeom prst="rect">
            <a:avLst/>
          </a:prstGeom>
        </p:spPr>
      </p:pic>
      <p:sp>
        <p:nvSpPr>
          <p:cNvPr id="7" name="TextBox 6"/>
          <p:cNvSpPr txBox="1"/>
          <p:nvPr/>
        </p:nvSpPr>
        <p:spPr>
          <a:xfrm>
            <a:off x="228600" y="6208776"/>
            <a:ext cx="7818120" cy="256032"/>
          </a:xfrm>
          <a:prstGeom prst="rect">
            <a:avLst/>
          </a:prstGeom>
          <a:noFill/>
        </p:spPr>
        <p:txBody>
          <a:bodyPr wrap="square">
            <a:spAutoFit/>
          </a:bodyPr>
          <a:lstStyle/>
          <a:p>
            <a:pPr algn="ctr"/>
            <a:r>
              <a:rPr sz="1000" b="0" i="1">
                <a:solidFill>
                  <a:srgbClr val="7A92AA"/>
                </a:solidFill>
                <a:latin typeface="Calibri"/>
              </a:rPr>
              <a:t>Fig. 4.1: PINN vs solucion analitica (arriba) - Error puntual (izq) - Curvas de perdida Adam+L-BFGS (der)</a:t>
            </a:r>
          </a:p>
        </p:txBody>
      </p:sp>
      <p:sp>
        <p:nvSpPr>
          <p:cNvPr id="8" name="TextBox 7"/>
          <p:cNvSpPr txBox="1"/>
          <p:nvPr/>
        </p:nvSpPr>
        <p:spPr>
          <a:xfrm>
            <a:off x="8229600" y="1051560"/>
            <a:ext cx="3657600" cy="347472"/>
          </a:xfrm>
          <a:prstGeom prst="rect">
            <a:avLst/>
          </a:prstGeom>
          <a:noFill/>
        </p:spPr>
        <p:txBody>
          <a:bodyPr wrap="square">
            <a:spAutoFit/>
          </a:bodyPr>
          <a:lstStyle/>
          <a:p>
            <a:pPr algn="l"/>
            <a:r>
              <a:rPr sz="1800" b="1" i="0">
                <a:solidFill>
                  <a:srgbClr val="345C8C"/>
                </a:solidFill>
                <a:latin typeface="Calibri"/>
              </a:rPr>
              <a:t>Metricas clave</a:t>
            </a:r>
          </a:p>
        </p:txBody>
      </p:sp>
      <p:sp>
        <p:nvSpPr>
          <p:cNvPr id="9" name="Rectangle 8"/>
          <p:cNvSpPr/>
          <p:nvPr/>
        </p:nvSpPr>
        <p:spPr>
          <a:xfrm>
            <a:off x="8229600" y="1444752"/>
            <a:ext cx="2011680" cy="1280160"/>
          </a:xfrm>
          <a:prstGeom prst="rect">
            <a:avLst/>
          </a:prstGeom>
          <a:solidFill>
            <a:srgbClr val="F0F2F5"/>
          </a:solidFill>
          <a:ln w="19050">
            <a:solidFill>
              <a:srgbClr val="34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1517904"/>
            <a:ext cx="1865376" cy="566928"/>
          </a:xfrm>
          <a:prstGeom prst="rect">
            <a:avLst/>
          </a:prstGeom>
          <a:noFill/>
        </p:spPr>
        <p:txBody>
          <a:bodyPr wrap="square">
            <a:spAutoFit/>
          </a:bodyPr>
          <a:lstStyle/>
          <a:p>
            <a:pPr algn="ctr"/>
            <a:r>
              <a:rPr sz="3000" b="1" i="0">
                <a:solidFill>
                  <a:srgbClr val="1B4F72"/>
                </a:solidFill>
                <a:latin typeface="Calibri"/>
              </a:rPr>
              <a:t>0.006%</a:t>
            </a:r>
          </a:p>
        </p:txBody>
      </p:sp>
      <p:sp>
        <p:nvSpPr>
          <p:cNvPr id="11" name="TextBox 10"/>
          <p:cNvSpPr txBox="1"/>
          <p:nvPr/>
        </p:nvSpPr>
        <p:spPr>
          <a:xfrm>
            <a:off x="8302752" y="2084832"/>
            <a:ext cx="1865376" cy="256032"/>
          </a:xfrm>
          <a:prstGeom prst="rect">
            <a:avLst/>
          </a:prstGeom>
          <a:noFill/>
        </p:spPr>
        <p:txBody>
          <a:bodyPr wrap="square">
            <a:spAutoFit/>
          </a:bodyPr>
          <a:lstStyle/>
          <a:p>
            <a:pPr algn="ctr"/>
            <a:r>
              <a:rPr sz="1200" b="0" i="0">
                <a:solidFill>
                  <a:srgbClr val="7A92AA"/>
                </a:solidFill>
                <a:latin typeface="Calibri"/>
              </a:rPr>
              <a:t>meta: &lt; 5%</a:t>
            </a:r>
          </a:p>
        </p:txBody>
      </p:sp>
      <p:sp>
        <p:nvSpPr>
          <p:cNvPr id="12" name="TextBox 11"/>
          <p:cNvSpPr txBox="1"/>
          <p:nvPr/>
        </p:nvSpPr>
        <p:spPr>
          <a:xfrm>
            <a:off x="8302752" y="2340864"/>
            <a:ext cx="1865376" cy="292608"/>
          </a:xfrm>
          <a:prstGeom prst="rect">
            <a:avLst/>
          </a:prstGeom>
          <a:noFill/>
        </p:spPr>
        <p:txBody>
          <a:bodyPr wrap="square">
            <a:spAutoFit/>
          </a:bodyPr>
          <a:lstStyle/>
          <a:p>
            <a:pPr algn="ctr"/>
            <a:r>
              <a:rPr sz="1200" b="1" i="0">
                <a:solidFill>
                  <a:srgbClr val="2C2C2C"/>
                </a:solidFill>
                <a:latin typeface="Calibri"/>
              </a:rPr>
              <a:t>Error L2</a:t>
            </a:r>
          </a:p>
        </p:txBody>
      </p:sp>
      <p:sp>
        <p:nvSpPr>
          <p:cNvPr id="13" name="Rectangle 12"/>
          <p:cNvSpPr/>
          <p:nvPr/>
        </p:nvSpPr>
        <p:spPr>
          <a:xfrm>
            <a:off x="10378440" y="1444752"/>
            <a:ext cx="2011680" cy="1280160"/>
          </a:xfrm>
          <a:prstGeom prst="rect">
            <a:avLst/>
          </a:prstGeom>
          <a:solidFill>
            <a:srgbClr val="F0F2F5"/>
          </a:solidFill>
          <a:ln w="19050">
            <a:solidFill>
              <a:srgbClr val="34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51592" y="1517904"/>
            <a:ext cx="1865376" cy="566928"/>
          </a:xfrm>
          <a:prstGeom prst="rect">
            <a:avLst/>
          </a:prstGeom>
          <a:noFill/>
        </p:spPr>
        <p:txBody>
          <a:bodyPr wrap="square">
            <a:spAutoFit/>
          </a:bodyPr>
          <a:lstStyle/>
          <a:p>
            <a:pPr algn="ctr"/>
            <a:r>
              <a:rPr sz="3000" b="1" i="0">
                <a:solidFill>
                  <a:srgbClr val="1B4F72"/>
                </a:solidFill>
                <a:latin typeface="Calibri"/>
              </a:rPr>
              <a:t>1.000000</a:t>
            </a:r>
          </a:p>
        </p:txBody>
      </p:sp>
      <p:sp>
        <p:nvSpPr>
          <p:cNvPr id="15" name="TextBox 14"/>
          <p:cNvSpPr txBox="1"/>
          <p:nvPr/>
        </p:nvSpPr>
        <p:spPr>
          <a:xfrm>
            <a:off x="10451592" y="2084832"/>
            <a:ext cx="1865376" cy="256032"/>
          </a:xfrm>
          <a:prstGeom prst="rect">
            <a:avLst/>
          </a:prstGeom>
          <a:noFill/>
        </p:spPr>
        <p:txBody>
          <a:bodyPr wrap="square">
            <a:spAutoFit/>
          </a:bodyPr>
          <a:lstStyle/>
          <a:p>
            <a:pPr algn="ctr"/>
            <a:r>
              <a:rPr sz="1200" b="0" i="0">
                <a:solidFill>
                  <a:srgbClr val="7A92AA"/>
                </a:solidFill>
                <a:latin typeface="Calibri"/>
              </a:rPr>
              <a:t>ajuste perfecto</a:t>
            </a:r>
          </a:p>
        </p:txBody>
      </p:sp>
      <p:sp>
        <p:nvSpPr>
          <p:cNvPr id="16" name="TextBox 15"/>
          <p:cNvSpPr txBox="1"/>
          <p:nvPr/>
        </p:nvSpPr>
        <p:spPr>
          <a:xfrm>
            <a:off x="10451592" y="2340864"/>
            <a:ext cx="1865376" cy="292608"/>
          </a:xfrm>
          <a:prstGeom prst="rect">
            <a:avLst/>
          </a:prstGeom>
          <a:noFill/>
        </p:spPr>
        <p:txBody>
          <a:bodyPr wrap="square">
            <a:spAutoFit/>
          </a:bodyPr>
          <a:lstStyle/>
          <a:p>
            <a:pPr algn="ctr"/>
            <a:r>
              <a:rPr sz="1200" b="1" i="0">
                <a:solidFill>
                  <a:srgbClr val="2C2C2C"/>
                </a:solidFill>
                <a:latin typeface="Calibri"/>
              </a:rPr>
              <a:t>R cuadrado</a:t>
            </a:r>
          </a:p>
        </p:txBody>
      </p:sp>
      <p:sp>
        <p:nvSpPr>
          <p:cNvPr id="17" name="Rectangle 16"/>
          <p:cNvSpPr/>
          <p:nvPr/>
        </p:nvSpPr>
        <p:spPr>
          <a:xfrm>
            <a:off x="8229600" y="2852928"/>
            <a:ext cx="2011680" cy="1280160"/>
          </a:xfrm>
          <a:prstGeom prst="rect">
            <a:avLst/>
          </a:prstGeom>
          <a:solidFill>
            <a:srgbClr val="F0F2F5"/>
          </a:solidFill>
          <a:ln w="19050">
            <a:solidFill>
              <a:srgbClr val="34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2926080"/>
            <a:ext cx="1865376" cy="566928"/>
          </a:xfrm>
          <a:prstGeom prst="rect">
            <a:avLst/>
          </a:prstGeom>
          <a:noFill/>
        </p:spPr>
        <p:txBody>
          <a:bodyPr wrap="square">
            <a:spAutoFit/>
          </a:bodyPr>
          <a:lstStyle/>
          <a:p>
            <a:pPr algn="ctr"/>
            <a:r>
              <a:rPr sz="3000" b="1" i="0">
                <a:solidFill>
                  <a:srgbClr val="1B4F72"/>
                </a:solidFill>
                <a:latin typeface="Calibri"/>
              </a:rPr>
              <a:t>202 iter</a:t>
            </a:r>
          </a:p>
        </p:txBody>
      </p:sp>
      <p:sp>
        <p:nvSpPr>
          <p:cNvPr id="19" name="TextBox 18"/>
          <p:cNvSpPr txBox="1"/>
          <p:nvPr/>
        </p:nvSpPr>
        <p:spPr>
          <a:xfrm>
            <a:off x="8302752" y="3493008"/>
            <a:ext cx="1865376" cy="256032"/>
          </a:xfrm>
          <a:prstGeom prst="rect">
            <a:avLst/>
          </a:prstGeom>
          <a:noFill/>
        </p:spPr>
        <p:txBody>
          <a:bodyPr wrap="square">
            <a:spAutoFit/>
          </a:bodyPr>
          <a:lstStyle/>
          <a:p>
            <a:pPr algn="ctr"/>
            <a:r>
              <a:rPr sz="1200" b="0" i="0">
                <a:solidFill>
                  <a:srgbClr val="7A92AA"/>
                </a:solidFill>
                <a:latin typeface="Calibri"/>
              </a:rPr>
              <a:t>de 500 max</a:t>
            </a:r>
          </a:p>
        </p:txBody>
      </p:sp>
      <p:sp>
        <p:nvSpPr>
          <p:cNvPr id="20" name="TextBox 19"/>
          <p:cNvSpPr txBox="1"/>
          <p:nvPr/>
        </p:nvSpPr>
        <p:spPr>
          <a:xfrm>
            <a:off x="8302752" y="3749040"/>
            <a:ext cx="1865376" cy="292608"/>
          </a:xfrm>
          <a:prstGeom prst="rect">
            <a:avLst/>
          </a:prstGeom>
          <a:noFill/>
        </p:spPr>
        <p:txBody>
          <a:bodyPr wrap="square">
            <a:spAutoFit/>
          </a:bodyPr>
          <a:lstStyle/>
          <a:p>
            <a:pPr algn="ctr"/>
            <a:r>
              <a:rPr sz="1200" b="1" i="0">
                <a:solidFill>
                  <a:srgbClr val="2C2C2C"/>
                </a:solidFill>
                <a:latin typeface="Calibri"/>
              </a:rPr>
              <a:t>L-BFGS</a:t>
            </a:r>
          </a:p>
        </p:txBody>
      </p:sp>
      <p:sp>
        <p:nvSpPr>
          <p:cNvPr id="21" name="Rectangle 20"/>
          <p:cNvSpPr/>
          <p:nvPr/>
        </p:nvSpPr>
        <p:spPr>
          <a:xfrm>
            <a:off x="10378440" y="2852928"/>
            <a:ext cx="2011680" cy="1280160"/>
          </a:xfrm>
          <a:prstGeom prst="rect">
            <a:avLst/>
          </a:prstGeom>
          <a:solidFill>
            <a:srgbClr val="F0F2F5"/>
          </a:solidFill>
          <a:ln w="19050">
            <a:solidFill>
              <a:srgbClr val="34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451592" y="2926080"/>
            <a:ext cx="1865376" cy="566928"/>
          </a:xfrm>
          <a:prstGeom prst="rect">
            <a:avLst/>
          </a:prstGeom>
          <a:noFill/>
        </p:spPr>
        <p:txBody>
          <a:bodyPr wrap="square">
            <a:spAutoFit/>
          </a:bodyPr>
          <a:lstStyle/>
          <a:p>
            <a:pPr algn="ctr"/>
            <a:r>
              <a:rPr sz="3000" b="1" i="0">
                <a:solidFill>
                  <a:srgbClr val="1B4F72"/>
                </a:solidFill>
                <a:latin typeface="Calibri"/>
              </a:rPr>
              <a:t>251 s</a:t>
            </a:r>
          </a:p>
        </p:txBody>
      </p:sp>
      <p:sp>
        <p:nvSpPr>
          <p:cNvPr id="23" name="TextBox 22"/>
          <p:cNvSpPr txBox="1"/>
          <p:nvPr/>
        </p:nvSpPr>
        <p:spPr>
          <a:xfrm>
            <a:off x="10451592" y="3493008"/>
            <a:ext cx="1865376" cy="256032"/>
          </a:xfrm>
          <a:prstGeom prst="rect">
            <a:avLst/>
          </a:prstGeom>
          <a:noFill/>
        </p:spPr>
        <p:txBody>
          <a:bodyPr wrap="square">
            <a:spAutoFit/>
          </a:bodyPr>
          <a:lstStyle/>
          <a:p>
            <a:pPr algn="ctr"/>
            <a:r>
              <a:rPr sz="1200" b="0" i="0">
                <a:solidFill>
                  <a:srgbClr val="7A92AA"/>
                </a:solidFill>
                <a:latin typeface="Calibri"/>
              </a:rPr>
              <a:t>total</a:t>
            </a:r>
          </a:p>
        </p:txBody>
      </p:sp>
      <p:sp>
        <p:nvSpPr>
          <p:cNvPr id="24" name="TextBox 23"/>
          <p:cNvSpPr txBox="1"/>
          <p:nvPr/>
        </p:nvSpPr>
        <p:spPr>
          <a:xfrm>
            <a:off x="10451592" y="3749040"/>
            <a:ext cx="1865376" cy="292608"/>
          </a:xfrm>
          <a:prstGeom prst="rect">
            <a:avLst/>
          </a:prstGeom>
          <a:noFill/>
        </p:spPr>
        <p:txBody>
          <a:bodyPr wrap="square">
            <a:spAutoFit/>
          </a:bodyPr>
          <a:lstStyle/>
          <a:p>
            <a:pPr algn="ctr"/>
            <a:r>
              <a:rPr sz="1200" b="1" i="0">
                <a:solidFill>
                  <a:srgbClr val="2C2C2C"/>
                </a:solidFill>
                <a:latin typeface="Calibri"/>
              </a:rPr>
              <a:t>Tiempo</a:t>
            </a:r>
          </a:p>
        </p:txBody>
      </p:sp>
      <p:sp>
        <p:nvSpPr>
          <p:cNvPr id="25" name="Rectangle 24"/>
          <p:cNvSpPr/>
          <p:nvPr/>
        </p:nvSpPr>
        <p:spPr>
          <a:xfrm>
            <a:off x="8229600" y="4251960"/>
            <a:ext cx="3749039" cy="1417320"/>
          </a:xfrm>
          <a:prstGeom prst="rect">
            <a:avLst/>
          </a:prstGeom>
          <a:solidFill>
            <a:srgbClr val="E8F4EA"/>
          </a:solidFill>
          <a:ln w="1270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40" y="4315968"/>
            <a:ext cx="3566160" cy="320040"/>
          </a:xfrm>
          <a:prstGeom prst="rect">
            <a:avLst/>
          </a:prstGeom>
          <a:noFill/>
        </p:spPr>
        <p:txBody>
          <a:bodyPr wrap="square">
            <a:spAutoFit/>
          </a:bodyPr>
          <a:lstStyle/>
          <a:p>
            <a:pPr algn="l"/>
            <a:r>
              <a:rPr sz="1400" b="1" i="0">
                <a:solidFill>
                  <a:srgbClr val="1A5C2A"/>
                </a:solidFill>
                <a:latin typeface="Calibri"/>
              </a:rPr>
              <a:t>Mejora vs. estado del arte:</a:t>
            </a:r>
          </a:p>
        </p:txBody>
      </p:sp>
      <p:sp>
        <p:nvSpPr>
          <p:cNvPr id="27" name="TextBox 26"/>
          <p:cNvSpPr txBox="1"/>
          <p:nvPr/>
        </p:nvSpPr>
        <p:spPr>
          <a:xfrm>
            <a:off x="8321040" y="4617720"/>
            <a:ext cx="3566160" cy="914400"/>
          </a:xfrm>
          <a:prstGeom prst="rect">
            <a:avLst/>
          </a:prstGeom>
          <a:noFill/>
        </p:spPr>
        <p:txBody>
          <a:bodyPr wrap="square">
            <a:spAutoFit/>
          </a:bodyPr>
          <a:lstStyle/>
          <a:p>
            <a:pPr algn="ctr"/>
            <a:r>
              <a:rPr sz="2000" b="1" i="0">
                <a:solidFill>
                  <a:srgbClr val="1A5C2A"/>
                </a:solidFill>
                <a:latin typeface="Calibri"/>
              </a:rPr>
              <a:t>×415 vs Schoder &amp; Kraxberger
(2024): error 2.49%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713232"/>
          </a:xfrm>
          <a:prstGeom prst="rect">
            <a:avLst/>
          </a:prstGeom>
          <a:noFill/>
        </p:spPr>
        <p:txBody>
          <a:bodyPr wrap="square">
            <a:spAutoFit/>
          </a:bodyPr>
          <a:lstStyle/>
          <a:p>
            <a:pPr algn="l"/>
            <a:r>
              <a:rPr sz="2700" b="1" i="0">
                <a:solidFill>
                  <a:srgbClr val="FFFFFF"/>
                </a:solidFill>
                <a:latin typeface="Calibri"/>
              </a:rPr>
              <a:t>NB01: Analisis detallado de error y convergencia</a:t>
            </a:r>
          </a:p>
        </p:txBody>
      </p:sp>
      <p:sp>
        <p:nvSpPr>
          <p:cNvPr id="4" name="TextBox 3"/>
          <p:cNvSpPr txBox="1"/>
          <p:nvPr/>
        </p:nvSpPr>
        <p:spPr>
          <a:xfrm>
            <a:off x="11521440" y="6492240"/>
            <a:ext cx="548640" cy="274320"/>
          </a:xfrm>
          <a:prstGeom prst="rect">
            <a:avLst/>
          </a:prstGeom>
          <a:noFill/>
        </p:spPr>
        <p:txBody>
          <a:bodyPr wrap="square">
            <a:spAutoFit/>
          </a:bodyPr>
          <a:lstStyle/>
          <a:p>
            <a:pPr algn="r"/>
            <a:r>
              <a:rPr sz="1100" b="0" i="0">
                <a:solidFill>
                  <a:srgbClr val="AAAAAA"/>
                </a:solidFill>
                <a:latin typeface="Calibri"/>
              </a:rPr>
              <a:t>9</a:t>
            </a:r>
          </a:p>
        </p:txBody>
      </p:sp>
      <p:pic>
        <p:nvPicPr>
          <p:cNvPr id="5" name="Picture 4" descr="metricas_adicionales_1d.png"/>
          <p:cNvPicPr>
            <a:picLocks noChangeAspect="1"/>
          </p:cNvPicPr>
          <p:nvPr/>
        </p:nvPicPr>
        <p:blipFill>
          <a:blip r:embed="rId2"/>
          <a:stretch>
            <a:fillRect/>
          </a:stretch>
        </p:blipFill>
        <p:spPr>
          <a:xfrm>
            <a:off x="228600" y="1024128"/>
            <a:ext cx="11704320" cy="4846320"/>
          </a:xfrm>
          <a:prstGeom prst="rect">
            <a:avLst/>
          </a:prstGeom>
        </p:spPr>
      </p:pic>
      <p:sp>
        <p:nvSpPr>
          <p:cNvPr id="6" name="TextBox 5"/>
          <p:cNvSpPr txBox="1"/>
          <p:nvPr/>
        </p:nvSpPr>
        <p:spPr>
          <a:xfrm>
            <a:off x="228600" y="5888736"/>
            <a:ext cx="11704320" cy="256032"/>
          </a:xfrm>
          <a:prstGeom prst="rect">
            <a:avLst/>
          </a:prstGeom>
          <a:noFill/>
        </p:spPr>
        <p:txBody>
          <a:bodyPr wrap="square">
            <a:spAutoFit/>
          </a:bodyPr>
          <a:lstStyle/>
          <a:p>
            <a:pPr algn="ctr"/>
            <a:r>
              <a:rPr sz="1000" b="0" i="1">
                <a:solidFill>
                  <a:srgbClr val="7A92AA"/>
                </a:solidFill>
                <a:latin typeface="Calibri"/>
              </a:rPr>
              <a:t>Fig. 4.2: Histograma de error absoluto (izq) - Error relativo puntual (centro) - Correlacion PINN vs Exacta: R2 = 1.000000, Pearson = 1.000000 (der)</a:t>
            </a:r>
          </a:p>
        </p:txBody>
      </p:sp>
      <p:sp>
        <p:nvSpPr>
          <p:cNvPr id="7" name="TextBox 6"/>
          <p:cNvSpPr txBox="1"/>
          <p:nvPr/>
        </p:nvSpPr>
        <p:spPr>
          <a:xfrm>
            <a:off x="457200" y="5961888"/>
            <a:ext cx="11247120" cy="320040"/>
          </a:xfrm>
          <a:prstGeom prst="rect">
            <a:avLst/>
          </a:prstGeom>
          <a:noFill/>
        </p:spPr>
        <p:txBody>
          <a:bodyPr wrap="square">
            <a:spAutoFit/>
          </a:bodyPr>
          <a:lstStyle/>
          <a:p>
            <a:pPr algn="ctr"/>
            <a:r>
              <a:rPr sz="1400" b="0" i="1">
                <a:solidFill>
                  <a:srgbClr val="345C8C"/>
                </a:solidFill>
                <a:latin typeface="Calibri"/>
              </a:rPr>
              <a:t>Error maximo = 5.77e-5   |   MAE = 3.50e-5   |   Adam: 15,000 epocas   |   L-BFGS: 202 iteraciones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713232"/>
          </a:xfrm>
          <a:prstGeom prst="rect">
            <a:avLst/>
          </a:prstGeom>
          <a:noFill/>
        </p:spPr>
        <p:txBody>
          <a:bodyPr wrap="square">
            <a:spAutoFit/>
          </a:bodyPr>
          <a:lstStyle/>
          <a:p>
            <a:pPr algn="l"/>
            <a:r>
              <a:rPr sz="2700" b="1" i="0">
                <a:solidFill>
                  <a:srgbClr val="FFFFFF"/>
                </a:solidFill>
                <a:latin typeface="Calibri"/>
              </a:rPr>
              <a:t>NB02: Helmholtz 2D con campo complejo</a:t>
            </a:r>
          </a:p>
        </p:txBody>
      </p:sp>
      <p:sp>
        <p:nvSpPr>
          <p:cNvPr id="4" name="TextBox 3"/>
          <p:cNvSpPr txBox="1"/>
          <p:nvPr/>
        </p:nvSpPr>
        <p:spPr>
          <a:xfrm>
            <a:off x="365760" y="749808"/>
            <a:ext cx="11430000" cy="228600"/>
          </a:xfrm>
          <a:prstGeom prst="rect">
            <a:avLst/>
          </a:prstGeom>
          <a:noFill/>
        </p:spPr>
        <p:txBody>
          <a:bodyPr wrap="square">
            <a:spAutoFit/>
          </a:bodyPr>
          <a:lstStyle/>
          <a:p>
            <a:pPr algn="l"/>
            <a:r>
              <a:rPr sz="1200" b="0" i="1">
                <a:solidFill>
                  <a:srgbClr val="BBCFE5"/>
                </a:solidFill>
                <a:latin typeface="Calibri"/>
              </a:rPr>
              <a:t>SIREN 5×128  |  k = 2π  |  LHS 3,000 pts  |  E_exacta = e^(i(kₓx + k_yy))</a:t>
            </a:r>
          </a:p>
        </p:txBody>
      </p:sp>
      <p:sp>
        <p:nvSpPr>
          <p:cNvPr id="5" name="TextBox 4"/>
          <p:cNvSpPr txBox="1"/>
          <p:nvPr/>
        </p:nvSpPr>
        <p:spPr>
          <a:xfrm>
            <a:off x="11521440" y="6492240"/>
            <a:ext cx="548640" cy="274320"/>
          </a:xfrm>
          <a:prstGeom prst="rect">
            <a:avLst/>
          </a:prstGeom>
          <a:noFill/>
        </p:spPr>
        <p:txBody>
          <a:bodyPr wrap="square">
            <a:spAutoFit/>
          </a:bodyPr>
          <a:lstStyle/>
          <a:p>
            <a:pPr algn="r"/>
            <a:r>
              <a:rPr sz="1100" b="0" i="0">
                <a:solidFill>
                  <a:srgbClr val="AAAAAA"/>
                </a:solidFill>
                <a:latin typeface="Calibri"/>
              </a:rPr>
              <a:t>10</a:t>
            </a:r>
          </a:p>
        </p:txBody>
      </p:sp>
      <p:pic>
        <p:nvPicPr>
          <p:cNvPr id="6" name="Picture 5" descr="resultados_pinn_2d.png"/>
          <p:cNvPicPr>
            <a:picLocks noChangeAspect="1"/>
          </p:cNvPicPr>
          <p:nvPr/>
        </p:nvPicPr>
        <p:blipFill>
          <a:blip r:embed="rId2"/>
          <a:stretch>
            <a:fillRect/>
          </a:stretch>
        </p:blipFill>
        <p:spPr>
          <a:xfrm>
            <a:off x="182880" y="1024128"/>
            <a:ext cx="7955279" cy="5212080"/>
          </a:xfrm>
          <a:prstGeom prst="rect">
            <a:avLst/>
          </a:prstGeom>
        </p:spPr>
      </p:pic>
      <p:sp>
        <p:nvSpPr>
          <p:cNvPr id="7" name="TextBox 6"/>
          <p:cNvSpPr txBox="1"/>
          <p:nvPr/>
        </p:nvSpPr>
        <p:spPr>
          <a:xfrm>
            <a:off x="182880" y="6254496"/>
            <a:ext cx="7955279" cy="256032"/>
          </a:xfrm>
          <a:prstGeom prst="rect">
            <a:avLst/>
          </a:prstGeom>
          <a:noFill/>
        </p:spPr>
        <p:txBody>
          <a:bodyPr wrap="square">
            <a:spAutoFit/>
          </a:bodyPr>
          <a:lstStyle/>
          <a:p>
            <a:pPr algn="ctr"/>
            <a:r>
              <a:rPr sz="1000" b="0" i="1">
                <a:solidFill>
                  <a:srgbClr val="7A92AA"/>
                </a:solidFill>
                <a:latin typeface="Calibri"/>
              </a:rPr>
              <a:t>Fig. 4.3: E_real y E_imag — solución exacta (fila sup.) vs predicción PINN (fila inf.) — Intensidad I=|E|², puntos LHS y curvas de pérdida</a:t>
            </a:r>
          </a:p>
        </p:txBody>
      </p:sp>
      <p:sp>
        <p:nvSpPr>
          <p:cNvPr id="8" name="TextBox 7"/>
          <p:cNvSpPr txBox="1"/>
          <p:nvPr/>
        </p:nvSpPr>
        <p:spPr>
          <a:xfrm>
            <a:off x="8321040" y="1051560"/>
            <a:ext cx="3657600" cy="347472"/>
          </a:xfrm>
          <a:prstGeom prst="rect">
            <a:avLst/>
          </a:prstGeom>
          <a:noFill/>
        </p:spPr>
        <p:txBody>
          <a:bodyPr wrap="square">
            <a:spAutoFit/>
          </a:bodyPr>
          <a:lstStyle/>
          <a:p>
            <a:pPr algn="l"/>
            <a:r>
              <a:rPr sz="1800" b="1" i="0">
                <a:solidFill>
                  <a:srgbClr val="345C8C"/>
                </a:solidFill>
                <a:latin typeface="Calibri"/>
              </a:rPr>
              <a:t>Metricas NB02</a:t>
            </a:r>
          </a:p>
        </p:txBody>
      </p:sp>
      <p:sp>
        <p:nvSpPr>
          <p:cNvPr id="9" name="Rectangle 8"/>
          <p:cNvSpPr/>
          <p:nvPr/>
        </p:nvSpPr>
        <p:spPr>
          <a:xfrm>
            <a:off x="8321040" y="1463040"/>
            <a:ext cx="3657600" cy="438912"/>
          </a:xfrm>
          <a:prstGeom prst="rect">
            <a:avLst/>
          </a:prstGeom>
          <a:solidFill>
            <a:srgbClr val="345C8C"/>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66760" y="1527048"/>
            <a:ext cx="1554480" cy="320040"/>
          </a:xfrm>
          <a:prstGeom prst="rect">
            <a:avLst/>
          </a:prstGeom>
          <a:noFill/>
        </p:spPr>
        <p:txBody>
          <a:bodyPr wrap="square">
            <a:spAutoFit/>
          </a:bodyPr>
          <a:lstStyle/>
          <a:p>
            <a:pPr algn="l"/>
            <a:r>
              <a:rPr sz="1200" b="1" i="0">
                <a:solidFill>
                  <a:srgbClr val="FFFFFF"/>
                </a:solidFill>
                <a:latin typeface="Calibri"/>
              </a:rPr>
              <a:t>Metrica</a:t>
            </a:r>
          </a:p>
        </p:txBody>
      </p:sp>
      <p:sp>
        <p:nvSpPr>
          <p:cNvPr id="11" name="TextBox 10"/>
          <p:cNvSpPr txBox="1"/>
          <p:nvPr/>
        </p:nvSpPr>
        <p:spPr>
          <a:xfrm>
            <a:off x="9966960" y="1527048"/>
            <a:ext cx="1005840" cy="320040"/>
          </a:xfrm>
          <a:prstGeom prst="rect">
            <a:avLst/>
          </a:prstGeom>
          <a:noFill/>
        </p:spPr>
        <p:txBody>
          <a:bodyPr wrap="square">
            <a:spAutoFit/>
          </a:bodyPr>
          <a:lstStyle/>
          <a:p>
            <a:pPr algn="ctr"/>
            <a:r>
              <a:rPr sz="1200" b="1" i="0">
                <a:solidFill>
                  <a:srgbClr val="FFFFFF"/>
                </a:solidFill>
                <a:latin typeface="Calibri"/>
              </a:rPr>
              <a:t>E_real</a:t>
            </a:r>
          </a:p>
        </p:txBody>
      </p:sp>
      <p:sp>
        <p:nvSpPr>
          <p:cNvPr id="12" name="TextBox 11"/>
          <p:cNvSpPr txBox="1"/>
          <p:nvPr/>
        </p:nvSpPr>
        <p:spPr>
          <a:xfrm>
            <a:off x="11018520" y="1527048"/>
            <a:ext cx="868680" cy="320040"/>
          </a:xfrm>
          <a:prstGeom prst="rect">
            <a:avLst/>
          </a:prstGeom>
          <a:noFill/>
        </p:spPr>
        <p:txBody>
          <a:bodyPr wrap="square">
            <a:spAutoFit/>
          </a:bodyPr>
          <a:lstStyle/>
          <a:p>
            <a:pPr algn="ctr"/>
            <a:r>
              <a:rPr sz="1200" b="1" i="0">
                <a:solidFill>
                  <a:srgbClr val="FFFFFF"/>
                </a:solidFill>
                <a:latin typeface="Calibri"/>
              </a:rPr>
              <a:t>E_imag</a:t>
            </a:r>
          </a:p>
        </p:txBody>
      </p:sp>
      <p:sp>
        <p:nvSpPr>
          <p:cNvPr id="13" name="Rectangle 12"/>
          <p:cNvSpPr/>
          <p:nvPr/>
        </p:nvSpPr>
        <p:spPr>
          <a:xfrm>
            <a:off x="8321040" y="1920240"/>
            <a:ext cx="3657600" cy="438912"/>
          </a:xfrm>
          <a:prstGeom prst="rect">
            <a:avLst/>
          </a:prstGeom>
          <a:solidFill>
            <a:srgbClr val="FFFFFF"/>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6760" y="1984248"/>
            <a:ext cx="1554480" cy="320040"/>
          </a:xfrm>
          <a:prstGeom prst="rect">
            <a:avLst/>
          </a:prstGeom>
          <a:noFill/>
        </p:spPr>
        <p:txBody>
          <a:bodyPr wrap="square">
            <a:spAutoFit/>
          </a:bodyPr>
          <a:lstStyle/>
          <a:p>
            <a:pPr algn="l"/>
            <a:r>
              <a:rPr sz="1200" b="0" i="0">
                <a:solidFill>
                  <a:srgbClr val="2C2C2C"/>
                </a:solidFill>
                <a:latin typeface="Calibri"/>
              </a:rPr>
              <a:t>Error L2 (%)</a:t>
            </a:r>
          </a:p>
        </p:txBody>
      </p:sp>
      <p:sp>
        <p:nvSpPr>
          <p:cNvPr id="15" name="TextBox 14"/>
          <p:cNvSpPr txBox="1"/>
          <p:nvPr/>
        </p:nvSpPr>
        <p:spPr>
          <a:xfrm>
            <a:off x="9966960" y="1984248"/>
            <a:ext cx="1005840" cy="320040"/>
          </a:xfrm>
          <a:prstGeom prst="rect">
            <a:avLst/>
          </a:prstGeom>
          <a:noFill/>
        </p:spPr>
        <p:txBody>
          <a:bodyPr wrap="square">
            <a:spAutoFit/>
          </a:bodyPr>
          <a:lstStyle/>
          <a:p>
            <a:pPr algn="ctr"/>
            <a:r>
              <a:rPr sz="1200" b="0" i="0">
                <a:solidFill>
                  <a:srgbClr val="2C2C2C"/>
                </a:solidFill>
                <a:latin typeface="Calibri"/>
              </a:rPr>
              <a:t>0.214</a:t>
            </a:r>
          </a:p>
        </p:txBody>
      </p:sp>
      <p:sp>
        <p:nvSpPr>
          <p:cNvPr id="16" name="TextBox 15"/>
          <p:cNvSpPr txBox="1"/>
          <p:nvPr/>
        </p:nvSpPr>
        <p:spPr>
          <a:xfrm>
            <a:off x="11018520" y="1984248"/>
            <a:ext cx="868680" cy="320040"/>
          </a:xfrm>
          <a:prstGeom prst="rect">
            <a:avLst/>
          </a:prstGeom>
          <a:noFill/>
        </p:spPr>
        <p:txBody>
          <a:bodyPr wrap="square">
            <a:spAutoFit/>
          </a:bodyPr>
          <a:lstStyle/>
          <a:p>
            <a:pPr algn="ctr"/>
            <a:r>
              <a:rPr sz="1200" b="0" i="0">
                <a:solidFill>
                  <a:srgbClr val="2C2C2C"/>
                </a:solidFill>
                <a:latin typeface="Calibri"/>
              </a:rPr>
              <a:t>0.127</a:t>
            </a:r>
          </a:p>
        </p:txBody>
      </p:sp>
      <p:sp>
        <p:nvSpPr>
          <p:cNvPr id="17" name="Rectangle 16"/>
          <p:cNvSpPr/>
          <p:nvPr/>
        </p:nvSpPr>
        <p:spPr>
          <a:xfrm>
            <a:off x="8321040" y="2377440"/>
            <a:ext cx="3657600" cy="438912"/>
          </a:xfrm>
          <a:prstGeom prst="rect">
            <a:avLst/>
          </a:prstGeom>
          <a:solidFill>
            <a:srgbClr val="F0F2F5"/>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66760" y="2441448"/>
            <a:ext cx="1554480" cy="320040"/>
          </a:xfrm>
          <a:prstGeom prst="rect">
            <a:avLst/>
          </a:prstGeom>
          <a:noFill/>
        </p:spPr>
        <p:txBody>
          <a:bodyPr wrap="square">
            <a:spAutoFit/>
          </a:bodyPr>
          <a:lstStyle/>
          <a:p>
            <a:pPr algn="l"/>
            <a:r>
              <a:rPr sz="1200" b="0" i="0">
                <a:solidFill>
                  <a:srgbClr val="2C2C2C"/>
                </a:solidFill>
                <a:latin typeface="Calibri"/>
              </a:rPr>
              <a:t>R cuadrado</a:t>
            </a:r>
          </a:p>
        </p:txBody>
      </p:sp>
      <p:sp>
        <p:nvSpPr>
          <p:cNvPr id="19" name="TextBox 18"/>
          <p:cNvSpPr txBox="1"/>
          <p:nvPr/>
        </p:nvSpPr>
        <p:spPr>
          <a:xfrm>
            <a:off x="9966960" y="2441448"/>
            <a:ext cx="1005840" cy="320040"/>
          </a:xfrm>
          <a:prstGeom prst="rect">
            <a:avLst/>
          </a:prstGeom>
          <a:noFill/>
        </p:spPr>
        <p:txBody>
          <a:bodyPr wrap="square">
            <a:spAutoFit/>
          </a:bodyPr>
          <a:lstStyle/>
          <a:p>
            <a:pPr algn="ctr"/>
            <a:r>
              <a:rPr sz="1200" b="0" i="0">
                <a:solidFill>
                  <a:srgbClr val="2C2C2C"/>
                </a:solidFill>
                <a:latin typeface="Calibri"/>
              </a:rPr>
              <a:t>0.999995</a:t>
            </a:r>
          </a:p>
        </p:txBody>
      </p:sp>
      <p:sp>
        <p:nvSpPr>
          <p:cNvPr id="20" name="TextBox 19"/>
          <p:cNvSpPr txBox="1"/>
          <p:nvPr/>
        </p:nvSpPr>
        <p:spPr>
          <a:xfrm>
            <a:off x="11018520" y="2441448"/>
            <a:ext cx="868680" cy="320040"/>
          </a:xfrm>
          <a:prstGeom prst="rect">
            <a:avLst/>
          </a:prstGeom>
          <a:noFill/>
        </p:spPr>
        <p:txBody>
          <a:bodyPr wrap="square">
            <a:spAutoFit/>
          </a:bodyPr>
          <a:lstStyle/>
          <a:p>
            <a:pPr algn="ctr"/>
            <a:r>
              <a:rPr sz="1200" b="0" i="0">
                <a:solidFill>
                  <a:srgbClr val="2C2C2C"/>
                </a:solidFill>
                <a:latin typeface="Calibri"/>
              </a:rPr>
              <a:t>0.999998</a:t>
            </a:r>
          </a:p>
        </p:txBody>
      </p:sp>
      <p:sp>
        <p:nvSpPr>
          <p:cNvPr id="21" name="Rectangle 20"/>
          <p:cNvSpPr/>
          <p:nvPr/>
        </p:nvSpPr>
        <p:spPr>
          <a:xfrm>
            <a:off x="8321040" y="2834640"/>
            <a:ext cx="3657600" cy="438912"/>
          </a:xfrm>
          <a:prstGeom prst="rect">
            <a:avLst/>
          </a:prstGeom>
          <a:solidFill>
            <a:srgbClr val="FFFFFF"/>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2898648"/>
            <a:ext cx="1554480" cy="320040"/>
          </a:xfrm>
          <a:prstGeom prst="rect">
            <a:avLst/>
          </a:prstGeom>
          <a:noFill/>
        </p:spPr>
        <p:txBody>
          <a:bodyPr wrap="square">
            <a:spAutoFit/>
          </a:bodyPr>
          <a:lstStyle/>
          <a:p>
            <a:pPr algn="l"/>
            <a:r>
              <a:rPr sz="1200" b="0" i="0">
                <a:solidFill>
                  <a:srgbClr val="2C2C2C"/>
                </a:solidFill>
                <a:latin typeface="Calibri"/>
              </a:rPr>
              <a:t>Pearson</a:t>
            </a:r>
          </a:p>
        </p:txBody>
      </p:sp>
      <p:sp>
        <p:nvSpPr>
          <p:cNvPr id="23" name="TextBox 22"/>
          <p:cNvSpPr txBox="1"/>
          <p:nvPr/>
        </p:nvSpPr>
        <p:spPr>
          <a:xfrm>
            <a:off x="9966960" y="2898648"/>
            <a:ext cx="1005840" cy="320040"/>
          </a:xfrm>
          <a:prstGeom prst="rect">
            <a:avLst/>
          </a:prstGeom>
          <a:noFill/>
        </p:spPr>
        <p:txBody>
          <a:bodyPr wrap="square">
            <a:spAutoFit/>
          </a:bodyPr>
          <a:lstStyle/>
          <a:p>
            <a:pPr algn="ctr"/>
            <a:r>
              <a:rPr sz="1200" b="0" i="0">
                <a:solidFill>
                  <a:srgbClr val="2C2C2C"/>
                </a:solidFill>
                <a:latin typeface="Calibri"/>
              </a:rPr>
              <a:t>0.999998</a:t>
            </a:r>
          </a:p>
        </p:txBody>
      </p:sp>
      <p:sp>
        <p:nvSpPr>
          <p:cNvPr id="24" name="TextBox 23"/>
          <p:cNvSpPr txBox="1"/>
          <p:nvPr/>
        </p:nvSpPr>
        <p:spPr>
          <a:xfrm>
            <a:off x="11018520" y="2898648"/>
            <a:ext cx="868680" cy="320040"/>
          </a:xfrm>
          <a:prstGeom prst="rect">
            <a:avLst/>
          </a:prstGeom>
          <a:noFill/>
        </p:spPr>
        <p:txBody>
          <a:bodyPr wrap="square">
            <a:spAutoFit/>
          </a:bodyPr>
          <a:lstStyle/>
          <a:p>
            <a:pPr algn="ctr"/>
            <a:r>
              <a:rPr sz="1200" b="0" i="0">
                <a:solidFill>
                  <a:srgbClr val="2C2C2C"/>
                </a:solidFill>
                <a:latin typeface="Calibri"/>
              </a:rPr>
              <a:t>0.999999</a:t>
            </a:r>
          </a:p>
        </p:txBody>
      </p:sp>
      <p:sp>
        <p:nvSpPr>
          <p:cNvPr id="25" name="Rectangle 24"/>
          <p:cNvSpPr/>
          <p:nvPr/>
        </p:nvSpPr>
        <p:spPr>
          <a:xfrm>
            <a:off x="8321040" y="3291840"/>
            <a:ext cx="3657600" cy="438912"/>
          </a:xfrm>
          <a:prstGeom prst="rect">
            <a:avLst/>
          </a:prstGeom>
          <a:solidFill>
            <a:srgbClr val="E8F4EA"/>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66760" y="3355848"/>
            <a:ext cx="1554480" cy="320040"/>
          </a:xfrm>
          <a:prstGeom prst="rect">
            <a:avLst/>
          </a:prstGeom>
          <a:noFill/>
        </p:spPr>
        <p:txBody>
          <a:bodyPr wrap="square">
            <a:spAutoFit/>
          </a:bodyPr>
          <a:lstStyle/>
          <a:p>
            <a:pPr algn="l"/>
            <a:r>
              <a:rPr sz="1200" b="1" i="0">
                <a:solidFill>
                  <a:srgbClr val="1A5C2A"/>
                </a:solidFill>
                <a:latin typeface="Calibri"/>
              </a:rPr>
              <a:t>Error L2 prom.</a:t>
            </a:r>
          </a:p>
        </p:txBody>
      </p:sp>
      <p:sp>
        <p:nvSpPr>
          <p:cNvPr id="27" name="TextBox 26"/>
          <p:cNvSpPr txBox="1"/>
          <p:nvPr/>
        </p:nvSpPr>
        <p:spPr>
          <a:xfrm>
            <a:off x="9966960" y="3355848"/>
            <a:ext cx="1005840" cy="320040"/>
          </a:xfrm>
          <a:prstGeom prst="rect">
            <a:avLst/>
          </a:prstGeom>
          <a:noFill/>
        </p:spPr>
        <p:txBody>
          <a:bodyPr wrap="square">
            <a:spAutoFit/>
          </a:bodyPr>
          <a:lstStyle/>
          <a:p>
            <a:pPr algn="ctr"/>
            <a:r>
              <a:rPr sz="1200" b="1" i="0">
                <a:solidFill>
                  <a:srgbClr val="1B4F72"/>
                </a:solidFill>
                <a:latin typeface="Calibri"/>
              </a:rPr>
              <a:t>0.171%</a:t>
            </a:r>
          </a:p>
        </p:txBody>
      </p:sp>
      <p:sp>
        <p:nvSpPr>
          <p:cNvPr id="28" name="TextBox 27"/>
          <p:cNvSpPr txBox="1"/>
          <p:nvPr/>
        </p:nvSpPr>
        <p:spPr>
          <a:xfrm>
            <a:off x="11018520" y="3355848"/>
            <a:ext cx="868680" cy="320040"/>
          </a:xfrm>
          <a:prstGeom prst="rect">
            <a:avLst/>
          </a:prstGeom>
          <a:noFill/>
        </p:spPr>
        <p:txBody>
          <a:bodyPr wrap="square">
            <a:spAutoFit/>
          </a:bodyPr>
          <a:lstStyle/>
          <a:p>
            <a:pPr algn="ctr"/>
            <a:r>
              <a:rPr sz="1200" b="0" i="0">
                <a:solidFill>
                  <a:srgbClr val="1A5C2A"/>
                </a:solidFill>
                <a:latin typeface="Calibri"/>
              </a:rPr>
              <a:t/>
            </a:r>
          </a:p>
        </p:txBody>
      </p:sp>
      <p:sp>
        <p:nvSpPr>
          <p:cNvPr id="29" name="Rectangle 28"/>
          <p:cNvSpPr/>
          <p:nvPr/>
        </p:nvSpPr>
        <p:spPr>
          <a:xfrm>
            <a:off x="8321040" y="3749039"/>
            <a:ext cx="3657600" cy="438912"/>
          </a:xfrm>
          <a:prstGeom prst="rect">
            <a:avLst/>
          </a:prstGeom>
          <a:solidFill>
            <a:srgbClr val="FFFFFF"/>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66760" y="3813048"/>
            <a:ext cx="1554480" cy="320040"/>
          </a:xfrm>
          <a:prstGeom prst="rect">
            <a:avLst/>
          </a:prstGeom>
          <a:noFill/>
        </p:spPr>
        <p:txBody>
          <a:bodyPr wrap="square">
            <a:spAutoFit/>
          </a:bodyPr>
          <a:lstStyle/>
          <a:p>
            <a:pPr algn="l"/>
            <a:r>
              <a:rPr sz="1200" b="0" i="0">
                <a:solidFill>
                  <a:srgbClr val="2C2C2C"/>
                </a:solidFill>
                <a:latin typeface="Calibri"/>
              </a:rPr>
              <a:t>Epocas Adam</a:t>
            </a:r>
          </a:p>
        </p:txBody>
      </p:sp>
      <p:sp>
        <p:nvSpPr>
          <p:cNvPr id="31" name="TextBox 30"/>
          <p:cNvSpPr txBox="1"/>
          <p:nvPr/>
        </p:nvSpPr>
        <p:spPr>
          <a:xfrm>
            <a:off x="9966960" y="3813048"/>
            <a:ext cx="1005840" cy="320040"/>
          </a:xfrm>
          <a:prstGeom prst="rect">
            <a:avLst/>
          </a:prstGeom>
          <a:noFill/>
        </p:spPr>
        <p:txBody>
          <a:bodyPr wrap="square">
            <a:spAutoFit/>
          </a:bodyPr>
          <a:lstStyle/>
          <a:p>
            <a:pPr algn="ctr"/>
            <a:r>
              <a:rPr sz="1200" b="0" i="0">
                <a:solidFill>
                  <a:srgbClr val="2C2C2C"/>
                </a:solidFill>
                <a:latin typeface="Calibri"/>
              </a:rPr>
              <a:t>8,737</a:t>
            </a:r>
          </a:p>
        </p:txBody>
      </p:sp>
      <p:sp>
        <p:nvSpPr>
          <p:cNvPr id="32" name="TextBox 31"/>
          <p:cNvSpPr txBox="1"/>
          <p:nvPr/>
        </p:nvSpPr>
        <p:spPr>
          <a:xfrm>
            <a:off x="11018520" y="3813048"/>
            <a:ext cx="868680" cy="320040"/>
          </a:xfrm>
          <a:prstGeom prst="rect">
            <a:avLst/>
          </a:prstGeom>
          <a:noFill/>
        </p:spPr>
        <p:txBody>
          <a:bodyPr wrap="square">
            <a:spAutoFit/>
          </a:bodyPr>
          <a:lstStyle/>
          <a:p>
            <a:pPr algn="ctr"/>
            <a:r>
              <a:rPr sz="1200" b="0" i="0">
                <a:solidFill>
                  <a:srgbClr val="2C2C2C"/>
                </a:solidFill>
                <a:latin typeface="Calibri"/>
              </a:rPr>
              <a:t/>
            </a:r>
          </a:p>
        </p:txBody>
      </p:sp>
      <p:sp>
        <p:nvSpPr>
          <p:cNvPr id="33" name="Rectangle 32"/>
          <p:cNvSpPr/>
          <p:nvPr/>
        </p:nvSpPr>
        <p:spPr>
          <a:xfrm>
            <a:off x="8321040" y="4206240"/>
            <a:ext cx="3657600" cy="438912"/>
          </a:xfrm>
          <a:prstGeom prst="rect">
            <a:avLst/>
          </a:prstGeom>
          <a:solidFill>
            <a:srgbClr val="F0F2F5"/>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66760" y="4270248"/>
            <a:ext cx="1554480" cy="320040"/>
          </a:xfrm>
          <a:prstGeom prst="rect">
            <a:avLst/>
          </a:prstGeom>
          <a:noFill/>
        </p:spPr>
        <p:txBody>
          <a:bodyPr wrap="square">
            <a:spAutoFit/>
          </a:bodyPr>
          <a:lstStyle/>
          <a:p>
            <a:pPr algn="l"/>
            <a:r>
              <a:rPr sz="1200" b="0" i="0">
                <a:solidFill>
                  <a:srgbClr val="2C2C2C"/>
                </a:solidFill>
                <a:latin typeface="Calibri"/>
              </a:rPr>
              <a:t>Iter. L-BFGS</a:t>
            </a:r>
          </a:p>
        </p:txBody>
      </p:sp>
      <p:sp>
        <p:nvSpPr>
          <p:cNvPr id="35" name="TextBox 34"/>
          <p:cNvSpPr txBox="1"/>
          <p:nvPr/>
        </p:nvSpPr>
        <p:spPr>
          <a:xfrm>
            <a:off x="9966960" y="4270248"/>
            <a:ext cx="1005840" cy="320040"/>
          </a:xfrm>
          <a:prstGeom prst="rect">
            <a:avLst/>
          </a:prstGeom>
          <a:noFill/>
        </p:spPr>
        <p:txBody>
          <a:bodyPr wrap="square">
            <a:spAutoFit/>
          </a:bodyPr>
          <a:lstStyle/>
          <a:p>
            <a:pPr algn="ctr"/>
            <a:r>
              <a:rPr sz="1200" b="0" i="0">
                <a:solidFill>
                  <a:srgbClr val="2C2C2C"/>
                </a:solidFill>
                <a:latin typeface="Calibri"/>
              </a:rPr>
              <a:t>1,035</a:t>
            </a:r>
          </a:p>
        </p:txBody>
      </p:sp>
      <p:sp>
        <p:nvSpPr>
          <p:cNvPr id="36" name="TextBox 35"/>
          <p:cNvSpPr txBox="1"/>
          <p:nvPr/>
        </p:nvSpPr>
        <p:spPr>
          <a:xfrm>
            <a:off x="11018520" y="4270248"/>
            <a:ext cx="868680" cy="320040"/>
          </a:xfrm>
          <a:prstGeom prst="rect">
            <a:avLst/>
          </a:prstGeom>
          <a:noFill/>
        </p:spPr>
        <p:txBody>
          <a:bodyPr wrap="square">
            <a:spAutoFit/>
          </a:bodyPr>
          <a:lstStyle/>
          <a:p>
            <a:pPr algn="ctr"/>
            <a:r>
              <a:rPr sz="1200" b="0" i="0">
                <a:solidFill>
                  <a:srgbClr val="2C2C2C"/>
                </a:solidFill>
                <a:latin typeface="Calibri"/>
              </a:rPr>
              <a:t/>
            </a:r>
          </a:p>
        </p:txBody>
      </p:sp>
      <p:sp>
        <p:nvSpPr>
          <p:cNvPr id="37" name="Rectangle 36"/>
          <p:cNvSpPr/>
          <p:nvPr/>
        </p:nvSpPr>
        <p:spPr>
          <a:xfrm>
            <a:off x="8321040" y="4663440"/>
            <a:ext cx="3657600" cy="438912"/>
          </a:xfrm>
          <a:prstGeom prst="rect">
            <a:avLst/>
          </a:prstGeom>
          <a:solidFill>
            <a:srgbClr val="FFFFFF"/>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66760" y="4727448"/>
            <a:ext cx="1554480" cy="320040"/>
          </a:xfrm>
          <a:prstGeom prst="rect">
            <a:avLst/>
          </a:prstGeom>
          <a:noFill/>
        </p:spPr>
        <p:txBody>
          <a:bodyPr wrap="square">
            <a:spAutoFit/>
          </a:bodyPr>
          <a:lstStyle/>
          <a:p>
            <a:pPr algn="l"/>
            <a:r>
              <a:rPr sz="1200" b="0" i="0">
                <a:solidFill>
                  <a:srgbClr val="2C2C2C"/>
                </a:solidFill>
                <a:latin typeface="Calibri"/>
              </a:rPr>
              <a:t>Tiempo total</a:t>
            </a:r>
          </a:p>
        </p:txBody>
      </p:sp>
      <p:sp>
        <p:nvSpPr>
          <p:cNvPr id="39" name="TextBox 38"/>
          <p:cNvSpPr txBox="1"/>
          <p:nvPr/>
        </p:nvSpPr>
        <p:spPr>
          <a:xfrm>
            <a:off x="9966960" y="4727448"/>
            <a:ext cx="1005840" cy="320040"/>
          </a:xfrm>
          <a:prstGeom prst="rect">
            <a:avLst/>
          </a:prstGeom>
          <a:noFill/>
        </p:spPr>
        <p:txBody>
          <a:bodyPr wrap="square">
            <a:spAutoFit/>
          </a:bodyPr>
          <a:lstStyle/>
          <a:p>
            <a:pPr algn="ctr"/>
            <a:r>
              <a:rPr sz="1200" b="0" i="0">
                <a:solidFill>
                  <a:srgbClr val="2C2C2C"/>
                </a:solidFill>
                <a:latin typeface="Calibri"/>
              </a:rPr>
              <a:t>299 s</a:t>
            </a:r>
          </a:p>
        </p:txBody>
      </p:sp>
      <p:sp>
        <p:nvSpPr>
          <p:cNvPr id="40" name="TextBox 39"/>
          <p:cNvSpPr txBox="1"/>
          <p:nvPr/>
        </p:nvSpPr>
        <p:spPr>
          <a:xfrm>
            <a:off x="11018520" y="4727448"/>
            <a:ext cx="868680" cy="320040"/>
          </a:xfrm>
          <a:prstGeom prst="rect">
            <a:avLst/>
          </a:prstGeom>
          <a:noFill/>
        </p:spPr>
        <p:txBody>
          <a:bodyPr wrap="square">
            <a:spAutoFit/>
          </a:bodyPr>
          <a:lstStyle/>
          <a:p>
            <a:pPr algn="ctr"/>
            <a:r>
              <a:rPr sz="1200" b="0" i="0">
                <a:solidFill>
                  <a:srgbClr val="2C2C2C"/>
                </a:solidFill>
                <a:latin typeface="Calibri"/>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713232"/>
          </a:xfrm>
          <a:prstGeom prst="rect">
            <a:avLst/>
          </a:prstGeom>
          <a:noFill/>
        </p:spPr>
        <p:txBody>
          <a:bodyPr wrap="square">
            <a:spAutoFit/>
          </a:bodyPr>
          <a:lstStyle/>
          <a:p>
            <a:pPr algn="l"/>
            <a:r>
              <a:rPr sz="2700" b="1" i="0">
                <a:solidFill>
                  <a:srgbClr val="FFFFFF"/>
                </a:solidFill>
                <a:latin typeface="Calibri"/>
              </a:rPr>
              <a:t>NB02: Analisis de error y reproducibilidad multi-semilla</a:t>
            </a:r>
          </a:p>
        </p:txBody>
      </p:sp>
      <p:sp>
        <p:nvSpPr>
          <p:cNvPr id="4" name="TextBox 3"/>
          <p:cNvSpPr txBox="1"/>
          <p:nvPr/>
        </p:nvSpPr>
        <p:spPr>
          <a:xfrm>
            <a:off x="11521440" y="6492240"/>
            <a:ext cx="548640" cy="274320"/>
          </a:xfrm>
          <a:prstGeom prst="rect">
            <a:avLst/>
          </a:prstGeom>
          <a:noFill/>
        </p:spPr>
        <p:txBody>
          <a:bodyPr wrap="square">
            <a:spAutoFit/>
          </a:bodyPr>
          <a:lstStyle/>
          <a:p>
            <a:pPr algn="r"/>
            <a:r>
              <a:rPr sz="1100" b="0" i="0">
                <a:solidFill>
                  <a:srgbClr val="AAAAAA"/>
                </a:solidFill>
                <a:latin typeface="Calibri"/>
              </a:rPr>
              <a:t>11</a:t>
            </a:r>
          </a:p>
        </p:txBody>
      </p:sp>
      <p:pic>
        <p:nvPicPr>
          <p:cNvPr id="5" name="Picture 4" descr="metricas_adicionales_2d.png"/>
          <p:cNvPicPr>
            <a:picLocks noChangeAspect="1"/>
          </p:cNvPicPr>
          <p:nvPr/>
        </p:nvPicPr>
        <p:blipFill>
          <a:blip r:embed="rId2"/>
          <a:stretch>
            <a:fillRect/>
          </a:stretch>
        </p:blipFill>
        <p:spPr>
          <a:xfrm>
            <a:off x="182880" y="1024128"/>
            <a:ext cx="6949440" cy="4709160"/>
          </a:xfrm>
          <a:prstGeom prst="rect">
            <a:avLst/>
          </a:prstGeom>
        </p:spPr>
      </p:pic>
      <p:sp>
        <p:nvSpPr>
          <p:cNvPr id="6" name="TextBox 5"/>
          <p:cNvSpPr txBox="1"/>
          <p:nvPr/>
        </p:nvSpPr>
        <p:spPr>
          <a:xfrm>
            <a:off x="182880" y="5751576"/>
            <a:ext cx="6949440" cy="256032"/>
          </a:xfrm>
          <a:prstGeom prst="rect">
            <a:avLst/>
          </a:prstGeom>
          <a:noFill/>
        </p:spPr>
        <p:txBody>
          <a:bodyPr wrap="square">
            <a:spAutoFit/>
          </a:bodyPr>
          <a:lstStyle/>
          <a:p>
            <a:pPr algn="ctr"/>
            <a:r>
              <a:rPr sz="1000" b="0" i="1">
                <a:solidFill>
                  <a:srgbClr val="7A92AA"/>
                </a:solidFill>
                <a:latin typeface="Calibri"/>
              </a:rPr>
              <a:t>Fig. 4.4: Distribucion de errores E_real / E_imag - Mapa de error puntual - Correlacion PINN vs Exacta</a:t>
            </a:r>
          </a:p>
        </p:txBody>
      </p:sp>
      <p:sp>
        <p:nvSpPr>
          <p:cNvPr id="7" name="TextBox 6"/>
          <p:cNvSpPr txBox="1"/>
          <p:nvPr/>
        </p:nvSpPr>
        <p:spPr>
          <a:xfrm>
            <a:off x="7315200" y="1051560"/>
            <a:ext cx="4572000" cy="347472"/>
          </a:xfrm>
          <a:prstGeom prst="rect">
            <a:avLst/>
          </a:prstGeom>
          <a:noFill/>
        </p:spPr>
        <p:txBody>
          <a:bodyPr wrap="square">
            <a:spAutoFit/>
          </a:bodyPr>
          <a:lstStyle/>
          <a:p>
            <a:pPr algn="l"/>
            <a:r>
              <a:rPr sz="1600" b="1" i="0">
                <a:solidFill>
                  <a:srgbClr val="345C8C"/>
                </a:solidFill>
                <a:latin typeface="Calibri"/>
              </a:rPr>
              <a:t>Robustez multi-semilla (NB02, λ_fis = 0.1)</a:t>
            </a:r>
          </a:p>
        </p:txBody>
      </p:sp>
      <p:sp>
        <p:nvSpPr>
          <p:cNvPr id="8" name="Rectangle 7"/>
          <p:cNvSpPr/>
          <p:nvPr/>
        </p:nvSpPr>
        <p:spPr>
          <a:xfrm>
            <a:off x="7315200" y="1463040"/>
            <a:ext cx="4572000" cy="475488"/>
          </a:xfrm>
          <a:prstGeom prst="rect">
            <a:avLst/>
          </a:prstGeom>
          <a:solidFill>
            <a:srgbClr val="345C8C"/>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60920" y="1545336"/>
            <a:ext cx="1115568" cy="320040"/>
          </a:xfrm>
          <a:prstGeom prst="rect">
            <a:avLst/>
          </a:prstGeom>
          <a:noFill/>
        </p:spPr>
        <p:txBody>
          <a:bodyPr wrap="square">
            <a:spAutoFit/>
          </a:bodyPr>
          <a:lstStyle/>
          <a:p>
            <a:pPr algn="l"/>
            <a:r>
              <a:rPr sz="1300" b="1" i="0">
                <a:solidFill>
                  <a:srgbClr val="FFFFFF"/>
                </a:solidFill>
                <a:latin typeface="Calibri"/>
              </a:rPr>
              <a:t>SEED</a:t>
            </a:r>
          </a:p>
        </p:txBody>
      </p:sp>
      <p:sp>
        <p:nvSpPr>
          <p:cNvPr id="10" name="TextBox 9"/>
          <p:cNvSpPr txBox="1"/>
          <p:nvPr/>
        </p:nvSpPr>
        <p:spPr>
          <a:xfrm>
            <a:off x="8503920" y="1545336"/>
            <a:ext cx="978408" cy="320040"/>
          </a:xfrm>
          <a:prstGeom prst="rect">
            <a:avLst/>
          </a:prstGeom>
          <a:noFill/>
        </p:spPr>
        <p:txBody>
          <a:bodyPr wrap="square">
            <a:spAutoFit/>
          </a:bodyPr>
          <a:lstStyle/>
          <a:p>
            <a:pPr algn="ctr"/>
            <a:r>
              <a:rPr sz="1300" b="1" i="0">
                <a:solidFill>
                  <a:srgbClr val="FFFFFF"/>
                </a:solidFill>
                <a:latin typeface="Calibri"/>
              </a:rPr>
              <a:t>Error L2</a:t>
            </a:r>
          </a:p>
        </p:txBody>
      </p:sp>
      <p:sp>
        <p:nvSpPr>
          <p:cNvPr id="11" name="TextBox 10"/>
          <p:cNvSpPr txBox="1"/>
          <p:nvPr/>
        </p:nvSpPr>
        <p:spPr>
          <a:xfrm>
            <a:off x="9509760" y="1545336"/>
            <a:ext cx="978408" cy="320040"/>
          </a:xfrm>
          <a:prstGeom prst="rect">
            <a:avLst/>
          </a:prstGeom>
          <a:noFill/>
        </p:spPr>
        <p:txBody>
          <a:bodyPr wrap="square">
            <a:spAutoFit/>
          </a:bodyPr>
          <a:lstStyle/>
          <a:p>
            <a:pPr algn="ctr"/>
            <a:r>
              <a:rPr sz="1300" b="1" i="0">
                <a:solidFill>
                  <a:srgbClr val="FFFFFF"/>
                </a:solidFill>
                <a:latin typeface="Calibri"/>
              </a:rPr>
              <a:t>Epocas</a:t>
            </a:r>
          </a:p>
        </p:txBody>
      </p:sp>
      <p:sp>
        <p:nvSpPr>
          <p:cNvPr id="12" name="TextBox 11"/>
          <p:cNvSpPr txBox="1"/>
          <p:nvPr/>
        </p:nvSpPr>
        <p:spPr>
          <a:xfrm>
            <a:off x="10515600" y="1545336"/>
            <a:ext cx="1298448" cy="320040"/>
          </a:xfrm>
          <a:prstGeom prst="rect">
            <a:avLst/>
          </a:prstGeom>
          <a:noFill/>
        </p:spPr>
        <p:txBody>
          <a:bodyPr wrap="square">
            <a:spAutoFit/>
          </a:bodyPr>
          <a:lstStyle/>
          <a:p>
            <a:pPr algn="ctr"/>
            <a:r>
              <a:rPr sz="1300" b="1" i="0">
                <a:solidFill>
                  <a:srgbClr val="FFFFFF"/>
                </a:solidFill>
                <a:latin typeface="Calibri"/>
              </a:rPr>
              <a:t>Tiempo</a:t>
            </a:r>
          </a:p>
        </p:txBody>
      </p:sp>
      <p:sp>
        <p:nvSpPr>
          <p:cNvPr id="13" name="Rectangle 12"/>
          <p:cNvSpPr/>
          <p:nvPr/>
        </p:nvSpPr>
        <p:spPr>
          <a:xfrm>
            <a:off x="7315200" y="1965960"/>
            <a:ext cx="4572000" cy="475488"/>
          </a:xfrm>
          <a:prstGeom prst="rect">
            <a:avLst/>
          </a:prstGeom>
          <a:solidFill>
            <a:srgbClr val="FFFFFF"/>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60920" y="2048256"/>
            <a:ext cx="1115568" cy="320040"/>
          </a:xfrm>
          <a:prstGeom prst="rect">
            <a:avLst/>
          </a:prstGeom>
          <a:noFill/>
        </p:spPr>
        <p:txBody>
          <a:bodyPr wrap="square">
            <a:spAutoFit/>
          </a:bodyPr>
          <a:lstStyle/>
          <a:p>
            <a:pPr algn="l"/>
            <a:r>
              <a:rPr sz="1300" b="0" i="0">
                <a:solidFill>
                  <a:srgbClr val="2C2C2C"/>
                </a:solidFill>
                <a:latin typeface="Calibri"/>
              </a:rPr>
              <a:t>42</a:t>
            </a:r>
          </a:p>
        </p:txBody>
      </p:sp>
      <p:sp>
        <p:nvSpPr>
          <p:cNvPr id="15" name="TextBox 14"/>
          <p:cNvSpPr txBox="1"/>
          <p:nvPr/>
        </p:nvSpPr>
        <p:spPr>
          <a:xfrm>
            <a:off x="8503920" y="2048256"/>
            <a:ext cx="978408" cy="320040"/>
          </a:xfrm>
          <a:prstGeom prst="rect">
            <a:avLst/>
          </a:prstGeom>
          <a:noFill/>
        </p:spPr>
        <p:txBody>
          <a:bodyPr wrap="square">
            <a:spAutoFit/>
          </a:bodyPr>
          <a:lstStyle/>
          <a:p>
            <a:pPr algn="ctr"/>
            <a:r>
              <a:rPr sz="1300" b="0" i="0">
                <a:solidFill>
                  <a:srgbClr val="2C2C2C"/>
                </a:solidFill>
                <a:latin typeface="Calibri"/>
              </a:rPr>
              <a:t>0.171%</a:t>
            </a:r>
          </a:p>
        </p:txBody>
      </p:sp>
      <p:sp>
        <p:nvSpPr>
          <p:cNvPr id="16" name="TextBox 15"/>
          <p:cNvSpPr txBox="1"/>
          <p:nvPr/>
        </p:nvSpPr>
        <p:spPr>
          <a:xfrm>
            <a:off x="9509760" y="2048256"/>
            <a:ext cx="978408" cy="320040"/>
          </a:xfrm>
          <a:prstGeom prst="rect">
            <a:avLst/>
          </a:prstGeom>
          <a:noFill/>
        </p:spPr>
        <p:txBody>
          <a:bodyPr wrap="square">
            <a:spAutoFit/>
          </a:bodyPr>
          <a:lstStyle/>
          <a:p>
            <a:pPr algn="ctr"/>
            <a:r>
              <a:rPr sz="1300" b="0" i="0">
                <a:solidFill>
                  <a:srgbClr val="2C2C2C"/>
                </a:solidFill>
                <a:latin typeface="Calibri"/>
              </a:rPr>
              <a:t>8,737</a:t>
            </a:r>
          </a:p>
        </p:txBody>
      </p:sp>
      <p:sp>
        <p:nvSpPr>
          <p:cNvPr id="17" name="TextBox 16"/>
          <p:cNvSpPr txBox="1"/>
          <p:nvPr/>
        </p:nvSpPr>
        <p:spPr>
          <a:xfrm>
            <a:off x="10515600" y="2048256"/>
            <a:ext cx="1298448" cy="320040"/>
          </a:xfrm>
          <a:prstGeom prst="rect">
            <a:avLst/>
          </a:prstGeom>
          <a:noFill/>
        </p:spPr>
        <p:txBody>
          <a:bodyPr wrap="square">
            <a:spAutoFit/>
          </a:bodyPr>
          <a:lstStyle/>
          <a:p>
            <a:pPr algn="ctr"/>
            <a:r>
              <a:rPr sz="1300" b="0" i="0">
                <a:solidFill>
                  <a:srgbClr val="2C2C2C"/>
                </a:solidFill>
                <a:latin typeface="Calibri"/>
              </a:rPr>
              <a:t>299 s</a:t>
            </a:r>
          </a:p>
        </p:txBody>
      </p:sp>
      <p:sp>
        <p:nvSpPr>
          <p:cNvPr id="18" name="Rectangle 17"/>
          <p:cNvSpPr/>
          <p:nvPr/>
        </p:nvSpPr>
        <p:spPr>
          <a:xfrm>
            <a:off x="7315200" y="2468880"/>
            <a:ext cx="4572000" cy="475488"/>
          </a:xfrm>
          <a:prstGeom prst="rect">
            <a:avLst/>
          </a:prstGeom>
          <a:solidFill>
            <a:srgbClr val="F0F2F5"/>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60920" y="2551176"/>
            <a:ext cx="1115568" cy="320040"/>
          </a:xfrm>
          <a:prstGeom prst="rect">
            <a:avLst/>
          </a:prstGeom>
          <a:noFill/>
        </p:spPr>
        <p:txBody>
          <a:bodyPr wrap="square">
            <a:spAutoFit/>
          </a:bodyPr>
          <a:lstStyle/>
          <a:p>
            <a:pPr algn="l"/>
            <a:r>
              <a:rPr sz="1300" b="0" i="0">
                <a:solidFill>
                  <a:srgbClr val="2C2C2C"/>
                </a:solidFill>
                <a:latin typeface="Calibri"/>
              </a:rPr>
              <a:t>123</a:t>
            </a:r>
          </a:p>
        </p:txBody>
      </p:sp>
      <p:sp>
        <p:nvSpPr>
          <p:cNvPr id="20" name="TextBox 19"/>
          <p:cNvSpPr txBox="1"/>
          <p:nvPr/>
        </p:nvSpPr>
        <p:spPr>
          <a:xfrm>
            <a:off x="8503920" y="2551176"/>
            <a:ext cx="978408" cy="320040"/>
          </a:xfrm>
          <a:prstGeom prst="rect">
            <a:avLst/>
          </a:prstGeom>
          <a:noFill/>
        </p:spPr>
        <p:txBody>
          <a:bodyPr wrap="square">
            <a:spAutoFit/>
          </a:bodyPr>
          <a:lstStyle/>
          <a:p>
            <a:pPr algn="ctr"/>
            <a:r>
              <a:rPr sz="1300" b="0" i="0">
                <a:solidFill>
                  <a:srgbClr val="2C2C2C"/>
                </a:solidFill>
                <a:latin typeface="Calibri"/>
              </a:rPr>
              <a:t>0.126%</a:t>
            </a:r>
          </a:p>
        </p:txBody>
      </p:sp>
      <p:sp>
        <p:nvSpPr>
          <p:cNvPr id="21" name="TextBox 20"/>
          <p:cNvSpPr txBox="1"/>
          <p:nvPr/>
        </p:nvSpPr>
        <p:spPr>
          <a:xfrm>
            <a:off x="9509760" y="2551176"/>
            <a:ext cx="978408" cy="320040"/>
          </a:xfrm>
          <a:prstGeom prst="rect">
            <a:avLst/>
          </a:prstGeom>
          <a:noFill/>
        </p:spPr>
        <p:txBody>
          <a:bodyPr wrap="square">
            <a:spAutoFit/>
          </a:bodyPr>
          <a:lstStyle/>
          <a:p>
            <a:pPr algn="ctr"/>
            <a:r>
              <a:rPr sz="1300" b="0" i="0">
                <a:solidFill>
                  <a:srgbClr val="2C2C2C"/>
                </a:solidFill>
                <a:latin typeface="Calibri"/>
              </a:rPr>
              <a:t>8,012</a:t>
            </a:r>
          </a:p>
        </p:txBody>
      </p:sp>
      <p:sp>
        <p:nvSpPr>
          <p:cNvPr id="22" name="TextBox 21"/>
          <p:cNvSpPr txBox="1"/>
          <p:nvPr/>
        </p:nvSpPr>
        <p:spPr>
          <a:xfrm>
            <a:off x="10515600" y="2551176"/>
            <a:ext cx="1298448" cy="320040"/>
          </a:xfrm>
          <a:prstGeom prst="rect">
            <a:avLst/>
          </a:prstGeom>
          <a:noFill/>
        </p:spPr>
        <p:txBody>
          <a:bodyPr wrap="square">
            <a:spAutoFit/>
          </a:bodyPr>
          <a:lstStyle/>
          <a:p>
            <a:pPr algn="ctr"/>
            <a:r>
              <a:rPr sz="1300" b="0" i="0">
                <a:solidFill>
                  <a:srgbClr val="2C2C2C"/>
                </a:solidFill>
                <a:latin typeface="Calibri"/>
              </a:rPr>
              <a:t>448 s</a:t>
            </a:r>
          </a:p>
        </p:txBody>
      </p:sp>
      <p:sp>
        <p:nvSpPr>
          <p:cNvPr id="23" name="Rectangle 22"/>
          <p:cNvSpPr/>
          <p:nvPr/>
        </p:nvSpPr>
        <p:spPr>
          <a:xfrm>
            <a:off x="7315200" y="2971800"/>
            <a:ext cx="4572000" cy="475488"/>
          </a:xfrm>
          <a:prstGeom prst="rect">
            <a:avLst/>
          </a:prstGeom>
          <a:solidFill>
            <a:srgbClr val="FFFFFF"/>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0920" y="3054096"/>
            <a:ext cx="1115568" cy="320040"/>
          </a:xfrm>
          <a:prstGeom prst="rect">
            <a:avLst/>
          </a:prstGeom>
          <a:noFill/>
        </p:spPr>
        <p:txBody>
          <a:bodyPr wrap="square">
            <a:spAutoFit/>
          </a:bodyPr>
          <a:lstStyle/>
          <a:p>
            <a:pPr algn="l"/>
            <a:r>
              <a:rPr sz="1300" b="0" i="0">
                <a:solidFill>
                  <a:srgbClr val="2C2C2C"/>
                </a:solidFill>
                <a:latin typeface="Calibri"/>
              </a:rPr>
              <a:t>777</a:t>
            </a:r>
          </a:p>
        </p:txBody>
      </p:sp>
      <p:sp>
        <p:nvSpPr>
          <p:cNvPr id="25" name="TextBox 24"/>
          <p:cNvSpPr txBox="1"/>
          <p:nvPr/>
        </p:nvSpPr>
        <p:spPr>
          <a:xfrm>
            <a:off x="8503920" y="3054096"/>
            <a:ext cx="978408" cy="320040"/>
          </a:xfrm>
          <a:prstGeom prst="rect">
            <a:avLst/>
          </a:prstGeom>
          <a:noFill/>
        </p:spPr>
        <p:txBody>
          <a:bodyPr wrap="square">
            <a:spAutoFit/>
          </a:bodyPr>
          <a:lstStyle/>
          <a:p>
            <a:pPr algn="ctr"/>
            <a:r>
              <a:rPr sz="1300" b="0" i="0">
                <a:solidFill>
                  <a:srgbClr val="2C2C2C"/>
                </a:solidFill>
                <a:latin typeface="Calibri"/>
              </a:rPr>
              <a:t>0.168%</a:t>
            </a:r>
          </a:p>
        </p:txBody>
      </p:sp>
      <p:sp>
        <p:nvSpPr>
          <p:cNvPr id="26" name="TextBox 25"/>
          <p:cNvSpPr txBox="1"/>
          <p:nvPr/>
        </p:nvSpPr>
        <p:spPr>
          <a:xfrm>
            <a:off x="9509760" y="3054096"/>
            <a:ext cx="978408" cy="320040"/>
          </a:xfrm>
          <a:prstGeom prst="rect">
            <a:avLst/>
          </a:prstGeom>
          <a:noFill/>
        </p:spPr>
        <p:txBody>
          <a:bodyPr wrap="square">
            <a:spAutoFit/>
          </a:bodyPr>
          <a:lstStyle/>
          <a:p>
            <a:pPr algn="ctr"/>
            <a:r>
              <a:rPr sz="1300" b="0" i="0">
                <a:solidFill>
                  <a:srgbClr val="2C2C2C"/>
                </a:solidFill>
                <a:latin typeface="Calibri"/>
              </a:rPr>
              <a:t>13,560</a:t>
            </a:r>
          </a:p>
        </p:txBody>
      </p:sp>
      <p:sp>
        <p:nvSpPr>
          <p:cNvPr id="27" name="TextBox 26"/>
          <p:cNvSpPr txBox="1"/>
          <p:nvPr/>
        </p:nvSpPr>
        <p:spPr>
          <a:xfrm>
            <a:off x="10515600" y="3054096"/>
            <a:ext cx="1298448" cy="320040"/>
          </a:xfrm>
          <a:prstGeom prst="rect">
            <a:avLst/>
          </a:prstGeom>
          <a:noFill/>
        </p:spPr>
        <p:txBody>
          <a:bodyPr wrap="square">
            <a:spAutoFit/>
          </a:bodyPr>
          <a:lstStyle/>
          <a:p>
            <a:pPr algn="ctr"/>
            <a:r>
              <a:rPr sz="1300" b="0" i="0">
                <a:solidFill>
                  <a:srgbClr val="2C2C2C"/>
                </a:solidFill>
                <a:latin typeface="Calibri"/>
              </a:rPr>
              <a:t>346 s</a:t>
            </a:r>
          </a:p>
        </p:txBody>
      </p:sp>
      <p:sp>
        <p:nvSpPr>
          <p:cNvPr id="28" name="Rectangle 27"/>
          <p:cNvSpPr/>
          <p:nvPr/>
        </p:nvSpPr>
        <p:spPr>
          <a:xfrm>
            <a:off x="7315200" y="3474720"/>
            <a:ext cx="4572000" cy="475488"/>
          </a:xfrm>
          <a:prstGeom prst="rect">
            <a:avLst/>
          </a:prstGeom>
          <a:solidFill>
            <a:srgbClr val="E8F4EA"/>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60920" y="3557016"/>
            <a:ext cx="1115568" cy="320040"/>
          </a:xfrm>
          <a:prstGeom prst="rect">
            <a:avLst/>
          </a:prstGeom>
          <a:noFill/>
        </p:spPr>
        <p:txBody>
          <a:bodyPr wrap="square">
            <a:spAutoFit/>
          </a:bodyPr>
          <a:lstStyle/>
          <a:p>
            <a:pPr algn="l"/>
            <a:r>
              <a:rPr sz="1300" b="1" i="0">
                <a:solidFill>
                  <a:srgbClr val="1A5C2A"/>
                </a:solidFill>
                <a:latin typeface="Calibri"/>
              </a:rPr>
              <a:t>Media ± DE</a:t>
            </a:r>
          </a:p>
        </p:txBody>
      </p:sp>
      <p:sp>
        <p:nvSpPr>
          <p:cNvPr id="30" name="TextBox 29"/>
          <p:cNvSpPr txBox="1"/>
          <p:nvPr/>
        </p:nvSpPr>
        <p:spPr>
          <a:xfrm>
            <a:off x="8503920" y="3557016"/>
            <a:ext cx="978408" cy="320040"/>
          </a:xfrm>
          <a:prstGeom prst="rect">
            <a:avLst/>
          </a:prstGeom>
          <a:noFill/>
        </p:spPr>
        <p:txBody>
          <a:bodyPr wrap="square">
            <a:spAutoFit/>
          </a:bodyPr>
          <a:lstStyle/>
          <a:p>
            <a:pPr algn="ctr"/>
            <a:r>
              <a:rPr sz="1300" b="1" i="0">
                <a:solidFill>
                  <a:srgbClr val="1A5C2A"/>
                </a:solidFill>
                <a:latin typeface="Calibri"/>
              </a:rPr>
              <a:t>0.155 ± 0.020%</a:t>
            </a:r>
          </a:p>
        </p:txBody>
      </p:sp>
      <p:sp>
        <p:nvSpPr>
          <p:cNvPr id="31" name="TextBox 30"/>
          <p:cNvSpPr txBox="1"/>
          <p:nvPr/>
        </p:nvSpPr>
        <p:spPr>
          <a:xfrm>
            <a:off x="9509760" y="3557016"/>
            <a:ext cx="978408" cy="320040"/>
          </a:xfrm>
          <a:prstGeom prst="rect">
            <a:avLst/>
          </a:prstGeom>
          <a:noFill/>
        </p:spPr>
        <p:txBody>
          <a:bodyPr wrap="square">
            <a:spAutoFit/>
          </a:bodyPr>
          <a:lstStyle/>
          <a:p>
            <a:pPr algn="ctr"/>
            <a:r>
              <a:rPr sz="1300" b="1" i="0">
                <a:solidFill>
                  <a:srgbClr val="1A5C2A"/>
                </a:solidFill>
                <a:latin typeface="Calibri"/>
              </a:rPr>
              <a:t>--</a:t>
            </a:r>
          </a:p>
        </p:txBody>
      </p:sp>
      <p:sp>
        <p:nvSpPr>
          <p:cNvPr id="32" name="TextBox 31"/>
          <p:cNvSpPr txBox="1"/>
          <p:nvPr/>
        </p:nvSpPr>
        <p:spPr>
          <a:xfrm>
            <a:off x="10515600" y="3557016"/>
            <a:ext cx="1298448" cy="320040"/>
          </a:xfrm>
          <a:prstGeom prst="rect">
            <a:avLst/>
          </a:prstGeom>
          <a:noFill/>
        </p:spPr>
        <p:txBody>
          <a:bodyPr wrap="square">
            <a:spAutoFit/>
          </a:bodyPr>
          <a:lstStyle/>
          <a:p>
            <a:pPr algn="ctr"/>
            <a:r>
              <a:rPr sz="1300" b="1" i="0">
                <a:solidFill>
                  <a:srgbClr val="1A5C2A"/>
                </a:solidFill>
                <a:latin typeface="Calibri"/>
              </a:rPr>
              <a:t>--</a:t>
            </a:r>
          </a:p>
        </p:txBody>
      </p:sp>
      <p:sp>
        <p:nvSpPr>
          <p:cNvPr id="33" name="Rectangle 32"/>
          <p:cNvSpPr/>
          <p:nvPr/>
        </p:nvSpPr>
        <p:spPr>
          <a:xfrm>
            <a:off x="7315200" y="4251960"/>
            <a:ext cx="4572000" cy="1188720"/>
          </a:xfrm>
          <a:prstGeom prst="rect">
            <a:avLst/>
          </a:prstGeom>
          <a:solidFill>
            <a:srgbClr val="E8F4EA"/>
          </a:solidFill>
          <a:ln w="1270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325112"/>
            <a:ext cx="4297680" cy="347472"/>
          </a:xfrm>
          <a:prstGeom prst="rect">
            <a:avLst/>
          </a:prstGeom>
          <a:noFill/>
        </p:spPr>
        <p:txBody>
          <a:bodyPr wrap="square">
            <a:spAutoFit/>
          </a:bodyPr>
          <a:lstStyle/>
          <a:p>
            <a:pPr algn="l"/>
            <a:r>
              <a:rPr sz="1600" b="1" i="0">
                <a:solidFill>
                  <a:srgbClr val="1A5C2A"/>
                </a:solidFill>
                <a:latin typeface="Calibri"/>
              </a:rPr>
              <a:t>Varianza inter-semilla: 13% relativo</a:t>
            </a:r>
          </a:p>
        </p:txBody>
      </p:sp>
      <p:sp>
        <p:nvSpPr>
          <p:cNvPr id="35" name="TextBox 34"/>
          <p:cNvSpPr txBox="1"/>
          <p:nvPr/>
        </p:nvSpPr>
        <p:spPr>
          <a:xfrm>
            <a:off x="7452360" y="4663440"/>
            <a:ext cx="4297680" cy="685800"/>
          </a:xfrm>
          <a:prstGeom prst="rect">
            <a:avLst/>
          </a:prstGeom>
          <a:noFill/>
        </p:spPr>
        <p:txBody>
          <a:bodyPr wrap="square">
            <a:spAutoFit/>
          </a:bodyPr>
          <a:lstStyle/>
          <a:p>
            <a:pPr algn="l"/>
            <a:r>
              <a:rPr sz="1500" b="0" i="0">
                <a:solidFill>
                  <a:srgbClr val="2C2C2C"/>
                </a:solidFill>
                <a:latin typeface="Calibri"/>
              </a:rPr>
              <a:t>El metodo es estadisticamente robusto:
converge independientemente de la inicializacion.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713232"/>
          </a:xfrm>
          <a:prstGeom prst="rect">
            <a:avLst/>
          </a:prstGeom>
          <a:noFill/>
        </p:spPr>
        <p:txBody>
          <a:bodyPr wrap="square">
            <a:spAutoFit/>
          </a:bodyPr>
          <a:lstStyle/>
          <a:p>
            <a:pPr algn="l"/>
            <a:r>
              <a:rPr sz="2700" b="1" i="0">
                <a:solidFill>
                  <a:srgbClr val="FFFFFF"/>
                </a:solidFill>
                <a:latin typeface="Calibri"/>
              </a:rPr>
              <a:t>NB03: Simulacion de speckle optico - Patron generado</a:t>
            </a:r>
          </a:p>
        </p:txBody>
      </p:sp>
      <p:sp>
        <p:nvSpPr>
          <p:cNvPr id="4" name="TextBox 3"/>
          <p:cNvSpPr txBox="1"/>
          <p:nvPr/>
        </p:nvSpPr>
        <p:spPr>
          <a:xfrm>
            <a:off x="365760" y="749808"/>
            <a:ext cx="11430000" cy="228600"/>
          </a:xfrm>
          <a:prstGeom prst="rect">
            <a:avLst/>
          </a:prstGeom>
          <a:noFill/>
        </p:spPr>
        <p:txBody>
          <a:bodyPr wrap="square">
            <a:spAutoFit/>
          </a:bodyPr>
          <a:lstStyle/>
          <a:p>
            <a:pPr algn="l"/>
            <a:r>
              <a:rPr sz="1200" b="0" i="1">
                <a:solidFill>
                  <a:srgbClr val="BBCFE5"/>
                </a:solidFill>
                <a:latin typeface="Calibri"/>
              </a:rPr>
              <a:t>φ(x) ∼ U(0, 2π)  |  N_φ = 256 pts en y=0  |  Bordes x=0, x=1, y=1 libres  |  Misma arquitectura SIREN 5×128</a:t>
            </a:r>
          </a:p>
        </p:txBody>
      </p:sp>
      <p:sp>
        <p:nvSpPr>
          <p:cNvPr id="5" name="TextBox 4"/>
          <p:cNvSpPr txBox="1"/>
          <p:nvPr/>
        </p:nvSpPr>
        <p:spPr>
          <a:xfrm>
            <a:off x="11521440" y="6492240"/>
            <a:ext cx="548640" cy="274320"/>
          </a:xfrm>
          <a:prstGeom prst="rect">
            <a:avLst/>
          </a:prstGeom>
          <a:noFill/>
        </p:spPr>
        <p:txBody>
          <a:bodyPr wrap="square">
            <a:spAutoFit/>
          </a:bodyPr>
          <a:lstStyle/>
          <a:p>
            <a:pPr algn="r"/>
            <a:r>
              <a:rPr sz="1100" b="0" i="0">
                <a:solidFill>
                  <a:srgbClr val="AAAAAA"/>
                </a:solidFill>
                <a:latin typeface="Calibri"/>
              </a:rPr>
              <a:t>12</a:t>
            </a:r>
          </a:p>
        </p:txBody>
      </p:sp>
      <p:pic>
        <p:nvPicPr>
          <p:cNvPr id="6" name="Picture 5" descr="resultados_speckle_nb03.png"/>
          <p:cNvPicPr>
            <a:picLocks noChangeAspect="1"/>
          </p:cNvPicPr>
          <p:nvPr/>
        </p:nvPicPr>
        <p:blipFill>
          <a:blip r:embed="rId2"/>
          <a:stretch>
            <a:fillRect/>
          </a:stretch>
        </p:blipFill>
        <p:spPr>
          <a:xfrm>
            <a:off x="182880" y="1024128"/>
            <a:ext cx="11887200" cy="5394960"/>
          </a:xfrm>
          <a:prstGeom prst="rect">
            <a:avLst/>
          </a:prstGeom>
        </p:spPr>
      </p:pic>
      <p:sp>
        <p:nvSpPr>
          <p:cNvPr id="7" name="TextBox 6"/>
          <p:cNvSpPr txBox="1"/>
          <p:nvPr/>
        </p:nvSpPr>
        <p:spPr>
          <a:xfrm>
            <a:off x="182880" y="6437376"/>
            <a:ext cx="11887200" cy="256032"/>
          </a:xfrm>
          <a:prstGeom prst="rect">
            <a:avLst/>
          </a:prstGeom>
          <a:noFill/>
        </p:spPr>
        <p:txBody>
          <a:bodyPr wrap="square">
            <a:spAutoFit/>
          </a:bodyPr>
          <a:lstStyle/>
          <a:p>
            <a:pPr algn="ctr"/>
            <a:r>
              <a:rPr sz="1000" b="0" i="1">
                <a:solidFill>
                  <a:srgbClr val="7A92AA"/>
                </a:solidFill>
                <a:latin typeface="Calibri"/>
              </a:rPr>
              <a:t>Fig. 4.5 (izquierda): patrón de intensidad I=|E|², componentes E_real, E_imag, fase aleatoria φ(x,y), puntos LHS y curvas de pérdida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713232"/>
          </a:xfrm>
          <a:prstGeom prst="rect">
            <a:avLst/>
          </a:prstGeom>
          <a:noFill/>
        </p:spPr>
        <p:txBody>
          <a:bodyPr wrap="square">
            <a:spAutoFit/>
          </a:bodyPr>
          <a:lstStyle/>
          <a:p>
            <a:pPr algn="l"/>
            <a:r>
              <a:rPr sz="2700" b="1" i="0">
                <a:solidFill>
                  <a:srgbClr val="FFFFFF"/>
                </a:solidFill>
                <a:latin typeface="Calibri"/>
              </a:rPr>
              <a:t>NB03: Validacion estadistica del speckle generado</a:t>
            </a:r>
          </a:p>
        </p:txBody>
      </p:sp>
      <p:sp>
        <p:nvSpPr>
          <p:cNvPr id="4" name="TextBox 3"/>
          <p:cNvSpPr txBox="1"/>
          <p:nvPr/>
        </p:nvSpPr>
        <p:spPr>
          <a:xfrm>
            <a:off x="11521440" y="6492240"/>
            <a:ext cx="548640" cy="274320"/>
          </a:xfrm>
          <a:prstGeom prst="rect">
            <a:avLst/>
          </a:prstGeom>
          <a:noFill/>
        </p:spPr>
        <p:txBody>
          <a:bodyPr wrap="square">
            <a:spAutoFit/>
          </a:bodyPr>
          <a:lstStyle/>
          <a:p>
            <a:pPr algn="r"/>
            <a:r>
              <a:rPr sz="1100" b="0" i="0">
                <a:solidFill>
                  <a:srgbClr val="AAAAAA"/>
                </a:solidFill>
                <a:latin typeface="Calibri"/>
              </a:rPr>
              <a:t>13</a:t>
            </a:r>
          </a:p>
        </p:txBody>
      </p:sp>
      <p:pic>
        <p:nvPicPr>
          <p:cNvPr id="5" name="Picture 4" descr="estadistica_speckle_nb03.png"/>
          <p:cNvPicPr>
            <a:picLocks noChangeAspect="1"/>
          </p:cNvPicPr>
          <p:nvPr/>
        </p:nvPicPr>
        <p:blipFill>
          <a:blip r:embed="rId2"/>
          <a:stretch>
            <a:fillRect/>
          </a:stretch>
        </p:blipFill>
        <p:spPr>
          <a:xfrm>
            <a:off x="182880" y="1024128"/>
            <a:ext cx="7132320" cy="4709160"/>
          </a:xfrm>
          <a:prstGeom prst="rect">
            <a:avLst/>
          </a:prstGeom>
        </p:spPr>
      </p:pic>
      <p:sp>
        <p:nvSpPr>
          <p:cNvPr id="6" name="TextBox 5"/>
          <p:cNvSpPr txBox="1"/>
          <p:nvPr/>
        </p:nvSpPr>
        <p:spPr>
          <a:xfrm>
            <a:off x="182880" y="5751576"/>
            <a:ext cx="7132320" cy="256032"/>
          </a:xfrm>
          <a:prstGeom prst="rect">
            <a:avLst/>
          </a:prstGeom>
          <a:noFill/>
        </p:spPr>
        <p:txBody>
          <a:bodyPr wrap="square">
            <a:spAutoFit/>
          </a:bodyPr>
          <a:lstStyle/>
          <a:p>
            <a:pPr algn="ctr"/>
            <a:r>
              <a:rPr sz="1000" b="0" i="1">
                <a:solidFill>
                  <a:srgbClr val="7A92AA"/>
                </a:solidFill>
                <a:latin typeface="Calibri"/>
              </a:rPr>
              <a:t>Fig. 4.5 (derecha): distribución de intensidades normalizada vs exponencial negativa teórica e^(−I/⟨I⟩)</a:t>
            </a:r>
          </a:p>
        </p:txBody>
      </p:sp>
      <p:sp>
        <p:nvSpPr>
          <p:cNvPr id="7" name="TextBox 6"/>
          <p:cNvSpPr txBox="1"/>
          <p:nvPr/>
        </p:nvSpPr>
        <p:spPr>
          <a:xfrm>
            <a:off x="7498079" y="1051560"/>
            <a:ext cx="4480560" cy="347472"/>
          </a:xfrm>
          <a:prstGeom prst="rect">
            <a:avLst/>
          </a:prstGeom>
          <a:noFill/>
        </p:spPr>
        <p:txBody>
          <a:bodyPr wrap="square">
            <a:spAutoFit/>
          </a:bodyPr>
          <a:lstStyle/>
          <a:p>
            <a:pPr algn="l"/>
            <a:r>
              <a:rPr sz="1600" b="1" i="0">
                <a:solidFill>
                  <a:srgbClr val="345C8C"/>
                </a:solidFill>
                <a:latin typeface="Calibri"/>
              </a:rPr>
              <a:t>Validacion estadistica (NB03)</a:t>
            </a:r>
          </a:p>
        </p:txBody>
      </p:sp>
      <p:sp>
        <p:nvSpPr>
          <p:cNvPr id="8" name="Rectangle 7"/>
          <p:cNvSpPr/>
          <p:nvPr/>
        </p:nvSpPr>
        <p:spPr>
          <a:xfrm>
            <a:off x="7498079" y="1463040"/>
            <a:ext cx="4480560" cy="457200"/>
          </a:xfrm>
          <a:prstGeom prst="rect">
            <a:avLst/>
          </a:prstGeom>
          <a:solidFill>
            <a:srgbClr val="345C8C"/>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16368" y="1545336"/>
            <a:ext cx="1234440" cy="320040"/>
          </a:xfrm>
          <a:prstGeom prst="rect">
            <a:avLst/>
          </a:prstGeom>
          <a:noFill/>
        </p:spPr>
        <p:txBody>
          <a:bodyPr wrap="square">
            <a:spAutoFit/>
          </a:bodyPr>
          <a:lstStyle/>
          <a:p>
            <a:pPr algn="l"/>
            <a:r>
              <a:rPr sz="1200" b="1" i="0">
                <a:solidFill>
                  <a:srgbClr val="FFFFFF"/>
                </a:solidFill>
                <a:latin typeface="Calibri"/>
              </a:rPr>
              <a:t>Metrica</a:t>
            </a:r>
          </a:p>
        </p:txBody>
      </p:sp>
      <p:sp>
        <p:nvSpPr>
          <p:cNvPr id="10" name="TextBox 9"/>
          <p:cNvSpPr txBox="1"/>
          <p:nvPr/>
        </p:nvSpPr>
        <p:spPr>
          <a:xfrm>
            <a:off x="8778240" y="1545336"/>
            <a:ext cx="987552" cy="320040"/>
          </a:xfrm>
          <a:prstGeom prst="rect">
            <a:avLst/>
          </a:prstGeom>
          <a:noFill/>
        </p:spPr>
        <p:txBody>
          <a:bodyPr wrap="square">
            <a:spAutoFit/>
          </a:bodyPr>
          <a:lstStyle/>
          <a:p>
            <a:pPr algn="ctr"/>
            <a:r>
              <a:rPr sz="1200" b="1" i="0">
                <a:solidFill>
                  <a:srgbClr val="FFFFFF"/>
                </a:solidFill>
                <a:latin typeface="Calibri"/>
              </a:rPr>
              <a:t>PINN</a:t>
            </a:r>
          </a:p>
        </p:txBody>
      </p:sp>
      <p:sp>
        <p:nvSpPr>
          <p:cNvPr id="11" name="TextBox 10"/>
          <p:cNvSpPr txBox="1"/>
          <p:nvPr/>
        </p:nvSpPr>
        <p:spPr>
          <a:xfrm>
            <a:off x="9784080" y="1545336"/>
            <a:ext cx="1234440" cy="320040"/>
          </a:xfrm>
          <a:prstGeom prst="rect">
            <a:avLst/>
          </a:prstGeom>
          <a:noFill/>
        </p:spPr>
        <p:txBody>
          <a:bodyPr wrap="square">
            <a:spAutoFit/>
          </a:bodyPr>
          <a:lstStyle/>
          <a:p>
            <a:pPr algn="ctr"/>
            <a:r>
              <a:rPr sz="1200" b="1" i="0">
                <a:solidFill>
                  <a:srgbClr val="FFFFFF"/>
                </a:solidFill>
                <a:latin typeface="Calibri"/>
              </a:rPr>
              <a:t>Teorico</a:t>
            </a:r>
          </a:p>
        </p:txBody>
      </p:sp>
      <p:sp>
        <p:nvSpPr>
          <p:cNvPr id="12" name="TextBox 11"/>
          <p:cNvSpPr txBox="1"/>
          <p:nvPr/>
        </p:nvSpPr>
        <p:spPr>
          <a:xfrm>
            <a:off x="11064240" y="1545336"/>
            <a:ext cx="777240" cy="320040"/>
          </a:xfrm>
          <a:prstGeom prst="rect">
            <a:avLst/>
          </a:prstGeom>
          <a:noFill/>
        </p:spPr>
        <p:txBody>
          <a:bodyPr wrap="square">
            <a:spAutoFit/>
          </a:bodyPr>
          <a:lstStyle/>
          <a:p>
            <a:pPr algn="ctr"/>
            <a:r>
              <a:rPr sz="1200" b="1" i="0">
                <a:solidFill>
                  <a:srgbClr val="FFFFFF"/>
                </a:solidFill>
                <a:latin typeface="Calibri"/>
              </a:rPr>
              <a:t>OK</a:t>
            </a:r>
          </a:p>
        </p:txBody>
      </p:sp>
      <p:sp>
        <p:nvSpPr>
          <p:cNvPr id="13" name="Rectangle 12"/>
          <p:cNvSpPr/>
          <p:nvPr/>
        </p:nvSpPr>
        <p:spPr>
          <a:xfrm>
            <a:off x="7498079" y="1938528"/>
            <a:ext cx="4480560" cy="457200"/>
          </a:xfrm>
          <a:prstGeom prst="rect">
            <a:avLst/>
          </a:prstGeom>
          <a:solidFill>
            <a:srgbClr val="FFFFFF"/>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16368" y="2020824"/>
            <a:ext cx="1234440" cy="320040"/>
          </a:xfrm>
          <a:prstGeom prst="rect">
            <a:avLst/>
          </a:prstGeom>
          <a:noFill/>
        </p:spPr>
        <p:txBody>
          <a:bodyPr wrap="square">
            <a:spAutoFit/>
          </a:bodyPr>
          <a:lstStyle/>
          <a:p>
            <a:pPr algn="l"/>
            <a:r>
              <a:rPr sz="1200" b="0" i="0">
                <a:solidFill>
                  <a:srgbClr val="2C2C2C"/>
                </a:solidFill>
                <a:latin typeface="Calibri"/>
              </a:rPr>
              <a:t>Contraste C</a:t>
            </a:r>
          </a:p>
        </p:txBody>
      </p:sp>
      <p:sp>
        <p:nvSpPr>
          <p:cNvPr id="15" name="TextBox 14"/>
          <p:cNvSpPr txBox="1"/>
          <p:nvPr/>
        </p:nvSpPr>
        <p:spPr>
          <a:xfrm>
            <a:off x="8778240" y="2020824"/>
            <a:ext cx="987552" cy="320040"/>
          </a:xfrm>
          <a:prstGeom prst="rect">
            <a:avLst/>
          </a:prstGeom>
          <a:noFill/>
        </p:spPr>
        <p:txBody>
          <a:bodyPr wrap="square">
            <a:spAutoFit/>
          </a:bodyPr>
          <a:lstStyle/>
          <a:p>
            <a:pPr algn="ctr"/>
            <a:r>
              <a:rPr sz="1200" b="1" i="0">
                <a:solidFill>
                  <a:srgbClr val="1B4F72"/>
                </a:solidFill>
                <a:latin typeface="Calibri"/>
              </a:rPr>
              <a:t>1.0253</a:t>
            </a:r>
          </a:p>
        </p:txBody>
      </p:sp>
      <p:sp>
        <p:nvSpPr>
          <p:cNvPr id="16" name="TextBox 15"/>
          <p:cNvSpPr txBox="1"/>
          <p:nvPr/>
        </p:nvSpPr>
        <p:spPr>
          <a:xfrm>
            <a:off x="9784080" y="2020824"/>
            <a:ext cx="1234440" cy="320040"/>
          </a:xfrm>
          <a:prstGeom prst="rect">
            <a:avLst/>
          </a:prstGeom>
          <a:noFill/>
        </p:spPr>
        <p:txBody>
          <a:bodyPr wrap="square">
            <a:spAutoFit/>
          </a:bodyPr>
          <a:lstStyle/>
          <a:p>
            <a:pPr algn="ctr"/>
            <a:r>
              <a:rPr sz="1200" b="0" i="0">
                <a:solidFill>
                  <a:srgbClr val="2C2C2C"/>
                </a:solidFill>
                <a:latin typeface="Calibri"/>
              </a:rPr>
              <a:t>= 1</a:t>
            </a:r>
          </a:p>
        </p:txBody>
      </p:sp>
      <p:sp>
        <p:nvSpPr>
          <p:cNvPr id="17" name="TextBox 16"/>
          <p:cNvSpPr txBox="1"/>
          <p:nvPr/>
        </p:nvSpPr>
        <p:spPr>
          <a:xfrm>
            <a:off x="11064240" y="2020824"/>
            <a:ext cx="777240" cy="320040"/>
          </a:xfrm>
          <a:prstGeom prst="rect">
            <a:avLst/>
          </a:prstGeom>
          <a:noFill/>
        </p:spPr>
        <p:txBody>
          <a:bodyPr wrap="square">
            <a:spAutoFit/>
          </a:bodyPr>
          <a:lstStyle/>
          <a:p>
            <a:pPr algn="ctr"/>
            <a:r>
              <a:rPr sz="1200" b="0" i="0">
                <a:solidFill>
                  <a:srgbClr val="2C2C2C"/>
                </a:solidFill>
                <a:latin typeface="Calibri"/>
              </a:rPr>
              <a:t/>
            </a:r>
          </a:p>
        </p:txBody>
      </p:sp>
      <p:sp>
        <p:nvSpPr>
          <p:cNvPr id="18" name="Rectangle 17"/>
          <p:cNvSpPr/>
          <p:nvPr/>
        </p:nvSpPr>
        <p:spPr>
          <a:xfrm>
            <a:off x="7498079" y="2414016"/>
            <a:ext cx="4480560" cy="457200"/>
          </a:xfrm>
          <a:prstGeom prst="rect">
            <a:avLst/>
          </a:prstGeom>
          <a:solidFill>
            <a:srgbClr val="F0F2F5"/>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16368" y="2496312"/>
            <a:ext cx="1234440" cy="320040"/>
          </a:xfrm>
          <a:prstGeom prst="rect">
            <a:avLst/>
          </a:prstGeom>
          <a:noFill/>
        </p:spPr>
        <p:txBody>
          <a:bodyPr wrap="square">
            <a:spAutoFit/>
          </a:bodyPr>
          <a:lstStyle/>
          <a:p>
            <a:pPr algn="l"/>
            <a:r>
              <a:rPr sz="1200" b="0" i="0">
                <a:solidFill>
                  <a:srgbClr val="2C2C2C"/>
                </a:solidFill>
                <a:latin typeface="Calibri"/>
              </a:rPr>
              <a:t>|C - 1|</a:t>
            </a:r>
          </a:p>
        </p:txBody>
      </p:sp>
      <p:sp>
        <p:nvSpPr>
          <p:cNvPr id="20" name="TextBox 19"/>
          <p:cNvSpPr txBox="1"/>
          <p:nvPr/>
        </p:nvSpPr>
        <p:spPr>
          <a:xfrm>
            <a:off x="8778240" y="2496312"/>
            <a:ext cx="987552" cy="320040"/>
          </a:xfrm>
          <a:prstGeom prst="rect">
            <a:avLst/>
          </a:prstGeom>
          <a:noFill/>
        </p:spPr>
        <p:txBody>
          <a:bodyPr wrap="square">
            <a:spAutoFit/>
          </a:bodyPr>
          <a:lstStyle/>
          <a:p>
            <a:pPr algn="ctr"/>
            <a:r>
              <a:rPr sz="1200" b="1" i="0">
                <a:solidFill>
                  <a:srgbClr val="1B4F72"/>
                </a:solidFill>
                <a:latin typeface="Calibri"/>
              </a:rPr>
              <a:t>0.025</a:t>
            </a:r>
          </a:p>
        </p:txBody>
      </p:sp>
      <p:sp>
        <p:nvSpPr>
          <p:cNvPr id="21" name="TextBox 20"/>
          <p:cNvSpPr txBox="1"/>
          <p:nvPr/>
        </p:nvSpPr>
        <p:spPr>
          <a:xfrm>
            <a:off x="9784080" y="2496312"/>
            <a:ext cx="1234440" cy="320040"/>
          </a:xfrm>
          <a:prstGeom prst="rect">
            <a:avLst/>
          </a:prstGeom>
          <a:noFill/>
        </p:spPr>
        <p:txBody>
          <a:bodyPr wrap="square">
            <a:spAutoFit/>
          </a:bodyPr>
          <a:lstStyle/>
          <a:p>
            <a:pPr algn="ctr"/>
            <a:r>
              <a:rPr sz="1200" b="0" i="0">
                <a:solidFill>
                  <a:srgbClr val="2C2C2C"/>
                </a:solidFill>
                <a:latin typeface="Calibri"/>
              </a:rPr>
              <a:t>&lt; 0.1</a:t>
            </a:r>
          </a:p>
        </p:txBody>
      </p:sp>
      <p:sp>
        <p:nvSpPr>
          <p:cNvPr id="22" name="TextBox 21"/>
          <p:cNvSpPr txBox="1"/>
          <p:nvPr/>
        </p:nvSpPr>
        <p:spPr>
          <a:xfrm>
            <a:off x="11064240" y="2496312"/>
            <a:ext cx="777240" cy="320040"/>
          </a:xfrm>
          <a:prstGeom prst="rect">
            <a:avLst/>
          </a:prstGeom>
          <a:noFill/>
        </p:spPr>
        <p:txBody>
          <a:bodyPr wrap="square">
            <a:spAutoFit/>
          </a:bodyPr>
          <a:lstStyle/>
          <a:p>
            <a:pPr algn="ctr"/>
            <a:r>
              <a:rPr sz="1200" b="0" i="0">
                <a:solidFill>
                  <a:srgbClr val="1A5C2A"/>
                </a:solidFill>
                <a:latin typeface="Calibri"/>
              </a:rPr>
              <a:t>cumple</a:t>
            </a:r>
          </a:p>
        </p:txBody>
      </p:sp>
      <p:sp>
        <p:nvSpPr>
          <p:cNvPr id="23" name="Rectangle 22"/>
          <p:cNvSpPr/>
          <p:nvPr/>
        </p:nvSpPr>
        <p:spPr>
          <a:xfrm>
            <a:off x="7498079" y="2889504"/>
            <a:ext cx="4480560" cy="457200"/>
          </a:xfrm>
          <a:prstGeom prst="rect">
            <a:avLst/>
          </a:prstGeom>
          <a:solidFill>
            <a:srgbClr val="FFF8E8"/>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16368" y="2971800"/>
            <a:ext cx="1234440" cy="320040"/>
          </a:xfrm>
          <a:prstGeom prst="rect">
            <a:avLst/>
          </a:prstGeom>
          <a:noFill/>
        </p:spPr>
        <p:txBody>
          <a:bodyPr wrap="square">
            <a:spAutoFit/>
          </a:bodyPr>
          <a:lstStyle/>
          <a:p>
            <a:pPr algn="l"/>
            <a:r>
              <a:rPr sz="1200" b="0" i="0">
                <a:solidFill>
                  <a:srgbClr val="2C2C2C"/>
                </a:solidFill>
                <a:latin typeface="Calibri"/>
              </a:rPr>
              <a:t>KS p-valor</a:t>
            </a:r>
          </a:p>
        </p:txBody>
      </p:sp>
      <p:sp>
        <p:nvSpPr>
          <p:cNvPr id="25" name="TextBox 24"/>
          <p:cNvSpPr txBox="1"/>
          <p:nvPr/>
        </p:nvSpPr>
        <p:spPr>
          <a:xfrm>
            <a:off x="8778240" y="2971800"/>
            <a:ext cx="987552" cy="320040"/>
          </a:xfrm>
          <a:prstGeom prst="rect">
            <a:avLst/>
          </a:prstGeom>
          <a:noFill/>
        </p:spPr>
        <p:txBody>
          <a:bodyPr wrap="square">
            <a:spAutoFit/>
          </a:bodyPr>
          <a:lstStyle/>
          <a:p>
            <a:pPr algn="ctr"/>
            <a:r>
              <a:rPr sz="1200" b="0" i="0">
                <a:solidFill>
                  <a:srgbClr val="2C2C2C"/>
                </a:solidFill>
                <a:latin typeface="Calibri"/>
              </a:rPr>
              <a:t>&lt; 0.0001</a:t>
            </a:r>
          </a:p>
        </p:txBody>
      </p:sp>
      <p:sp>
        <p:nvSpPr>
          <p:cNvPr id="26" name="TextBox 25"/>
          <p:cNvSpPr txBox="1"/>
          <p:nvPr/>
        </p:nvSpPr>
        <p:spPr>
          <a:xfrm>
            <a:off x="9784080" y="2971800"/>
            <a:ext cx="1234440" cy="320040"/>
          </a:xfrm>
          <a:prstGeom prst="rect">
            <a:avLst/>
          </a:prstGeom>
          <a:noFill/>
        </p:spPr>
        <p:txBody>
          <a:bodyPr wrap="square">
            <a:spAutoFit/>
          </a:bodyPr>
          <a:lstStyle/>
          <a:p>
            <a:pPr algn="ctr"/>
            <a:r>
              <a:rPr sz="1200" b="0" i="0">
                <a:solidFill>
                  <a:srgbClr val="2C2C2C"/>
                </a:solidFill>
                <a:latin typeface="Calibri"/>
              </a:rPr>
              <a:t>&gt; 0.05</a:t>
            </a:r>
          </a:p>
        </p:txBody>
      </p:sp>
      <p:sp>
        <p:nvSpPr>
          <p:cNvPr id="27" name="TextBox 26"/>
          <p:cNvSpPr txBox="1"/>
          <p:nvPr/>
        </p:nvSpPr>
        <p:spPr>
          <a:xfrm>
            <a:off x="11064240" y="2971800"/>
            <a:ext cx="777240" cy="320040"/>
          </a:xfrm>
          <a:prstGeom prst="rect">
            <a:avLst/>
          </a:prstGeom>
          <a:noFill/>
        </p:spPr>
        <p:txBody>
          <a:bodyPr wrap="square">
            <a:spAutoFit/>
          </a:bodyPr>
          <a:lstStyle/>
          <a:p>
            <a:pPr algn="ctr"/>
            <a:r>
              <a:rPr sz="1200" b="0" i="0">
                <a:solidFill>
                  <a:srgbClr val="995500"/>
                </a:solidFill>
                <a:latin typeface="Calibri"/>
              </a:rPr>
              <a:t>ver nota</a:t>
            </a:r>
          </a:p>
        </p:txBody>
      </p:sp>
      <p:sp>
        <p:nvSpPr>
          <p:cNvPr id="28" name="Rectangle 27"/>
          <p:cNvSpPr/>
          <p:nvPr/>
        </p:nvSpPr>
        <p:spPr>
          <a:xfrm>
            <a:off x="7498079" y="3364992"/>
            <a:ext cx="4480560" cy="457200"/>
          </a:xfrm>
          <a:prstGeom prst="rect">
            <a:avLst/>
          </a:prstGeom>
          <a:solidFill>
            <a:srgbClr val="F0F2F5"/>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16368" y="3447288"/>
            <a:ext cx="1234440" cy="320040"/>
          </a:xfrm>
          <a:prstGeom prst="rect">
            <a:avLst/>
          </a:prstGeom>
          <a:noFill/>
        </p:spPr>
        <p:txBody>
          <a:bodyPr wrap="square">
            <a:spAutoFit/>
          </a:bodyPr>
          <a:lstStyle/>
          <a:p>
            <a:pPr algn="l"/>
            <a:r>
              <a:rPr sz="1200" b="0" i="0">
                <a:solidFill>
                  <a:srgbClr val="2C2C2C"/>
                </a:solidFill>
                <a:latin typeface="Calibri"/>
              </a:rPr>
              <a:t>Frac. I&gt;2⟨I⟩</a:t>
            </a:r>
          </a:p>
        </p:txBody>
      </p:sp>
      <p:sp>
        <p:nvSpPr>
          <p:cNvPr id="30" name="TextBox 29"/>
          <p:cNvSpPr txBox="1"/>
          <p:nvPr/>
        </p:nvSpPr>
        <p:spPr>
          <a:xfrm>
            <a:off x="8778240" y="3447288"/>
            <a:ext cx="987552" cy="320040"/>
          </a:xfrm>
          <a:prstGeom prst="rect">
            <a:avLst/>
          </a:prstGeom>
          <a:noFill/>
        </p:spPr>
        <p:txBody>
          <a:bodyPr wrap="square">
            <a:spAutoFit/>
          </a:bodyPr>
          <a:lstStyle/>
          <a:p>
            <a:pPr algn="ctr"/>
            <a:r>
              <a:rPr sz="1200" b="0" i="0">
                <a:solidFill>
                  <a:srgbClr val="2C2C2C"/>
                </a:solidFill>
                <a:latin typeface="Calibri"/>
              </a:rPr>
              <a:t>≈ 0.135</a:t>
            </a:r>
          </a:p>
        </p:txBody>
      </p:sp>
      <p:sp>
        <p:nvSpPr>
          <p:cNvPr id="31" name="TextBox 30"/>
          <p:cNvSpPr txBox="1"/>
          <p:nvPr/>
        </p:nvSpPr>
        <p:spPr>
          <a:xfrm>
            <a:off x="9784080" y="3447288"/>
            <a:ext cx="1234440" cy="320040"/>
          </a:xfrm>
          <a:prstGeom prst="rect">
            <a:avLst/>
          </a:prstGeom>
          <a:noFill/>
        </p:spPr>
        <p:txBody>
          <a:bodyPr wrap="square">
            <a:spAutoFit/>
          </a:bodyPr>
          <a:lstStyle/>
          <a:p>
            <a:pPr algn="ctr"/>
            <a:r>
              <a:rPr sz="1200" b="0" i="0">
                <a:solidFill>
                  <a:srgbClr val="2C2C2C"/>
                </a:solidFill>
                <a:latin typeface="Calibri"/>
              </a:rPr>
              <a:t>e⁻² ≈ 0.1353</a:t>
            </a:r>
          </a:p>
        </p:txBody>
      </p:sp>
      <p:sp>
        <p:nvSpPr>
          <p:cNvPr id="32" name="TextBox 31"/>
          <p:cNvSpPr txBox="1"/>
          <p:nvPr/>
        </p:nvSpPr>
        <p:spPr>
          <a:xfrm>
            <a:off x="11064240" y="3447288"/>
            <a:ext cx="777240" cy="320040"/>
          </a:xfrm>
          <a:prstGeom prst="rect">
            <a:avLst/>
          </a:prstGeom>
          <a:noFill/>
        </p:spPr>
        <p:txBody>
          <a:bodyPr wrap="square">
            <a:spAutoFit/>
          </a:bodyPr>
          <a:lstStyle/>
          <a:p>
            <a:pPr algn="ctr"/>
            <a:r>
              <a:rPr sz="1200" b="0" i="0">
                <a:solidFill>
                  <a:srgbClr val="1A5C2A"/>
                </a:solidFill>
                <a:latin typeface="Calibri"/>
              </a:rPr>
              <a:t>cumple</a:t>
            </a:r>
          </a:p>
        </p:txBody>
      </p:sp>
      <p:sp>
        <p:nvSpPr>
          <p:cNvPr id="33" name="Rectangle 32"/>
          <p:cNvSpPr/>
          <p:nvPr/>
        </p:nvSpPr>
        <p:spPr>
          <a:xfrm>
            <a:off x="7498079" y="3840480"/>
            <a:ext cx="4480560" cy="457200"/>
          </a:xfrm>
          <a:prstGeom prst="rect">
            <a:avLst/>
          </a:prstGeom>
          <a:solidFill>
            <a:srgbClr val="FFFFFF"/>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16368" y="3922776"/>
            <a:ext cx="1234440" cy="320040"/>
          </a:xfrm>
          <a:prstGeom prst="rect">
            <a:avLst/>
          </a:prstGeom>
          <a:noFill/>
        </p:spPr>
        <p:txBody>
          <a:bodyPr wrap="square">
            <a:spAutoFit/>
          </a:bodyPr>
          <a:lstStyle/>
          <a:p>
            <a:pPr algn="l"/>
            <a:r>
              <a:rPr sz="1200" b="0" i="0">
                <a:solidFill>
                  <a:srgbClr val="2C2C2C"/>
                </a:solidFill>
                <a:latin typeface="Calibri"/>
              </a:rPr>
              <a:t>Tiempo total</a:t>
            </a:r>
          </a:p>
        </p:txBody>
      </p:sp>
      <p:sp>
        <p:nvSpPr>
          <p:cNvPr id="35" name="TextBox 34"/>
          <p:cNvSpPr txBox="1"/>
          <p:nvPr/>
        </p:nvSpPr>
        <p:spPr>
          <a:xfrm>
            <a:off x="8778240" y="3922776"/>
            <a:ext cx="987552" cy="320040"/>
          </a:xfrm>
          <a:prstGeom prst="rect">
            <a:avLst/>
          </a:prstGeom>
          <a:noFill/>
        </p:spPr>
        <p:txBody>
          <a:bodyPr wrap="square">
            <a:spAutoFit/>
          </a:bodyPr>
          <a:lstStyle/>
          <a:p>
            <a:pPr algn="ctr"/>
            <a:r>
              <a:rPr sz="1200" b="0" i="0">
                <a:solidFill>
                  <a:srgbClr val="2C2C2C"/>
                </a:solidFill>
                <a:latin typeface="Calibri"/>
              </a:rPr>
              <a:t>227 s</a:t>
            </a:r>
          </a:p>
        </p:txBody>
      </p:sp>
      <p:sp>
        <p:nvSpPr>
          <p:cNvPr id="36" name="TextBox 35"/>
          <p:cNvSpPr txBox="1"/>
          <p:nvPr/>
        </p:nvSpPr>
        <p:spPr>
          <a:xfrm>
            <a:off x="9784080" y="3922776"/>
            <a:ext cx="1234440" cy="320040"/>
          </a:xfrm>
          <a:prstGeom prst="rect">
            <a:avLst/>
          </a:prstGeom>
          <a:noFill/>
        </p:spPr>
        <p:txBody>
          <a:bodyPr wrap="square">
            <a:spAutoFit/>
          </a:bodyPr>
          <a:lstStyle/>
          <a:p>
            <a:pPr algn="ctr"/>
            <a:r>
              <a:rPr sz="1200" b="0" i="0">
                <a:solidFill>
                  <a:srgbClr val="2C2C2C"/>
                </a:solidFill>
                <a:latin typeface="Calibri"/>
              </a:rPr>
              <a:t>--</a:t>
            </a:r>
          </a:p>
        </p:txBody>
      </p:sp>
      <p:sp>
        <p:nvSpPr>
          <p:cNvPr id="37" name="TextBox 36"/>
          <p:cNvSpPr txBox="1"/>
          <p:nvPr/>
        </p:nvSpPr>
        <p:spPr>
          <a:xfrm>
            <a:off x="11064240" y="3922776"/>
            <a:ext cx="777240" cy="320040"/>
          </a:xfrm>
          <a:prstGeom prst="rect">
            <a:avLst/>
          </a:prstGeom>
          <a:noFill/>
        </p:spPr>
        <p:txBody>
          <a:bodyPr wrap="square">
            <a:spAutoFit/>
          </a:bodyPr>
          <a:lstStyle/>
          <a:p>
            <a:pPr algn="ctr"/>
            <a:r>
              <a:rPr sz="1200" b="0" i="0">
                <a:solidFill>
                  <a:srgbClr val="2C2C2C"/>
                </a:solidFill>
                <a:latin typeface="Calibri"/>
              </a:rPr>
              <a:t/>
            </a:r>
          </a:p>
        </p:txBody>
      </p:sp>
      <p:sp>
        <p:nvSpPr>
          <p:cNvPr id="38" name="Rectangle 37"/>
          <p:cNvSpPr/>
          <p:nvPr/>
        </p:nvSpPr>
        <p:spPr>
          <a:xfrm>
            <a:off x="7498079" y="4434840"/>
            <a:ext cx="4480560" cy="1325880"/>
          </a:xfrm>
          <a:prstGeom prst="rect">
            <a:avLst/>
          </a:prstGeom>
          <a:solidFill>
            <a:srgbClr val="FFF8E8"/>
          </a:solidFill>
          <a:ln w="12700">
            <a:solidFill>
              <a:srgbClr val="AA8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35240" y="4507992"/>
            <a:ext cx="4206240" cy="320040"/>
          </a:xfrm>
          <a:prstGeom prst="rect">
            <a:avLst/>
          </a:prstGeom>
          <a:noFill/>
        </p:spPr>
        <p:txBody>
          <a:bodyPr wrap="square">
            <a:spAutoFit/>
          </a:bodyPr>
          <a:lstStyle/>
          <a:p>
            <a:pPr algn="l"/>
            <a:r>
              <a:rPr sz="1300" b="1" i="0">
                <a:solidFill>
                  <a:srgbClr val="995500"/>
                </a:solidFill>
                <a:latin typeface="Calibri"/>
              </a:rPr>
              <a:t>Nota sobre KS p &lt; 0.05:</a:t>
            </a:r>
          </a:p>
        </p:txBody>
      </p:sp>
      <p:sp>
        <p:nvSpPr>
          <p:cNvPr id="40" name="TextBox 39"/>
          <p:cNvSpPr txBox="1"/>
          <p:nvPr/>
        </p:nvSpPr>
        <p:spPr>
          <a:xfrm>
            <a:off x="7635240" y="4828032"/>
            <a:ext cx="4206240" cy="822960"/>
          </a:xfrm>
          <a:prstGeom prst="rect">
            <a:avLst/>
          </a:prstGeom>
          <a:noFill/>
        </p:spPr>
        <p:txBody>
          <a:bodyPr wrap="square">
            <a:spAutoFit/>
          </a:bodyPr>
          <a:lstStyle/>
          <a:p>
            <a:pPr algn="l"/>
            <a:r>
              <a:rPr sz="1100" b="0" i="0">
                <a:solidFill>
                  <a:srgbClr val="2C2C2C"/>
                </a:solidFill>
                <a:latin typeface="Calibri"/>
              </a:rPr>
              <a:t>Con N = 10,000 puntos el test KS tiene alta potencia estadistica: desviaciones &lt; 1% resultan significativas aunque sean fisicamente irrelevantes. El criterio principal |C-1| &lt; 0.1 se cumple con margen amplio.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713232"/>
          </a:xfrm>
          <a:prstGeom prst="rect">
            <a:avLst/>
          </a:prstGeom>
          <a:noFill/>
        </p:spPr>
        <p:txBody>
          <a:bodyPr wrap="square">
            <a:spAutoFit/>
          </a:bodyPr>
          <a:lstStyle/>
          <a:p>
            <a:pPr algn="l"/>
            <a:r>
              <a:rPr sz="2700" b="1" i="0">
                <a:solidFill>
                  <a:srgbClr val="FFFFFF"/>
                </a:solidFill>
                <a:latin typeface="Calibri"/>
              </a:rPr>
              <a:t>Comparativa con el estado del arte</a:t>
            </a:r>
          </a:p>
        </p:txBody>
      </p:sp>
      <p:sp>
        <p:nvSpPr>
          <p:cNvPr id="4" name="TextBox 3"/>
          <p:cNvSpPr txBox="1"/>
          <p:nvPr/>
        </p:nvSpPr>
        <p:spPr>
          <a:xfrm>
            <a:off x="11521440" y="6492240"/>
            <a:ext cx="548640" cy="274320"/>
          </a:xfrm>
          <a:prstGeom prst="rect">
            <a:avLst/>
          </a:prstGeom>
          <a:noFill/>
        </p:spPr>
        <p:txBody>
          <a:bodyPr wrap="square">
            <a:spAutoFit/>
          </a:bodyPr>
          <a:lstStyle/>
          <a:p>
            <a:pPr algn="r"/>
            <a:r>
              <a:rPr sz="1100" b="0" i="0">
                <a:solidFill>
                  <a:srgbClr val="AAAAAA"/>
                </a:solidFill>
                <a:latin typeface="Calibri"/>
              </a:rPr>
              <a:t>14</a:t>
            </a:r>
          </a:p>
        </p:txBody>
      </p:sp>
      <p:sp>
        <p:nvSpPr>
          <p:cNvPr id="5" name="TextBox 4"/>
          <p:cNvSpPr txBox="1"/>
          <p:nvPr/>
        </p:nvSpPr>
        <p:spPr>
          <a:xfrm>
            <a:off x="365760" y="1051560"/>
            <a:ext cx="11430000" cy="320040"/>
          </a:xfrm>
          <a:prstGeom prst="rect">
            <a:avLst/>
          </a:prstGeom>
          <a:noFill/>
        </p:spPr>
        <p:txBody>
          <a:bodyPr wrap="square">
            <a:spAutoFit/>
          </a:bodyPr>
          <a:lstStyle/>
          <a:p>
            <a:pPr algn="l"/>
            <a:r>
              <a:rPr sz="1400" b="0" i="1">
                <a:solidFill>
                  <a:srgbClr val="7A92AA"/>
                </a:solidFill>
                <a:latin typeface="Calibri"/>
              </a:rPr>
              <a:t>Referencia: Schoder &amp; Kraxberger (2024) - PINNs convencionales (activacion tanh) para Helmholtz 3D</a:t>
            </a:r>
          </a:p>
        </p:txBody>
      </p:sp>
      <p:sp>
        <p:nvSpPr>
          <p:cNvPr id="6" name="Rectangle 5"/>
          <p:cNvSpPr/>
          <p:nvPr/>
        </p:nvSpPr>
        <p:spPr>
          <a:xfrm>
            <a:off x="365760" y="1463040"/>
            <a:ext cx="4114800" cy="475488"/>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536192"/>
            <a:ext cx="4023360" cy="320040"/>
          </a:xfrm>
          <a:prstGeom prst="rect">
            <a:avLst/>
          </a:prstGeom>
          <a:noFill/>
        </p:spPr>
        <p:txBody>
          <a:bodyPr wrap="square">
            <a:spAutoFit/>
          </a:bodyPr>
          <a:lstStyle/>
          <a:p>
            <a:pPr algn="ctr"/>
            <a:r>
              <a:rPr sz="1400" b="1" i="0">
                <a:solidFill>
                  <a:srgbClr val="FFFFFF"/>
                </a:solidFill>
                <a:latin typeface="Calibri"/>
              </a:rPr>
              <a:t>Metodo</a:t>
            </a:r>
          </a:p>
        </p:txBody>
      </p:sp>
      <p:sp>
        <p:nvSpPr>
          <p:cNvPr id="8" name="Rectangle 7"/>
          <p:cNvSpPr/>
          <p:nvPr/>
        </p:nvSpPr>
        <p:spPr>
          <a:xfrm>
            <a:off x="4480560" y="1463040"/>
            <a:ext cx="1371600" cy="475488"/>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536192"/>
            <a:ext cx="1280160" cy="320040"/>
          </a:xfrm>
          <a:prstGeom prst="rect">
            <a:avLst/>
          </a:prstGeom>
          <a:noFill/>
        </p:spPr>
        <p:txBody>
          <a:bodyPr wrap="square">
            <a:spAutoFit/>
          </a:bodyPr>
          <a:lstStyle/>
          <a:p>
            <a:pPr algn="ctr"/>
            <a:r>
              <a:rPr sz="1400" b="1" i="0">
                <a:solidFill>
                  <a:srgbClr val="FFFFFF"/>
                </a:solidFill>
                <a:latin typeface="Calibri"/>
              </a:rPr>
              <a:t>Dimension</a:t>
            </a:r>
          </a:p>
        </p:txBody>
      </p:sp>
      <p:sp>
        <p:nvSpPr>
          <p:cNvPr id="10" name="Rectangle 9"/>
          <p:cNvSpPr/>
          <p:nvPr/>
        </p:nvSpPr>
        <p:spPr>
          <a:xfrm>
            <a:off x="5852160" y="1463040"/>
            <a:ext cx="1645920" cy="475488"/>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97880" y="1536192"/>
            <a:ext cx="1554480" cy="320040"/>
          </a:xfrm>
          <a:prstGeom prst="rect">
            <a:avLst/>
          </a:prstGeom>
          <a:noFill/>
        </p:spPr>
        <p:txBody>
          <a:bodyPr wrap="square">
            <a:spAutoFit/>
          </a:bodyPr>
          <a:lstStyle/>
          <a:p>
            <a:pPr algn="ctr"/>
            <a:r>
              <a:rPr sz="1400" b="1" i="0">
                <a:solidFill>
                  <a:srgbClr val="FFFFFF"/>
                </a:solidFill>
                <a:latin typeface="Calibri"/>
              </a:rPr>
              <a:t>Error L2 (%)</a:t>
            </a:r>
          </a:p>
        </p:txBody>
      </p:sp>
      <p:sp>
        <p:nvSpPr>
          <p:cNvPr id="12" name="Rectangle 11"/>
          <p:cNvSpPr/>
          <p:nvPr/>
        </p:nvSpPr>
        <p:spPr>
          <a:xfrm>
            <a:off x="7498079" y="1463040"/>
            <a:ext cx="2194560" cy="475488"/>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43800" y="1536192"/>
            <a:ext cx="2103120" cy="320040"/>
          </a:xfrm>
          <a:prstGeom prst="rect">
            <a:avLst/>
          </a:prstGeom>
          <a:noFill/>
        </p:spPr>
        <p:txBody>
          <a:bodyPr wrap="square">
            <a:spAutoFit/>
          </a:bodyPr>
          <a:lstStyle/>
          <a:p>
            <a:pPr algn="ctr"/>
            <a:r>
              <a:rPr sz="1400" b="1" i="0">
                <a:solidFill>
                  <a:srgbClr val="FFFFFF"/>
                </a:solidFill>
                <a:latin typeface="Calibri"/>
              </a:rPr>
              <a:t>Factor de mejora</a:t>
            </a:r>
          </a:p>
        </p:txBody>
      </p:sp>
      <p:sp>
        <p:nvSpPr>
          <p:cNvPr id="14" name="Rectangle 13"/>
          <p:cNvSpPr/>
          <p:nvPr/>
        </p:nvSpPr>
        <p:spPr>
          <a:xfrm>
            <a:off x="365760" y="2029968"/>
            <a:ext cx="4114800" cy="548640"/>
          </a:xfrm>
          <a:prstGeom prst="rect">
            <a:avLst/>
          </a:prstGeom>
          <a:solidFill>
            <a:srgbClr val="F0F2F5"/>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2121408"/>
            <a:ext cx="4023360" cy="384048"/>
          </a:xfrm>
          <a:prstGeom prst="rect">
            <a:avLst/>
          </a:prstGeom>
          <a:noFill/>
        </p:spPr>
        <p:txBody>
          <a:bodyPr wrap="square">
            <a:spAutoFit/>
          </a:bodyPr>
          <a:lstStyle/>
          <a:p>
            <a:pPr algn="l"/>
            <a:r>
              <a:rPr sz="1400" b="0" i="0">
                <a:solidFill>
                  <a:srgbClr val="2C2C2C"/>
                </a:solidFill>
                <a:latin typeface="Calibri"/>
              </a:rPr>
              <a:t>Schoder &amp; Kraxberger (2024)</a:t>
            </a:r>
          </a:p>
        </p:txBody>
      </p:sp>
      <p:sp>
        <p:nvSpPr>
          <p:cNvPr id="16" name="Rectangle 15"/>
          <p:cNvSpPr/>
          <p:nvPr/>
        </p:nvSpPr>
        <p:spPr>
          <a:xfrm>
            <a:off x="4480560" y="2029968"/>
            <a:ext cx="1371600" cy="548640"/>
          </a:xfrm>
          <a:prstGeom prst="rect">
            <a:avLst/>
          </a:prstGeom>
          <a:solidFill>
            <a:srgbClr val="F0F2F5"/>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2121408"/>
            <a:ext cx="1280160" cy="384048"/>
          </a:xfrm>
          <a:prstGeom prst="rect">
            <a:avLst/>
          </a:prstGeom>
          <a:noFill/>
        </p:spPr>
        <p:txBody>
          <a:bodyPr wrap="square">
            <a:spAutoFit/>
          </a:bodyPr>
          <a:lstStyle/>
          <a:p>
            <a:pPr algn="ctr"/>
            <a:r>
              <a:rPr sz="1400" b="0" i="0">
                <a:solidFill>
                  <a:srgbClr val="2C2C2C"/>
                </a:solidFill>
                <a:latin typeface="Calibri"/>
              </a:rPr>
              <a:t>1D</a:t>
            </a:r>
          </a:p>
        </p:txBody>
      </p:sp>
      <p:sp>
        <p:nvSpPr>
          <p:cNvPr id="18" name="Rectangle 17"/>
          <p:cNvSpPr/>
          <p:nvPr/>
        </p:nvSpPr>
        <p:spPr>
          <a:xfrm>
            <a:off x="5852160" y="2029968"/>
            <a:ext cx="1645920" cy="548640"/>
          </a:xfrm>
          <a:prstGeom prst="rect">
            <a:avLst/>
          </a:prstGeom>
          <a:solidFill>
            <a:srgbClr val="F0F2F5"/>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97880" y="2121408"/>
            <a:ext cx="1554480" cy="384048"/>
          </a:xfrm>
          <a:prstGeom prst="rect">
            <a:avLst/>
          </a:prstGeom>
          <a:noFill/>
        </p:spPr>
        <p:txBody>
          <a:bodyPr wrap="square">
            <a:spAutoFit/>
          </a:bodyPr>
          <a:lstStyle/>
          <a:p>
            <a:pPr algn="ctr"/>
            <a:r>
              <a:rPr sz="1400" b="0" i="0">
                <a:solidFill>
                  <a:srgbClr val="2C2C2C"/>
                </a:solidFill>
                <a:latin typeface="Calibri"/>
              </a:rPr>
              <a:t>2.490</a:t>
            </a:r>
          </a:p>
        </p:txBody>
      </p:sp>
      <p:sp>
        <p:nvSpPr>
          <p:cNvPr id="20" name="Rectangle 19"/>
          <p:cNvSpPr/>
          <p:nvPr/>
        </p:nvSpPr>
        <p:spPr>
          <a:xfrm>
            <a:off x="7498079" y="2029968"/>
            <a:ext cx="2194560" cy="548640"/>
          </a:xfrm>
          <a:prstGeom prst="rect">
            <a:avLst/>
          </a:prstGeom>
          <a:solidFill>
            <a:srgbClr val="F0F2F5"/>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43800" y="2121408"/>
            <a:ext cx="2103120" cy="384048"/>
          </a:xfrm>
          <a:prstGeom prst="rect">
            <a:avLst/>
          </a:prstGeom>
          <a:noFill/>
        </p:spPr>
        <p:txBody>
          <a:bodyPr wrap="square">
            <a:spAutoFit/>
          </a:bodyPr>
          <a:lstStyle/>
          <a:p>
            <a:pPr algn="ctr"/>
            <a:r>
              <a:rPr sz="1400" b="0" i="0">
                <a:solidFill>
                  <a:srgbClr val="2C2C2C"/>
                </a:solidFill>
                <a:latin typeface="Calibri"/>
              </a:rPr>
              <a:t>--</a:t>
            </a:r>
          </a:p>
        </p:txBody>
      </p:sp>
      <p:sp>
        <p:nvSpPr>
          <p:cNvPr id="22" name="Rectangle 21"/>
          <p:cNvSpPr/>
          <p:nvPr/>
        </p:nvSpPr>
        <p:spPr>
          <a:xfrm>
            <a:off x="365760" y="2596896"/>
            <a:ext cx="4114800" cy="548640"/>
          </a:xfrm>
          <a:prstGeom prst="rect">
            <a:avLst/>
          </a:prstGeom>
          <a:solidFill>
            <a:srgbClr val="FFFFFF"/>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2688336"/>
            <a:ext cx="4023360" cy="384048"/>
          </a:xfrm>
          <a:prstGeom prst="rect">
            <a:avLst/>
          </a:prstGeom>
          <a:noFill/>
        </p:spPr>
        <p:txBody>
          <a:bodyPr wrap="square">
            <a:spAutoFit/>
          </a:bodyPr>
          <a:lstStyle/>
          <a:p>
            <a:pPr algn="l"/>
            <a:r>
              <a:rPr sz="1400" b="0" i="0">
                <a:solidFill>
                  <a:srgbClr val="2C2C2C"/>
                </a:solidFill>
                <a:latin typeface="Calibri"/>
              </a:rPr>
              <a:t>Schoder &amp; Kraxberger (2024)</a:t>
            </a:r>
          </a:p>
        </p:txBody>
      </p:sp>
      <p:sp>
        <p:nvSpPr>
          <p:cNvPr id="24" name="Rectangle 23"/>
          <p:cNvSpPr/>
          <p:nvPr/>
        </p:nvSpPr>
        <p:spPr>
          <a:xfrm>
            <a:off x="4480560" y="2596896"/>
            <a:ext cx="1371600" cy="548640"/>
          </a:xfrm>
          <a:prstGeom prst="rect">
            <a:avLst/>
          </a:prstGeom>
          <a:solidFill>
            <a:srgbClr val="FFFFFF"/>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26280" y="2688336"/>
            <a:ext cx="1280160" cy="384048"/>
          </a:xfrm>
          <a:prstGeom prst="rect">
            <a:avLst/>
          </a:prstGeom>
          <a:noFill/>
        </p:spPr>
        <p:txBody>
          <a:bodyPr wrap="square">
            <a:spAutoFit/>
          </a:bodyPr>
          <a:lstStyle/>
          <a:p>
            <a:pPr algn="ctr"/>
            <a:r>
              <a:rPr sz="1400" b="0" i="0">
                <a:solidFill>
                  <a:srgbClr val="2C2C2C"/>
                </a:solidFill>
                <a:latin typeface="Calibri"/>
              </a:rPr>
              <a:t>2D</a:t>
            </a:r>
          </a:p>
        </p:txBody>
      </p:sp>
      <p:sp>
        <p:nvSpPr>
          <p:cNvPr id="26" name="Rectangle 25"/>
          <p:cNvSpPr/>
          <p:nvPr/>
        </p:nvSpPr>
        <p:spPr>
          <a:xfrm>
            <a:off x="5852160" y="2596896"/>
            <a:ext cx="1645920" cy="548640"/>
          </a:xfrm>
          <a:prstGeom prst="rect">
            <a:avLst/>
          </a:prstGeom>
          <a:solidFill>
            <a:srgbClr val="FFFFFF"/>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97880" y="2688336"/>
            <a:ext cx="1554480" cy="384048"/>
          </a:xfrm>
          <a:prstGeom prst="rect">
            <a:avLst/>
          </a:prstGeom>
          <a:noFill/>
        </p:spPr>
        <p:txBody>
          <a:bodyPr wrap="square">
            <a:spAutoFit/>
          </a:bodyPr>
          <a:lstStyle/>
          <a:p>
            <a:pPr algn="ctr"/>
            <a:r>
              <a:rPr sz="1400" b="0" i="0">
                <a:solidFill>
                  <a:srgbClr val="2C2C2C"/>
                </a:solidFill>
                <a:latin typeface="Calibri"/>
              </a:rPr>
              <a:t>1.910</a:t>
            </a:r>
          </a:p>
        </p:txBody>
      </p:sp>
      <p:sp>
        <p:nvSpPr>
          <p:cNvPr id="28" name="Rectangle 27"/>
          <p:cNvSpPr/>
          <p:nvPr/>
        </p:nvSpPr>
        <p:spPr>
          <a:xfrm>
            <a:off x="7498079" y="2596896"/>
            <a:ext cx="2194560" cy="548640"/>
          </a:xfrm>
          <a:prstGeom prst="rect">
            <a:avLst/>
          </a:prstGeom>
          <a:solidFill>
            <a:srgbClr val="FFFFFF"/>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43800" y="2688336"/>
            <a:ext cx="2103120" cy="384048"/>
          </a:xfrm>
          <a:prstGeom prst="rect">
            <a:avLst/>
          </a:prstGeom>
          <a:noFill/>
        </p:spPr>
        <p:txBody>
          <a:bodyPr wrap="square">
            <a:spAutoFit/>
          </a:bodyPr>
          <a:lstStyle/>
          <a:p>
            <a:pPr algn="ctr"/>
            <a:r>
              <a:rPr sz="1400" b="0" i="0">
                <a:solidFill>
                  <a:srgbClr val="2C2C2C"/>
                </a:solidFill>
                <a:latin typeface="Calibri"/>
              </a:rPr>
              <a:t>--</a:t>
            </a:r>
          </a:p>
        </p:txBody>
      </p:sp>
      <p:sp>
        <p:nvSpPr>
          <p:cNvPr id="30" name="Rectangle 29"/>
          <p:cNvSpPr/>
          <p:nvPr/>
        </p:nvSpPr>
        <p:spPr>
          <a:xfrm>
            <a:off x="365760" y="3163824"/>
            <a:ext cx="4114800" cy="548640"/>
          </a:xfrm>
          <a:prstGeom prst="rect">
            <a:avLst/>
          </a:prstGeom>
          <a:solidFill>
            <a:srgbClr val="E8F4EA"/>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3255264"/>
            <a:ext cx="4023360" cy="384048"/>
          </a:xfrm>
          <a:prstGeom prst="rect">
            <a:avLst/>
          </a:prstGeom>
          <a:noFill/>
        </p:spPr>
        <p:txBody>
          <a:bodyPr wrap="square">
            <a:spAutoFit/>
          </a:bodyPr>
          <a:lstStyle/>
          <a:p>
            <a:pPr algn="l"/>
            <a:r>
              <a:rPr sz="1400" b="1" i="0">
                <a:solidFill>
                  <a:srgbClr val="2C2C2C"/>
                </a:solidFill>
                <a:latin typeface="Calibri"/>
              </a:rPr>
              <a:t>PINN-SIREN (este trabajo)</a:t>
            </a:r>
          </a:p>
        </p:txBody>
      </p:sp>
      <p:sp>
        <p:nvSpPr>
          <p:cNvPr id="32" name="Rectangle 31"/>
          <p:cNvSpPr/>
          <p:nvPr/>
        </p:nvSpPr>
        <p:spPr>
          <a:xfrm>
            <a:off x="4480560" y="3163824"/>
            <a:ext cx="1371600" cy="548640"/>
          </a:xfrm>
          <a:prstGeom prst="rect">
            <a:avLst/>
          </a:prstGeom>
          <a:solidFill>
            <a:srgbClr val="E8F4EA"/>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26280" y="3255264"/>
            <a:ext cx="1280160" cy="384048"/>
          </a:xfrm>
          <a:prstGeom prst="rect">
            <a:avLst/>
          </a:prstGeom>
          <a:noFill/>
        </p:spPr>
        <p:txBody>
          <a:bodyPr wrap="square">
            <a:spAutoFit/>
          </a:bodyPr>
          <a:lstStyle/>
          <a:p>
            <a:pPr algn="ctr"/>
            <a:r>
              <a:rPr sz="1400" b="1" i="0">
                <a:solidFill>
                  <a:srgbClr val="2C2C2C"/>
                </a:solidFill>
                <a:latin typeface="Calibri"/>
              </a:rPr>
              <a:t>1D</a:t>
            </a:r>
          </a:p>
        </p:txBody>
      </p:sp>
      <p:sp>
        <p:nvSpPr>
          <p:cNvPr id="34" name="Rectangle 33"/>
          <p:cNvSpPr/>
          <p:nvPr/>
        </p:nvSpPr>
        <p:spPr>
          <a:xfrm>
            <a:off x="5852160" y="3163824"/>
            <a:ext cx="1645920" cy="548640"/>
          </a:xfrm>
          <a:prstGeom prst="rect">
            <a:avLst/>
          </a:prstGeom>
          <a:solidFill>
            <a:srgbClr val="E8F4EA"/>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897880" y="3255264"/>
            <a:ext cx="1554480" cy="384048"/>
          </a:xfrm>
          <a:prstGeom prst="rect">
            <a:avLst/>
          </a:prstGeom>
          <a:noFill/>
        </p:spPr>
        <p:txBody>
          <a:bodyPr wrap="square">
            <a:spAutoFit/>
          </a:bodyPr>
          <a:lstStyle/>
          <a:p>
            <a:pPr algn="ctr"/>
            <a:r>
              <a:rPr sz="1400" b="1" i="0">
                <a:solidFill>
                  <a:srgbClr val="1A5C2A"/>
                </a:solidFill>
                <a:latin typeface="Calibri"/>
              </a:rPr>
              <a:t>0.006</a:t>
            </a:r>
          </a:p>
        </p:txBody>
      </p:sp>
      <p:sp>
        <p:nvSpPr>
          <p:cNvPr id="36" name="Rectangle 35"/>
          <p:cNvSpPr/>
          <p:nvPr/>
        </p:nvSpPr>
        <p:spPr>
          <a:xfrm>
            <a:off x="7498079" y="3163824"/>
            <a:ext cx="2194560" cy="548640"/>
          </a:xfrm>
          <a:prstGeom prst="rect">
            <a:avLst/>
          </a:prstGeom>
          <a:solidFill>
            <a:srgbClr val="E8F4EA"/>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43800" y="3255264"/>
            <a:ext cx="2103120" cy="384048"/>
          </a:xfrm>
          <a:prstGeom prst="rect">
            <a:avLst/>
          </a:prstGeom>
          <a:noFill/>
        </p:spPr>
        <p:txBody>
          <a:bodyPr wrap="square">
            <a:spAutoFit/>
          </a:bodyPr>
          <a:lstStyle/>
          <a:p>
            <a:pPr algn="ctr"/>
            <a:r>
              <a:rPr sz="1400" b="1" i="0">
                <a:solidFill>
                  <a:srgbClr val="1A5C2A"/>
                </a:solidFill>
                <a:latin typeface="Calibri"/>
              </a:rPr>
              <a:t>×415</a:t>
            </a:r>
          </a:p>
        </p:txBody>
      </p:sp>
      <p:sp>
        <p:nvSpPr>
          <p:cNvPr id="38" name="Rectangle 37"/>
          <p:cNvSpPr/>
          <p:nvPr/>
        </p:nvSpPr>
        <p:spPr>
          <a:xfrm>
            <a:off x="365760" y="3730752"/>
            <a:ext cx="4114800" cy="548640"/>
          </a:xfrm>
          <a:prstGeom prst="rect">
            <a:avLst/>
          </a:prstGeom>
          <a:solidFill>
            <a:srgbClr val="E8F4EA"/>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1480" y="3822191"/>
            <a:ext cx="4023360" cy="384048"/>
          </a:xfrm>
          <a:prstGeom prst="rect">
            <a:avLst/>
          </a:prstGeom>
          <a:noFill/>
        </p:spPr>
        <p:txBody>
          <a:bodyPr wrap="square">
            <a:spAutoFit/>
          </a:bodyPr>
          <a:lstStyle/>
          <a:p>
            <a:pPr algn="l"/>
            <a:r>
              <a:rPr sz="1400" b="1" i="0">
                <a:solidFill>
                  <a:srgbClr val="2C2C2C"/>
                </a:solidFill>
                <a:latin typeface="Calibri"/>
              </a:rPr>
              <a:t>PINN-SIREN (este trabajo)</a:t>
            </a:r>
          </a:p>
        </p:txBody>
      </p:sp>
      <p:sp>
        <p:nvSpPr>
          <p:cNvPr id="40" name="Rectangle 39"/>
          <p:cNvSpPr/>
          <p:nvPr/>
        </p:nvSpPr>
        <p:spPr>
          <a:xfrm>
            <a:off x="4480560" y="3730752"/>
            <a:ext cx="1371600" cy="548640"/>
          </a:xfrm>
          <a:prstGeom prst="rect">
            <a:avLst/>
          </a:prstGeom>
          <a:solidFill>
            <a:srgbClr val="E8F4EA"/>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26280" y="3822191"/>
            <a:ext cx="1280160" cy="384048"/>
          </a:xfrm>
          <a:prstGeom prst="rect">
            <a:avLst/>
          </a:prstGeom>
          <a:noFill/>
        </p:spPr>
        <p:txBody>
          <a:bodyPr wrap="square">
            <a:spAutoFit/>
          </a:bodyPr>
          <a:lstStyle/>
          <a:p>
            <a:pPr algn="ctr"/>
            <a:r>
              <a:rPr sz="1400" b="1" i="0">
                <a:solidFill>
                  <a:srgbClr val="2C2C2C"/>
                </a:solidFill>
                <a:latin typeface="Calibri"/>
              </a:rPr>
              <a:t>2D</a:t>
            </a:r>
          </a:p>
        </p:txBody>
      </p:sp>
      <p:sp>
        <p:nvSpPr>
          <p:cNvPr id="42" name="Rectangle 41"/>
          <p:cNvSpPr/>
          <p:nvPr/>
        </p:nvSpPr>
        <p:spPr>
          <a:xfrm>
            <a:off x="5852160" y="3730752"/>
            <a:ext cx="1645920" cy="548640"/>
          </a:xfrm>
          <a:prstGeom prst="rect">
            <a:avLst/>
          </a:prstGeom>
          <a:solidFill>
            <a:srgbClr val="E8F4EA"/>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97880" y="3822191"/>
            <a:ext cx="1554480" cy="384048"/>
          </a:xfrm>
          <a:prstGeom prst="rect">
            <a:avLst/>
          </a:prstGeom>
          <a:noFill/>
        </p:spPr>
        <p:txBody>
          <a:bodyPr wrap="square">
            <a:spAutoFit/>
          </a:bodyPr>
          <a:lstStyle/>
          <a:p>
            <a:pPr algn="ctr"/>
            <a:r>
              <a:rPr sz="1400" b="1" i="0">
                <a:solidFill>
                  <a:srgbClr val="1A5C2A"/>
                </a:solidFill>
                <a:latin typeface="Calibri"/>
              </a:rPr>
              <a:t>0.171</a:t>
            </a:r>
          </a:p>
        </p:txBody>
      </p:sp>
      <p:sp>
        <p:nvSpPr>
          <p:cNvPr id="44" name="Rectangle 43"/>
          <p:cNvSpPr/>
          <p:nvPr/>
        </p:nvSpPr>
        <p:spPr>
          <a:xfrm>
            <a:off x="7498079" y="3730752"/>
            <a:ext cx="2194560" cy="548640"/>
          </a:xfrm>
          <a:prstGeom prst="rect">
            <a:avLst/>
          </a:prstGeom>
          <a:solidFill>
            <a:srgbClr val="E8F4EA"/>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543800" y="3822191"/>
            <a:ext cx="2103120" cy="384048"/>
          </a:xfrm>
          <a:prstGeom prst="rect">
            <a:avLst/>
          </a:prstGeom>
          <a:noFill/>
        </p:spPr>
        <p:txBody>
          <a:bodyPr wrap="square">
            <a:spAutoFit/>
          </a:bodyPr>
          <a:lstStyle/>
          <a:p>
            <a:pPr algn="ctr"/>
            <a:r>
              <a:rPr sz="1400" b="1" i="0">
                <a:solidFill>
                  <a:srgbClr val="1A5C2A"/>
                </a:solidFill>
                <a:latin typeface="Calibri"/>
              </a:rPr>
              <a:t>×11.2</a:t>
            </a:r>
          </a:p>
        </p:txBody>
      </p:sp>
      <p:sp>
        <p:nvSpPr>
          <p:cNvPr id="46" name="Rectangle 45"/>
          <p:cNvSpPr/>
          <p:nvPr/>
        </p:nvSpPr>
        <p:spPr>
          <a:xfrm>
            <a:off x="365760" y="4069080"/>
            <a:ext cx="5029200" cy="1508760"/>
          </a:xfrm>
          <a:prstGeom prst="rect">
            <a:avLst/>
          </a:prstGeom>
          <a:solidFill>
            <a:srgbClr val="F0F2F5"/>
          </a:solidFill>
          <a:ln w="19050">
            <a:solidFill>
              <a:srgbClr val="34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4160520"/>
            <a:ext cx="4846320" cy="594360"/>
          </a:xfrm>
          <a:prstGeom prst="rect">
            <a:avLst/>
          </a:prstGeom>
          <a:noFill/>
        </p:spPr>
        <p:txBody>
          <a:bodyPr wrap="square">
            <a:spAutoFit/>
          </a:bodyPr>
          <a:lstStyle/>
          <a:p>
            <a:pPr algn="ctr"/>
            <a:r>
              <a:rPr sz="3600" b="1" i="0">
                <a:solidFill>
                  <a:srgbClr val="1B4F72"/>
                </a:solidFill>
                <a:latin typeface="Calibri"/>
              </a:rPr>
              <a:t>×415 en 1D</a:t>
            </a:r>
          </a:p>
        </p:txBody>
      </p:sp>
      <p:sp>
        <p:nvSpPr>
          <p:cNvPr id="48" name="TextBox 47"/>
          <p:cNvSpPr txBox="1"/>
          <p:nvPr/>
        </p:nvSpPr>
        <p:spPr>
          <a:xfrm>
            <a:off x="457200" y="4736592"/>
            <a:ext cx="4846320" cy="685800"/>
          </a:xfrm>
          <a:prstGeom prst="rect">
            <a:avLst/>
          </a:prstGeom>
          <a:noFill/>
        </p:spPr>
        <p:txBody>
          <a:bodyPr wrap="square">
            <a:spAutoFit/>
          </a:bodyPr>
          <a:lstStyle/>
          <a:p>
            <a:pPr algn="ctr"/>
            <a:r>
              <a:rPr sz="1400" b="0" i="0">
                <a:solidFill>
                  <a:srgbClr val="2C2C2C"/>
                </a:solidFill>
                <a:latin typeface="Calibri"/>
              </a:rPr>
              <a:t>SIREN vs PINN convencional — Helmholtz 1D</a:t>
            </a:r>
          </a:p>
        </p:txBody>
      </p:sp>
      <p:sp>
        <p:nvSpPr>
          <p:cNvPr id="49" name="Rectangle 48"/>
          <p:cNvSpPr/>
          <p:nvPr/>
        </p:nvSpPr>
        <p:spPr>
          <a:xfrm>
            <a:off x="5852160" y="4069080"/>
            <a:ext cx="5029200" cy="1508760"/>
          </a:xfrm>
          <a:prstGeom prst="rect">
            <a:avLst/>
          </a:prstGeom>
          <a:solidFill>
            <a:srgbClr val="F0F2F5"/>
          </a:solidFill>
          <a:ln w="19050">
            <a:solidFill>
              <a:srgbClr val="34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943600" y="4160520"/>
            <a:ext cx="4846320" cy="594360"/>
          </a:xfrm>
          <a:prstGeom prst="rect">
            <a:avLst/>
          </a:prstGeom>
          <a:noFill/>
        </p:spPr>
        <p:txBody>
          <a:bodyPr wrap="square">
            <a:spAutoFit/>
          </a:bodyPr>
          <a:lstStyle/>
          <a:p>
            <a:pPr algn="ctr"/>
            <a:r>
              <a:rPr sz="3600" b="1" i="0">
                <a:solidFill>
                  <a:srgbClr val="1B4F72"/>
                </a:solidFill>
                <a:latin typeface="Calibri"/>
              </a:rPr>
              <a:t>×11.2 en 2D</a:t>
            </a:r>
          </a:p>
        </p:txBody>
      </p:sp>
      <p:sp>
        <p:nvSpPr>
          <p:cNvPr id="51" name="TextBox 50"/>
          <p:cNvSpPr txBox="1"/>
          <p:nvPr/>
        </p:nvSpPr>
        <p:spPr>
          <a:xfrm>
            <a:off x="5943600" y="4736592"/>
            <a:ext cx="4846320" cy="685800"/>
          </a:xfrm>
          <a:prstGeom prst="rect">
            <a:avLst/>
          </a:prstGeom>
          <a:noFill/>
        </p:spPr>
        <p:txBody>
          <a:bodyPr wrap="square">
            <a:spAutoFit/>
          </a:bodyPr>
          <a:lstStyle/>
          <a:p>
            <a:pPr algn="ctr"/>
            <a:r>
              <a:rPr sz="1400" b="0" i="0">
                <a:solidFill>
                  <a:srgbClr val="2C2C2C"/>
                </a:solidFill>
                <a:latin typeface="Calibri"/>
              </a:rPr>
              <a:t>SIREN 2D vs PINN convencional — Helmholtz 2D/3D</a:t>
            </a:r>
          </a:p>
        </p:txBody>
      </p:sp>
      <p:sp>
        <p:nvSpPr>
          <p:cNvPr id="52" name="TextBox 51"/>
          <p:cNvSpPr txBox="1"/>
          <p:nvPr/>
        </p:nvSpPr>
        <p:spPr>
          <a:xfrm>
            <a:off x="365760" y="5669280"/>
            <a:ext cx="10789920" cy="320040"/>
          </a:xfrm>
          <a:prstGeom prst="rect">
            <a:avLst/>
          </a:prstGeom>
          <a:noFill/>
        </p:spPr>
        <p:txBody>
          <a:bodyPr wrap="square">
            <a:spAutoFit/>
          </a:bodyPr>
          <a:lstStyle/>
          <a:p>
            <a:pPr algn="l"/>
            <a:r>
              <a:rPr sz="1100" b="0" i="1">
                <a:solidFill>
                  <a:srgbClr val="7A92AA"/>
                </a:solidFill>
                <a:latin typeface="Calibri"/>
              </a:rPr>
              <a:t>Nota: la comparacion es indicativa. Schoder &amp; Kraxberger operan en 3D con dominio fisico y activacion tanh; este trabajo en 1D/2D adimensional con SIREN.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713232"/>
          </a:xfrm>
          <a:prstGeom prst="rect">
            <a:avLst/>
          </a:prstGeom>
          <a:noFill/>
        </p:spPr>
        <p:txBody>
          <a:bodyPr wrap="square">
            <a:spAutoFit/>
          </a:bodyPr>
          <a:lstStyle/>
          <a:p>
            <a:pPr algn="l"/>
            <a:r>
              <a:rPr sz="2700" b="1" i="0">
                <a:solidFill>
                  <a:srgbClr val="FFFFFF"/>
                </a:solidFill>
                <a:latin typeface="Calibri"/>
              </a:rPr>
              <a:t>Discusion: Hallazgos principales del avance</a:t>
            </a:r>
          </a:p>
        </p:txBody>
      </p:sp>
      <p:sp>
        <p:nvSpPr>
          <p:cNvPr id="4" name="TextBox 3"/>
          <p:cNvSpPr txBox="1"/>
          <p:nvPr/>
        </p:nvSpPr>
        <p:spPr>
          <a:xfrm>
            <a:off x="11521440" y="6492240"/>
            <a:ext cx="548640" cy="274320"/>
          </a:xfrm>
          <a:prstGeom prst="rect">
            <a:avLst/>
          </a:prstGeom>
          <a:noFill/>
        </p:spPr>
        <p:txBody>
          <a:bodyPr wrap="square">
            <a:spAutoFit/>
          </a:bodyPr>
          <a:lstStyle/>
          <a:p>
            <a:pPr algn="r"/>
            <a:r>
              <a:rPr sz="1100" b="0" i="0">
                <a:solidFill>
                  <a:srgbClr val="AAAAAA"/>
                </a:solidFill>
                <a:latin typeface="Calibri"/>
              </a:rPr>
              <a:t>15</a:t>
            </a:r>
          </a:p>
        </p:txBody>
      </p:sp>
      <p:sp>
        <p:nvSpPr>
          <p:cNvPr id="5" name="Rectangle 4"/>
          <p:cNvSpPr/>
          <p:nvPr/>
        </p:nvSpPr>
        <p:spPr>
          <a:xfrm>
            <a:off x="365760" y="1097280"/>
            <a:ext cx="3566160" cy="146304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70432"/>
            <a:ext cx="3383280" cy="530352"/>
          </a:xfrm>
          <a:prstGeom prst="rect">
            <a:avLst/>
          </a:prstGeom>
          <a:noFill/>
        </p:spPr>
        <p:txBody>
          <a:bodyPr wrap="square">
            <a:spAutoFit/>
          </a:bodyPr>
          <a:lstStyle/>
          <a:p>
            <a:pPr algn="ctr"/>
            <a:r>
              <a:rPr sz="1500" b="1" i="0">
                <a:solidFill>
                  <a:srgbClr val="FFFFFF"/>
                </a:solidFill>
                <a:latin typeface="Calibri"/>
              </a:rPr>
              <a:t>NB01
Helmholtz 1D</a:t>
            </a:r>
          </a:p>
        </p:txBody>
      </p:sp>
      <p:sp>
        <p:nvSpPr>
          <p:cNvPr id="7" name="TextBox 6"/>
          <p:cNvSpPr txBox="1"/>
          <p:nvPr/>
        </p:nvSpPr>
        <p:spPr>
          <a:xfrm>
            <a:off x="457200" y="1700784"/>
            <a:ext cx="3383280" cy="749808"/>
          </a:xfrm>
          <a:prstGeom prst="rect">
            <a:avLst/>
          </a:prstGeom>
          <a:noFill/>
        </p:spPr>
        <p:txBody>
          <a:bodyPr wrap="square">
            <a:spAutoFit/>
          </a:bodyPr>
          <a:lstStyle/>
          <a:p>
            <a:pPr algn="ctr"/>
            <a:r>
              <a:rPr sz="1500" b="0" i="0">
                <a:solidFill>
                  <a:srgbClr val="CCDDFF"/>
                </a:solidFill>
                <a:latin typeface="Calibri"/>
              </a:rPr>
              <a:t>L² = 0.006%
R² = 1.000000
251 s</a:t>
            </a:r>
          </a:p>
        </p:txBody>
      </p:sp>
      <p:sp>
        <p:nvSpPr>
          <p:cNvPr id="8" name="Rectangle 7"/>
          <p:cNvSpPr/>
          <p:nvPr/>
        </p:nvSpPr>
        <p:spPr>
          <a:xfrm>
            <a:off x="4206240" y="1097280"/>
            <a:ext cx="3566160" cy="146304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0" y="1170432"/>
            <a:ext cx="3383280" cy="530352"/>
          </a:xfrm>
          <a:prstGeom prst="rect">
            <a:avLst/>
          </a:prstGeom>
          <a:noFill/>
        </p:spPr>
        <p:txBody>
          <a:bodyPr wrap="square">
            <a:spAutoFit/>
          </a:bodyPr>
          <a:lstStyle/>
          <a:p>
            <a:pPr algn="ctr"/>
            <a:r>
              <a:rPr sz="1500" b="1" i="0">
                <a:solidFill>
                  <a:srgbClr val="FFFFFF"/>
                </a:solidFill>
                <a:latin typeface="Calibri"/>
              </a:rPr>
              <a:t>NB02
Helmholtz 2D</a:t>
            </a:r>
          </a:p>
        </p:txBody>
      </p:sp>
      <p:sp>
        <p:nvSpPr>
          <p:cNvPr id="10" name="TextBox 9"/>
          <p:cNvSpPr txBox="1"/>
          <p:nvPr/>
        </p:nvSpPr>
        <p:spPr>
          <a:xfrm>
            <a:off x="4297680" y="1700784"/>
            <a:ext cx="3383280" cy="749808"/>
          </a:xfrm>
          <a:prstGeom prst="rect">
            <a:avLst/>
          </a:prstGeom>
          <a:noFill/>
        </p:spPr>
        <p:txBody>
          <a:bodyPr wrap="square">
            <a:spAutoFit/>
          </a:bodyPr>
          <a:lstStyle/>
          <a:p>
            <a:pPr algn="ctr"/>
            <a:r>
              <a:rPr sz="1500" b="0" i="0">
                <a:solidFill>
                  <a:srgbClr val="CCDDFF"/>
                </a:solidFill>
                <a:latin typeface="Calibri"/>
              </a:rPr>
              <a:t>L² = 0.171%
R² &gt; 0.9999
299 s</a:t>
            </a:r>
          </a:p>
        </p:txBody>
      </p:sp>
      <p:sp>
        <p:nvSpPr>
          <p:cNvPr id="11" name="Rectangle 10"/>
          <p:cNvSpPr/>
          <p:nvPr/>
        </p:nvSpPr>
        <p:spPr>
          <a:xfrm>
            <a:off x="8046720" y="1097280"/>
            <a:ext cx="3566160" cy="146304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1170432"/>
            <a:ext cx="3383280" cy="530352"/>
          </a:xfrm>
          <a:prstGeom prst="rect">
            <a:avLst/>
          </a:prstGeom>
          <a:noFill/>
        </p:spPr>
        <p:txBody>
          <a:bodyPr wrap="square">
            <a:spAutoFit/>
          </a:bodyPr>
          <a:lstStyle/>
          <a:p>
            <a:pPr algn="ctr"/>
            <a:r>
              <a:rPr sz="1500" b="1" i="0">
                <a:solidFill>
                  <a:srgbClr val="FFFFFF"/>
                </a:solidFill>
                <a:latin typeface="Calibri"/>
              </a:rPr>
              <a:t>NB03
Speckle optico</a:t>
            </a:r>
          </a:p>
        </p:txBody>
      </p:sp>
      <p:sp>
        <p:nvSpPr>
          <p:cNvPr id="13" name="TextBox 12"/>
          <p:cNvSpPr txBox="1"/>
          <p:nvPr/>
        </p:nvSpPr>
        <p:spPr>
          <a:xfrm>
            <a:off x="8138160" y="1700784"/>
            <a:ext cx="3383280" cy="749808"/>
          </a:xfrm>
          <a:prstGeom prst="rect">
            <a:avLst/>
          </a:prstGeom>
          <a:noFill/>
        </p:spPr>
        <p:txBody>
          <a:bodyPr wrap="square">
            <a:spAutoFit/>
          </a:bodyPr>
          <a:lstStyle/>
          <a:p>
            <a:pPr algn="ctr"/>
            <a:r>
              <a:rPr sz="1500" b="0" i="0">
                <a:solidFill>
                  <a:srgbClr val="CCDDFF"/>
                </a:solidFill>
                <a:latin typeface="Calibri"/>
              </a:rPr>
              <a:t>C = 1.025
|C-1| = 0.025
227 s</a:t>
            </a:r>
          </a:p>
        </p:txBody>
      </p:sp>
      <p:sp>
        <p:nvSpPr>
          <p:cNvPr id="14" name="TextBox 13"/>
          <p:cNvSpPr txBox="1"/>
          <p:nvPr/>
        </p:nvSpPr>
        <p:spPr>
          <a:xfrm>
            <a:off x="365760" y="2743200"/>
            <a:ext cx="11430000" cy="347472"/>
          </a:xfrm>
          <a:prstGeom prst="rect">
            <a:avLst/>
          </a:prstGeom>
          <a:noFill/>
        </p:spPr>
        <p:txBody>
          <a:bodyPr wrap="square">
            <a:spAutoFit/>
          </a:bodyPr>
          <a:lstStyle/>
          <a:p>
            <a:pPr algn="l"/>
            <a:r>
              <a:rPr sz="1900" b="1" i="0">
                <a:solidFill>
                  <a:srgbClr val="345C8C"/>
                </a:solidFill>
                <a:latin typeface="Calibri"/>
              </a:rPr>
              <a:t>Hallazgos clave:</a:t>
            </a:r>
          </a:p>
        </p:txBody>
      </p:sp>
      <p:sp>
        <p:nvSpPr>
          <p:cNvPr id="15" name="TextBox 14"/>
          <p:cNvSpPr txBox="1"/>
          <p:nvPr/>
        </p:nvSpPr>
        <p:spPr>
          <a:xfrm>
            <a:off x="365760" y="3154680"/>
            <a:ext cx="11430000" cy="3474720"/>
          </a:xfrm>
          <a:prstGeom prst="rect">
            <a:avLst/>
          </a:prstGeom>
          <a:noFill/>
        </p:spPr>
        <p:txBody>
          <a:bodyPr wrap="square">
            <a:spAutoFit/>
          </a:bodyPr>
          <a:lstStyle/>
          <a:p>
            <a:pPr>
              <a:spcBef>
                <a:spcPts val="600"/>
              </a:spcBef>
              <a:spcAft>
                <a:spcPts val="200"/>
              </a:spcAft>
            </a:pPr>
            <a:r>
              <a:rPr sz="1700">
                <a:solidFill>
                  <a:srgbClr val="2C2C2C"/>
                </a:solidFill>
                <a:latin typeface="Calibri"/>
              </a:rPr>
              <a:t>  La misma arquitectura SIREN 5x128 resuelve Helmholtz con onda plana Y con fase rugosa aleatoria sin modificacion -&gt; generalidad del metodo demostrada</a:t>
            </a:r>
          </a:p>
          <a:p>
            <a:pPr>
              <a:spcBef>
                <a:spcPts val="600"/>
              </a:spcBef>
              <a:spcAft>
                <a:spcPts val="200"/>
              </a:spcAft>
            </a:pPr>
            <a:r>
              <a:rPr sz="1700">
                <a:solidFill>
                  <a:srgbClr val="2C2C2C"/>
                </a:solidFill>
                <a:latin typeface="Calibri"/>
              </a:rPr>
              <a:t>  Activación sinusoidal SIREN supera ×415 a PINNs convencionales (tanh) para ecuaciones de onda</a:t>
            </a:r>
          </a:p>
          <a:p>
            <a:pPr>
              <a:spcBef>
                <a:spcPts val="600"/>
              </a:spcBef>
              <a:spcAft>
                <a:spcPts val="200"/>
              </a:spcAft>
            </a:pPr>
            <a:r>
              <a:rPr sz="1700">
                <a:solidFill>
                  <a:srgbClr val="2C2C2C"/>
                </a:solidFill>
                <a:latin typeface="Calibri"/>
              </a:rPr>
              <a:t>  Optimizacion hibrida Adam + L-BFGS es esencial: Adam evita minimos locales, L-BFGS refina con curvatura</a:t>
            </a:r>
          </a:p>
          <a:p>
            <a:pPr>
              <a:spcBef>
                <a:spcPts val="600"/>
              </a:spcBef>
              <a:spcAft>
                <a:spcPts val="200"/>
              </a:spcAft>
            </a:pPr>
            <a:r>
              <a:rPr sz="1700">
                <a:solidFill>
                  <a:srgbClr val="2C2C2C"/>
                </a:solidFill>
                <a:latin typeface="Calibri"/>
              </a:rPr>
              <a:t>  ω₀ = 1.0 y λ_fis = 0.1 son configuraciones no triviales, calibradas empíricamente</a:t>
            </a:r>
          </a:p>
          <a:p>
            <a:pPr>
              <a:spcBef>
                <a:spcPts val="600"/>
              </a:spcBef>
              <a:spcAft>
                <a:spcPts val="200"/>
              </a:spcAft>
            </a:pPr>
            <a:r>
              <a:rPr sz="1700">
                <a:solidFill>
                  <a:srgbClr val="2C2C2C"/>
                </a:solidFill>
                <a:latin typeface="Calibri"/>
              </a:rPr>
              <a:t>  Speckle generado cumple el criterio estadístico de Goodman: C ≈ 1, distribución exponencial negativa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713232"/>
          </a:xfrm>
          <a:prstGeom prst="rect">
            <a:avLst/>
          </a:prstGeom>
          <a:noFill/>
        </p:spPr>
        <p:txBody>
          <a:bodyPr wrap="square">
            <a:spAutoFit/>
          </a:bodyPr>
          <a:lstStyle/>
          <a:p>
            <a:pPr algn="l"/>
            <a:r>
              <a:rPr sz="2700" b="1" i="0">
                <a:solidFill>
                  <a:srgbClr val="FFFFFF"/>
                </a:solidFill>
                <a:latin typeface="Calibri"/>
              </a:rPr>
              <a:t>Trabajo futuro y proximos pasos</a:t>
            </a:r>
          </a:p>
        </p:txBody>
      </p:sp>
      <p:sp>
        <p:nvSpPr>
          <p:cNvPr id="4" name="TextBox 3"/>
          <p:cNvSpPr txBox="1"/>
          <p:nvPr/>
        </p:nvSpPr>
        <p:spPr>
          <a:xfrm>
            <a:off x="11521440" y="6492240"/>
            <a:ext cx="548640" cy="274320"/>
          </a:xfrm>
          <a:prstGeom prst="rect">
            <a:avLst/>
          </a:prstGeom>
          <a:noFill/>
        </p:spPr>
        <p:txBody>
          <a:bodyPr wrap="square">
            <a:spAutoFit/>
          </a:bodyPr>
          <a:lstStyle/>
          <a:p>
            <a:pPr algn="r"/>
            <a:r>
              <a:rPr sz="1100" b="0" i="0">
                <a:solidFill>
                  <a:srgbClr val="AAAAAA"/>
                </a:solidFill>
                <a:latin typeface="Calibri"/>
              </a:rPr>
              <a:t>16</a:t>
            </a:r>
          </a:p>
        </p:txBody>
      </p:sp>
      <p:sp>
        <p:nvSpPr>
          <p:cNvPr id="5" name="TextBox 4"/>
          <p:cNvSpPr txBox="1"/>
          <p:nvPr/>
        </p:nvSpPr>
        <p:spPr>
          <a:xfrm>
            <a:off x="365760" y="1051560"/>
            <a:ext cx="11430000" cy="347472"/>
          </a:xfrm>
          <a:prstGeom prst="rect">
            <a:avLst/>
          </a:prstGeom>
          <a:noFill/>
        </p:spPr>
        <p:txBody>
          <a:bodyPr wrap="square">
            <a:spAutoFit/>
          </a:bodyPr>
          <a:lstStyle/>
          <a:p>
            <a:pPr algn="l"/>
            <a:r>
              <a:rPr sz="2000" b="1" i="0">
                <a:solidFill>
                  <a:srgbClr val="345C8C"/>
                </a:solidFill>
                <a:latin typeface="Calibri"/>
              </a:rPr>
              <a:t>Experimentos planificados:</a:t>
            </a:r>
          </a:p>
        </p:txBody>
      </p:sp>
      <p:sp>
        <p:nvSpPr>
          <p:cNvPr id="6" name="Rectangle 5"/>
          <p:cNvSpPr/>
          <p:nvPr/>
        </p:nvSpPr>
        <p:spPr>
          <a:xfrm>
            <a:off x="365760" y="1508760"/>
            <a:ext cx="822960" cy="1005840"/>
          </a:xfrm>
          <a:prstGeom prst="rect">
            <a:avLst/>
          </a:prstGeom>
          <a:solidFill>
            <a:srgbClr val="7A9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572768"/>
            <a:ext cx="822960" cy="411480"/>
          </a:xfrm>
          <a:prstGeom prst="rect">
            <a:avLst/>
          </a:prstGeom>
          <a:noFill/>
        </p:spPr>
        <p:txBody>
          <a:bodyPr wrap="square">
            <a:spAutoFit/>
          </a:bodyPr>
          <a:lstStyle/>
          <a:p>
            <a:pPr algn="ctr"/>
            <a:r>
              <a:rPr sz="1300" b="1" i="0">
                <a:solidFill>
                  <a:srgbClr val="FFFFFF"/>
                </a:solidFill>
                <a:latin typeface="Calibri"/>
              </a:rPr>
              <a:t>NB04</a:t>
            </a:r>
          </a:p>
        </p:txBody>
      </p:sp>
      <p:sp>
        <p:nvSpPr>
          <p:cNvPr id="8" name="TextBox 7"/>
          <p:cNvSpPr txBox="1"/>
          <p:nvPr/>
        </p:nvSpPr>
        <p:spPr>
          <a:xfrm>
            <a:off x="1325880" y="1554480"/>
            <a:ext cx="10332720" cy="347472"/>
          </a:xfrm>
          <a:prstGeom prst="rect">
            <a:avLst/>
          </a:prstGeom>
          <a:noFill/>
        </p:spPr>
        <p:txBody>
          <a:bodyPr wrap="square">
            <a:spAutoFit/>
          </a:bodyPr>
          <a:lstStyle/>
          <a:p>
            <a:pPr algn="l"/>
            <a:r>
              <a:rPr sz="1700" b="1" i="0">
                <a:solidFill>
                  <a:srgbClr val="345C8C"/>
                </a:solidFill>
                <a:latin typeface="Calibri"/>
              </a:rPr>
              <a:t>Benchmark vs FEM (FEniCSx)</a:t>
            </a:r>
          </a:p>
        </p:txBody>
      </p:sp>
      <p:sp>
        <p:nvSpPr>
          <p:cNvPr id="9" name="TextBox 8"/>
          <p:cNvSpPr txBox="1"/>
          <p:nvPr/>
        </p:nvSpPr>
        <p:spPr>
          <a:xfrm>
            <a:off x="1325880" y="1901952"/>
            <a:ext cx="10332720" cy="530352"/>
          </a:xfrm>
          <a:prstGeom prst="rect">
            <a:avLst/>
          </a:prstGeom>
          <a:noFill/>
        </p:spPr>
        <p:txBody>
          <a:bodyPr wrap="square">
            <a:spAutoFit/>
          </a:bodyPr>
          <a:lstStyle/>
          <a:p>
            <a:pPr algn="l"/>
            <a:r>
              <a:rPr sz="1500" b="0" i="0">
                <a:solidFill>
                  <a:srgbClr val="2C2C2C"/>
                </a:solidFill>
                <a:latin typeface="Calibri"/>
              </a:rPr>
              <a:t>Comparar PINN-SIREN vs Metodo de Elementos Finitos. Metrica: S = T_FEM / T_PINN. Cuantificar la aceleracion real.</a:t>
            </a:r>
          </a:p>
        </p:txBody>
      </p:sp>
      <p:sp>
        <p:nvSpPr>
          <p:cNvPr id="10" name="Rectangle 9"/>
          <p:cNvSpPr/>
          <p:nvPr/>
        </p:nvSpPr>
        <p:spPr>
          <a:xfrm>
            <a:off x="365760" y="2606039"/>
            <a:ext cx="822960" cy="1005840"/>
          </a:xfrm>
          <a:prstGeom prst="rect">
            <a:avLst/>
          </a:prstGeom>
          <a:solidFill>
            <a:srgbClr val="7A9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670047"/>
            <a:ext cx="822960" cy="411480"/>
          </a:xfrm>
          <a:prstGeom prst="rect">
            <a:avLst/>
          </a:prstGeom>
          <a:noFill/>
        </p:spPr>
        <p:txBody>
          <a:bodyPr wrap="square">
            <a:spAutoFit/>
          </a:bodyPr>
          <a:lstStyle/>
          <a:p>
            <a:pPr algn="ctr"/>
            <a:r>
              <a:rPr sz="1300" b="1" i="0">
                <a:solidFill>
                  <a:srgbClr val="FFFFFF"/>
                </a:solidFill>
                <a:latin typeface="Calibri"/>
              </a:rPr>
              <a:t>NB05</a:t>
            </a:r>
          </a:p>
        </p:txBody>
      </p:sp>
      <p:sp>
        <p:nvSpPr>
          <p:cNvPr id="12" name="TextBox 11"/>
          <p:cNvSpPr txBox="1"/>
          <p:nvPr/>
        </p:nvSpPr>
        <p:spPr>
          <a:xfrm>
            <a:off x="1325880" y="2651759"/>
            <a:ext cx="10332720" cy="347472"/>
          </a:xfrm>
          <a:prstGeom prst="rect">
            <a:avLst/>
          </a:prstGeom>
          <a:noFill/>
        </p:spPr>
        <p:txBody>
          <a:bodyPr wrap="square">
            <a:spAutoFit/>
          </a:bodyPr>
          <a:lstStyle/>
          <a:p>
            <a:pPr algn="l"/>
            <a:r>
              <a:rPr sz="1700" b="1" i="0">
                <a:solidFill>
                  <a:srgbClr val="345C8C"/>
                </a:solidFill>
                <a:latin typeface="Calibri"/>
              </a:rPr>
              <a:t>Medios inhomogeneos (GRIN)</a:t>
            </a:r>
          </a:p>
        </p:txBody>
      </p:sp>
      <p:sp>
        <p:nvSpPr>
          <p:cNvPr id="13" name="TextBox 12"/>
          <p:cNvSpPr txBox="1"/>
          <p:nvPr/>
        </p:nvSpPr>
        <p:spPr>
          <a:xfrm>
            <a:off x="1325880" y="2999232"/>
            <a:ext cx="10332720" cy="530352"/>
          </a:xfrm>
          <a:prstGeom prst="rect">
            <a:avLst/>
          </a:prstGeom>
          <a:noFill/>
        </p:spPr>
        <p:txBody>
          <a:bodyPr wrap="square">
            <a:spAutoFit/>
          </a:bodyPr>
          <a:lstStyle/>
          <a:p>
            <a:pPr algn="l"/>
            <a:r>
              <a:rPr sz="1500" b="0" i="0">
                <a:solidFill>
                  <a:srgbClr val="2C2C2C"/>
                </a:solidFill>
                <a:latin typeface="Calibri"/>
              </a:rPr>
              <a:t>Extender a: ∇²E + k²(r)E = 0 con índice variable. Aplicación: fibras ópticas con gradiente de índice.</a:t>
            </a:r>
          </a:p>
        </p:txBody>
      </p:sp>
      <p:sp>
        <p:nvSpPr>
          <p:cNvPr id="14" name="Rectangle 13"/>
          <p:cNvSpPr/>
          <p:nvPr/>
        </p:nvSpPr>
        <p:spPr>
          <a:xfrm>
            <a:off x="365760" y="3703320"/>
            <a:ext cx="822960" cy="1005840"/>
          </a:xfrm>
          <a:prstGeom prst="rect">
            <a:avLst/>
          </a:prstGeom>
          <a:solidFill>
            <a:srgbClr val="7A9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767328"/>
            <a:ext cx="822960" cy="411480"/>
          </a:xfrm>
          <a:prstGeom prst="rect">
            <a:avLst/>
          </a:prstGeom>
          <a:noFill/>
        </p:spPr>
        <p:txBody>
          <a:bodyPr wrap="square">
            <a:spAutoFit/>
          </a:bodyPr>
          <a:lstStyle/>
          <a:p>
            <a:pPr algn="ctr"/>
            <a:r>
              <a:rPr sz="1300" b="1" i="0">
                <a:solidFill>
                  <a:srgbClr val="FFFFFF"/>
                </a:solidFill>
                <a:latin typeface="Calibri"/>
              </a:rPr>
              <a:t>NB06</a:t>
            </a:r>
          </a:p>
        </p:txBody>
      </p:sp>
      <p:sp>
        <p:nvSpPr>
          <p:cNvPr id="16" name="TextBox 15"/>
          <p:cNvSpPr txBox="1"/>
          <p:nvPr/>
        </p:nvSpPr>
        <p:spPr>
          <a:xfrm>
            <a:off x="1325880" y="3749039"/>
            <a:ext cx="10332720" cy="347472"/>
          </a:xfrm>
          <a:prstGeom prst="rect">
            <a:avLst/>
          </a:prstGeom>
          <a:noFill/>
        </p:spPr>
        <p:txBody>
          <a:bodyPr wrap="square">
            <a:spAutoFit/>
          </a:bodyPr>
          <a:lstStyle/>
          <a:p>
            <a:pPr algn="l"/>
            <a:r>
              <a:rPr sz="1700" b="1" i="0">
                <a:solidFill>
                  <a:srgbClr val="345C8C"/>
                </a:solidFill>
                <a:latin typeface="Calibri"/>
              </a:rPr>
              <a:t>Condicion de radiacion de Sommerfeld</a:t>
            </a:r>
          </a:p>
        </p:txBody>
      </p:sp>
      <p:sp>
        <p:nvSpPr>
          <p:cNvPr id="17" name="TextBox 16"/>
          <p:cNvSpPr txBox="1"/>
          <p:nvPr/>
        </p:nvSpPr>
        <p:spPr>
          <a:xfrm>
            <a:off x="1325880" y="4096511"/>
            <a:ext cx="10332720" cy="530352"/>
          </a:xfrm>
          <a:prstGeom prst="rect">
            <a:avLst/>
          </a:prstGeom>
          <a:noFill/>
        </p:spPr>
        <p:txBody>
          <a:bodyPr wrap="square">
            <a:spAutoFit/>
          </a:bodyPr>
          <a:lstStyle/>
          <a:p>
            <a:pPr algn="l"/>
            <a:r>
              <a:rPr sz="1500" b="0" i="0">
                <a:solidFill>
                  <a:srgbClr val="2C2C2C"/>
                </a:solidFill>
                <a:latin typeface="Calibri"/>
              </a:rPr>
              <a:t>Agregar: ∂E/∂n − ikE = 0 en y=1 para eliminar reflexiones espurias y mejorar el test KS del speckle.</a:t>
            </a:r>
          </a:p>
        </p:txBody>
      </p:sp>
      <p:sp>
        <p:nvSpPr>
          <p:cNvPr id="18" name="Rectangle 17"/>
          <p:cNvSpPr/>
          <p:nvPr/>
        </p:nvSpPr>
        <p:spPr>
          <a:xfrm>
            <a:off x="365760" y="4800600"/>
            <a:ext cx="822960" cy="1005840"/>
          </a:xfrm>
          <a:prstGeom prst="rect">
            <a:avLst/>
          </a:prstGeom>
          <a:solidFill>
            <a:srgbClr val="7A9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4864608"/>
            <a:ext cx="822960" cy="411480"/>
          </a:xfrm>
          <a:prstGeom prst="rect">
            <a:avLst/>
          </a:prstGeom>
          <a:noFill/>
        </p:spPr>
        <p:txBody>
          <a:bodyPr wrap="square">
            <a:spAutoFit/>
          </a:bodyPr>
          <a:lstStyle/>
          <a:p>
            <a:pPr algn="ctr"/>
            <a:r>
              <a:rPr sz="1300" b="1" i="0">
                <a:solidFill>
                  <a:srgbClr val="FFFFFF"/>
                </a:solidFill>
                <a:latin typeface="Calibri"/>
              </a:rPr>
              <a:t>NB07</a:t>
            </a:r>
          </a:p>
        </p:txBody>
      </p:sp>
      <p:sp>
        <p:nvSpPr>
          <p:cNvPr id="20" name="TextBox 19"/>
          <p:cNvSpPr txBox="1"/>
          <p:nvPr/>
        </p:nvSpPr>
        <p:spPr>
          <a:xfrm>
            <a:off x="1325880" y="4846320"/>
            <a:ext cx="10332720" cy="347472"/>
          </a:xfrm>
          <a:prstGeom prst="rect">
            <a:avLst/>
          </a:prstGeom>
          <a:noFill/>
        </p:spPr>
        <p:txBody>
          <a:bodyPr wrap="square">
            <a:spAutoFit/>
          </a:bodyPr>
          <a:lstStyle/>
          <a:p>
            <a:pPr algn="l"/>
            <a:r>
              <a:rPr sz="1700" b="1" i="0">
                <a:solidFill>
                  <a:srgbClr val="345C8C"/>
                </a:solidFill>
                <a:latin typeface="Calibri"/>
              </a:rPr>
              <a:t>Transfer learning entre realizaciones</a:t>
            </a:r>
          </a:p>
        </p:txBody>
      </p:sp>
      <p:sp>
        <p:nvSpPr>
          <p:cNvPr id="21" name="TextBox 20"/>
          <p:cNvSpPr txBox="1"/>
          <p:nvPr/>
        </p:nvSpPr>
        <p:spPr>
          <a:xfrm>
            <a:off x="1325880" y="5193792"/>
            <a:ext cx="10332720" cy="530352"/>
          </a:xfrm>
          <a:prstGeom prst="rect">
            <a:avLst/>
          </a:prstGeom>
          <a:noFill/>
        </p:spPr>
        <p:txBody>
          <a:bodyPr wrap="square">
            <a:spAutoFit/>
          </a:bodyPr>
          <a:lstStyle/>
          <a:p>
            <a:pPr algn="l"/>
            <a:r>
              <a:rPr sz="1500" b="0" i="0">
                <a:solidFill>
                  <a:srgbClr val="2C2C2C"/>
                </a:solidFill>
                <a:latin typeface="Calibri"/>
              </a:rPr>
              <a:t>Reutilizar pesos de una realizacion para la siguiente, reduciendo el costo por nueva fase rugosa.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8"/>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713232"/>
          </a:xfrm>
          <a:prstGeom prst="rect">
            <a:avLst/>
          </a:prstGeom>
          <a:noFill/>
        </p:spPr>
        <p:txBody>
          <a:bodyPr wrap="square">
            <a:spAutoFit/>
          </a:bodyPr>
          <a:lstStyle/>
          <a:p>
            <a:pPr algn="l"/>
            <a:r>
              <a:rPr sz="2700" b="1" i="0">
                <a:solidFill>
                  <a:srgbClr val="FFFFFF"/>
                </a:solidFill>
                <a:latin typeface="Calibri"/>
              </a:rPr>
              <a:t>Resumen: Que se logro en este primer avance</a:t>
            </a:r>
          </a:p>
        </p:txBody>
      </p:sp>
      <p:sp>
        <p:nvSpPr>
          <p:cNvPr id="4" name="TextBox 3"/>
          <p:cNvSpPr txBox="1"/>
          <p:nvPr/>
        </p:nvSpPr>
        <p:spPr>
          <a:xfrm>
            <a:off x="11521440" y="6492240"/>
            <a:ext cx="548640" cy="274320"/>
          </a:xfrm>
          <a:prstGeom prst="rect">
            <a:avLst/>
          </a:prstGeom>
          <a:noFill/>
        </p:spPr>
        <p:txBody>
          <a:bodyPr wrap="square">
            <a:spAutoFit/>
          </a:bodyPr>
          <a:lstStyle/>
          <a:p>
            <a:pPr algn="r"/>
            <a:r>
              <a:rPr sz="1100" b="0" i="0">
                <a:solidFill>
                  <a:srgbClr val="AAAAAA"/>
                </a:solidFill>
                <a:latin typeface="Calibri"/>
              </a:rPr>
              <a:t>17</a:t>
            </a:r>
          </a:p>
        </p:txBody>
      </p:sp>
      <p:sp>
        <p:nvSpPr>
          <p:cNvPr id="5" name="Rectangle 4"/>
          <p:cNvSpPr/>
          <p:nvPr/>
        </p:nvSpPr>
        <p:spPr>
          <a:xfrm>
            <a:off x="320040" y="1097280"/>
            <a:ext cx="3749039" cy="50292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93192" y="1143000"/>
            <a:ext cx="3602736" cy="411480"/>
          </a:xfrm>
          <a:prstGeom prst="rect">
            <a:avLst/>
          </a:prstGeom>
          <a:noFill/>
        </p:spPr>
        <p:txBody>
          <a:bodyPr wrap="square">
            <a:spAutoFit/>
          </a:bodyPr>
          <a:lstStyle/>
          <a:p>
            <a:pPr algn="ctr"/>
            <a:r>
              <a:rPr sz="1500" b="1" i="0">
                <a:solidFill>
                  <a:srgbClr val="FFFFFF"/>
                </a:solidFill>
                <a:latin typeface="Calibri"/>
              </a:rPr>
              <a:t>Precision demostrada</a:t>
            </a:r>
          </a:p>
        </p:txBody>
      </p:sp>
      <p:sp>
        <p:nvSpPr>
          <p:cNvPr id="7" name="Rectangle 6"/>
          <p:cNvSpPr/>
          <p:nvPr/>
        </p:nvSpPr>
        <p:spPr>
          <a:xfrm>
            <a:off x="320040" y="1600200"/>
            <a:ext cx="3749039" cy="658368"/>
          </a:xfrm>
          <a:prstGeom prst="rect">
            <a:avLst/>
          </a:prstGeom>
          <a:solidFill>
            <a:srgbClr val="F0F2F5"/>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3192" y="1645920"/>
            <a:ext cx="3602736" cy="548640"/>
          </a:xfrm>
          <a:prstGeom prst="rect">
            <a:avLst/>
          </a:prstGeom>
          <a:noFill/>
        </p:spPr>
        <p:txBody>
          <a:bodyPr wrap="square">
            <a:spAutoFit/>
          </a:bodyPr>
          <a:lstStyle/>
          <a:p>
            <a:pPr algn="l"/>
            <a:r>
              <a:rPr sz="1500" b="0" i="0">
                <a:solidFill>
                  <a:srgbClr val="2C2C2C"/>
                </a:solidFill>
                <a:latin typeface="Calibri"/>
              </a:rPr>
              <a:t>Error L2 = 0.006% (1D)</a:t>
            </a:r>
          </a:p>
        </p:txBody>
      </p:sp>
      <p:sp>
        <p:nvSpPr>
          <p:cNvPr id="9" name="Rectangle 8"/>
          <p:cNvSpPr/>
          <p:nvPr/>
        </p:nvSpPr>
        <p:spPr>
          <a:xfrm>
            <a:off x="320040" y="2286000"/>
            <a:ext cx="3749039" cy="658368"/>
          </a:xfrm>
          <a:prstGeom prst="rect">
            <a:avLst/>
          </a:prstGeom>
          <a:solidFill>
            <a:srgbClr val="FFFFFF"/>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3192" y="2331720"/>
            <a:ext cx="3602736" cy="548640"/>
          </a:xfrm>
          <a:prstGeom prst="rect">
            <a:avLst/>
          </a:prstGeom>
          <a:noFill/>
        </p:spPr>
        <p:txBody>
          <a:bodyPr wrap="square">
            <a:spAutoFit/>
          </a:bodyPr>
          <a:lstStyle/>
          <a:p>
            <a:pPr algn="l"/>
            <a:r>
              <a:rPr sz="1500" b="0" i="0">
                <a:solidFill>
                  <a:srgbClr val="2C2C2C"/>
                </a:solidFill>
                <a:latin typeface="Calibri"/>
              </a:rPr>
              <a:t>Error L2 = 0.171% (2D)</a:t>
            </a:r>
          </a:p>
        </p:txBody>
      </p:sp>
      <p:sp>
        <p:nvSpPr>
          <p:cNvPr id="11" name="Rectangle 10"/>
          <p:cNvSpPr/>
          <p:nvPr/>
        </p:nvSpPr>
        <p:spPr>
          <a:xfrm>
            <a:off x="320040" y="2971800"/>
            <a:ext cx="3749039" cy="658368"/>
          </a:xfrm>
          <a:prstGeom prst="rect">
            <a:avLst/>
          </a:prstGeom>
          <a:solidFill>
            <a:srgbClr val="F0F2F5"/>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3192" y="3017520"/>
            <a:ext cx="3602736" cy="548640"/>
          </a:xfrm>
          <a:prstGeom prst="rect">
            <a:avLst/>
          </a:prstGeom>
          <a:noFill/>
        </p:spPr>
        <p:txBody>
          <a:bodyPr wrap="square">
            <a:spAutoFit/>
          </a:bodyPr>
          <a:lstStyle/>
          <a:p>
            <a:pPr algn="l"/>
            <a:r>
              <a:rPr sz="1500" b="0" i="0">
                <a:solidFill>
                  <a:srgbClr val="2C2C2C"/>
                </a:solidFill>
                <a:latin typeface="Calibri"/>
              </a:rPr>
              <a:t>Meta &lt; 5% superada por ×29</a:t>
            </a:r>
          </a:p>
        </p:txBody>
      </p:sp>
      <p:sp>
        <p:nvSpPr>
          <p:cNvPr id="13" name="Rectangle 12"/>
          <p:cNvSpPr/>
          <p:nvPr/>
        </p:nvSpPr>
        <p:spPr>
          <a:xfrm>
            <a:off x="320040" y="3657600"/>
            <a:ext cx="3749039" cy="658368"/>
          </a:xfrm>
          <a:prstGeom prst="rect">
            <a:avLst/>
          </a:prstGeom>
          <a:solidFill>
            <a:srgbClr val="FFFFFF"/>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3192" y="3703320"/>
            <a:ext cx="3602736" cy="548640"/>
          </a:xfrm>
          <a:prstGeom prst="rect">
            <a:avLst/>
          </a:prstGeom>
          <a:noFill/>
        </p:spPr>
        <p:txBody>
          <a:bodyPr wrap="square">
            <a:spAutoFit/>
          </a:bodyPr>
          <a:lstStyle/>
          <a:p>
            <a:pPr algn="l"/>
            <a:r>
              <a:rPr sz="1500" b="0" i="0">
                <a:solidFill>
                  <a:srgbClr val="2C2C2C"/>
                </a:solidFill>
                <a:latin typeface="Calibri"/>
              </a:rPr>
              <a:t>R² = 1.000000 en 1D</a:t>
            </a:r>
          </a:p>
        </p:txBody>
      </p:sp>
      <p:sp>
        <p:nvSpPr>
          <p:cNvPr id="15" name="Rectangle 14"/>
          <p:cNvSpPr/>
          <p:nvPr/>
        </p:nvSpPr>
        <p:spPr>
          <a:xfrm>
            <a:off x="4251959" y="1097280"/>
            <a:ext cx="3749039" cy="50292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25111" y="1143000"/>
            <a:ext cx="3602736" cy="411480"/>
          </a:xfrm>
          <a:prstGeom prst="rect">
            <a:avLst/>
          </a:prstGeom>
          <a:noFill/>
        </p:spPr>
        <p:txBody>
          <a:bodyPr wrap="square">
            <a:spAutoFit/>
          </a:bodyPr>
          <a:lstStyle/>
          <a:p>
            <a:pPr algn="ctr"/>
            <a:r>
              <a:rPr sz="1500" b="1" i="0">
                <a:solidFill>
                  <a:srgbClr val="FFFFFF"/>
                </a:solidFill>
                <a:latin typeface="Calibri"/>
              </a:rPr>
              <a:t>Speckle estadisticamente valido</a:t>
            </a:r>
          </a:p>
        </p:txBody>
      </p:sp>
      <p:sp>
        <p:nvSpPr>
          <p:cNvPr id="17" name="Rectangle 16"/>
          <p:cNvSpPr/>
          <p:nvPr/>
        </p:nvSpPr>
        <p:spPr>
          <a:xfrm>
            <a:off x="4251959" y="1600200"/>
            <a:ext cx="3749039" cy="658368"/>
          </a:xfrm>
          <a:prstGeom prst="rect">
            <a:avLst/>
          </a:prstGeom>
          <a:solidFill>
            <a:srgbClr val="F0F2F5"/>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5111" y="1645920"/>
            <a:ext cx="3602736" cy="548640"/>
          </a:xfrm>
          <a:prstGeom prst="rect">
            <a:avLst/>
          </a:prstGeom>
          <a:noFill/>
        </p:spPr>
        <p:txBody>
          <a:bodyPr wrap="square">
            <a:spAutoFit/>
          </a:bodyPr>
          <a:lstStyle/>
          <a:p>
            <a:pPr algn="l"/>
            <a:r>
              <a:rPr sz="1500" b="0" i="0">
                <a:solidFill>
                  <a:srgbClr val="2C2C2C"/>
                </a:solidFill>
                <a:latin typeface="Calibri"/>
              </a:rPr>
              <a:t>Contraste C = 1.025</a:t>
            </a:r>
          </a:p>
        </p:txBody>
      </p:sp>
      <p:sp>
        <p:nvSpPr>
          <p:cNvPr id="19" name="Rectangle 18"/>
          <p:cNvSpPr/>
          <p:nvPr/>
        </p:nvSpPr>
        <p:spPr>
          <a:xfrm>
            <a:off x="4251959" y="2286000"/>
            <a:ext cx="3749039" cy="658368"/>
          </a:xfrm>
          <a:prstGeom prst="rect">
            <a:avLst/>
          </a:prstGeom>
          <a:solidFill>
            <a:srgbClr val="FFFFFF"/>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25111" y="2331720"/>
            <a:ext cx="3602736" cy="548640"/>
          </a:xfrm>
          <a:prstGeom prst="rect">
            <a:avLst/>
          </a:prstGeom>
          <a:noFill/>
        </p:spPr>
        <p:txBody>
          <a:bodyPr wrap="square">
            <a:spAutoFit/>
          </a:bodyPr>
          <a:lstStyle/>
          <a:p>
            <a:pPr algn="l"/>
            <a:r>
              <a:rPr sz="1500" b="0" i="0">
                <a:solidFill>
                  <a:srgbClr val="2C2C2C"/>
                </a:solidFill>
                <a:latin typeface="Calibri"/>
              </a:rPr>
              <a:t>|C - 1| = 0.025 &lt; 0.1</a:t>
            </a:r>
          </a:p>
        </p:txBody>
      </p:sp>
      <p:sp>
        <p:nvSpPr>
          <p:cNvPr id="21" name="Rectangle 20"/>
          <p:cNvSpPr/>
          <p:nvPr/>
        </p:nvSpPr>
        <p:spPr>
          <a:xfrm>
            <a:off x="4251959" y="2971800"/>
            <a:ext cx="3749039" cy="658368"/>
          </a:xfrm>
          <a:prstGeom prst="rect">
            <a:avLst/>
          </a:prstGeom>
          <a:solidFill>
            <a:srgbClr val="F0F2F5"/>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25111" y="3017520"/>
            <a:ext cx="3602736" cy="548640"/>
          </a:xfrm>
          <a:prstGeom prst="rect">
            <a:avLst/>
          </a:prstGeom>
          <a:noFill/>
        </p:spPr>
        <p:txBody>
          <a:bodyPr wrap="square">
            <a:spAutoFit/>
          </a:bodyPr>
          <a:lstStyle/>
          <a:p>
            <a:pPr algn="l"/>
            <a:r>
              <a:rPr sz="1500" b="0" i="0">
                <a:solidFill>
                  <a:srgbClr val="2C2C2C"/>
                </a:solidFill>
                <a:latin typeface="Calibri"/>
              </a:rPr>
              <a:t>Dist. intensidades: exp. negativa</a:t>
            </a:r>
          </a:p>
        </p:txBody>
      </p:sp>
      <p:sp>
        <p:nvSpPr>
          <p:cNvPr id="23" name="Rectangle 22"/>
          <p:cNvSpPr/>
          <p:nvPr/>
        </p:nvSpPr>
        <p:spPr>
          <a:xfrm>
            <a:off x="4251959" y="3657600"/>
            <a:ext cx="3749039" cy="658368"/>
          </a:xfrm>
          <a:prstGeom prst="rect">
            <a:avLst/>
          </a:prstGeom>
          <a:solidFill>
            <a:srgbClr val="FFFFFF"/>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25111" y="3703320"/>
            <a:ext cx="3602736" cy="548640"/>
          </a:xfrm>
          <a:prstGeom prst="rect">
            <a:avLst/>
          </a:prstGeom>
          <a:noFill/>
        </p:spPr>
        <p:txBody>
          <a:bodyPr wrap="square">
            <a:spAutoFit/>
          </a:bodyPr>
          <a:lstStyle/>
          <a:p>
            <a:pPr algn="l"/>
            <a:r>
              <a:rPr sz="1500" b="0" i="0">
                <a:solidFill>
                  <a:srgbClr val="2C2C2C"/>
                </a:solidFill>
                <a:latin typeface="Calibri"/>
              </a:rPr>
              <a:t>Fracción colas: 0.135 ≈ e⁻²</a:t>
            </a:r>
          </a:p>
        </p:txBody>
      </p:sp>
      <p:sp>
        <p:nvSpPr>
          <p:cNvPr id="25" name="Rectangle 24"/>
          <p:cNvSpPr/>
          <p:nvPr/>
        </p:nvSpPr>
        <p:spPr>
          <a:xfrm>
            <a:off x="8183879" y="1097280"/>
            <a:ext cx="3749039" cy="502920"/>
          </a:xfrm>
          <a:prstGeom prst="rect">
            <a:avLst/>
          </a:prstGeom>
          <a:solidFill>
            <a:srgbClr val="345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57031" y="1143000"/>
            <a:ext cx="3602736" cy="411480"/>
          </a:xfrm>
          <a:prstGeom prst="rect">
            <a:avLst/>
          </a:prstGeom>
          <a:noFill/>
        </p:spPr>
        <p:txBody>
          <a:bodyPr wrap="square">
            <a:spAutoFit/>
          </a:bodyPr>
          <a:lstStyle/>
          <a:p>
            <a:pPr algn="ctr"/>
            <a:r>
              <a:rPr sz="1500" b="1" i="0">
                <a:solidFill>
                  <a:srgbClr val="FFFFFF"/>
                </a:solidFill>
                <a:latin typeface="Calibri"/>
              </a:rPr>
              <a:t>Infraestructura solida</a:t>
            </a:r>
          </a:p>
        </p:txBody>
      </p:sp>
      <p:sp>
        <p:nvSpPr>
          <p:cNvPr id="27" name="Rectangle 26"/>
          <p:cNvSpPr/>
          <p:nvPr/>
        </p:nvSpPr>
        <p:spPr>
          <a:xfrm>
            <a:off x="8183879" y="1600200"/>
            <a:ext cx="3749039" cy="658368"/>
          </a:xfrm>
          <a:prstGeom prst="rect">
            <a:avLst/>
          </a:prstGeom>
          <a:solidFill>
            <a:srgbClr val="F0F2F5"/>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57031" y="1645920"/>
            <a:ext cx="3602736" cy="548640"/>
          </a:xfrm>
          <a:prstGeom prst="rect">
            <a:avLst/>
          </a:prstGeom>
          <a:noFill/>
        </p:spPr>
        <p:txBody>
          <a:bodyPr wrap="square">
            <a:spAutoFit/>
          </a:bodyPr>
          <a:lstStyle/>
          <a:p>
            <a:pPr algn="l"/>
            <a:r>
              <a:rPr sz="1500" b="0" i="0">
                <a:solidFill>
                  <a:srgbClr val="2C2C2C"/>
                </a:solidFill>
                <a:latin typeface="Calibri"/>
              </a:rPr>
              <a:t>Codigo modular en src/</a:t>
            </a:r>
          </a:p>
        </p:txBody>
      </p:sp>
      <p:sp>
        <p:nvSpPr>
          <p:cNvPr id="29" name="Rectangle 28"/>
          <p:cNvSpPr/>
          <p:nvPr/>
        </p:nvSpPr>
        <p:spPr>
          <a:xfrm>
            <a:off x="8183879" y="2286000"/>
            <a:ext cx="3749039" cy="658368"/>
          </a:xfrm>
          <a:prstGeom prst="rect">
            <a:avLst/>
          </a:prstGeom>
          <a:solidFill>
            <a:srgbClr val="FFFFFF"/>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57031" y="2331720"/>
            <a:ext cx="3602736" cy="548640"/>
          </a:xfrm>
          <a:prstGeom prst="rect">
            <a:avLst/>
          </a:prstGeom>
          <a:noFill/>
        </p:spPr>
        <p:txBody>
          <a:bodyPr wrap="square">
            <a:spAutoFit/>
          </a:bodyPr>
          <a:lstStyle/>
          <a:p>
            <a:pPr algn="l"/>
            <a:r>
              <a:rPr sz="1500" b="0" i="0">
                <a:solidFill>
                  <a:srgbClr val="2C2C2C"/>
                </a:solidFill>
                <a:latin typeface="Calibri"/>
              </a:rPr>
              <a:t>3 notebooks reproducibles</a:t>
            </a:r>
          </a:p>
        </p:txBody>
      </p:sp>
      <p:sp>
        <p:nvSpPr>
          <p:cNvPr id="31" name="Rectangle 30"/>
          <p:cNvSpPr/>
          <p:nvPr/>
        </p:nvSpPr>
        <p:spPr>
          <a:xfrm>
            <a:off x="8183879" y="2971800"/>
            <a:ext cx="3749039" cy="658368"/>
          </a:xfrm>
          <a:prstGeom prst="rect">
            <a:avLst/>
          </a:prstGeom>
          <a:solidFill>
            <a:srgbClr val="F0F2F5"/>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57031" y="3017520"/>
            <a:ext cx="3602736" cy="548640"/>
          </a:xfrm>
          <a:prstGeom prst="rect">
            <a:avLst/>
          </a:prstGeom>
          <a:noFill/>
        </p:spPr>
        <p:txBody>
          <a:bodyPr wrap="square">
            <a:spAutoFit/>
          </a:bodyPr>
          <a:lstStyle/>
          <a:p>
            <a:pPr algn="l"/>
            <a:r>
              <a:rPr sz="1500" b="0" i="0">
                <a:solidFill>
                  <a:srgbClr val="2C2C2C"/>
                </a:solidFill>
                <a:latin typeface="Calibri"/>
              </a:rPr>
              <a:t>SEED=42 garantiza reproducibilidad</a:t>
            </a:r>
          </a:p>
        </p:txBody>
      </p:sp>
      <p:sp>
        <p:nvSpPr>
          <p:cNvPr id="33" name="Rectangle 32"/>
          <p:cNvSpPr/>
          <p:nvPr/>
        </p:nvSpPr>
        <p:spPr>
          <a:xfrm>
            <a:off x="8183879" y="3657600"/>
            <a:ext cx="3749039" cy="658368"/>
          </a:xfrm>
          <a:prstGeom prst="rect">
            <a:avLst/>
          </a:prstGeom>
          <a:solidFill>
            <a:srgbClr val="FFFFFF"/>
          </a:solidFill>
          <a:ln w="6350">
            <a:solidFill>
              <a:srgbClr val="7A9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57031" y="3703320"/>
            <a:ext cx="3602736" cy="548640"/>
          </a:xfrm>
          <a:prstGeom prst="rect">
            <a:avLst/>
          </a:prstGeom>
          <a:noFill/>
        </p:spPr>
        <p:txBody>
          <a:bodyPr wrap="square">
            <a:spAutoFit/>
          </a:bodyPr>
          <a:lstStyle/>
          <a:p>
            <a:pPr algn="l"/>
            <a:r>
              <a:rPr sz="1500" b="0" i="0">
                <a:solidFill>
                  <a:srgbClr val="2C2C2C"/>
                </a:solidFill>
                <a:latin typeface="Calibri"/>
              </a:rPr>
              <a:t>GPU RTX 5050, CUDA 12.6</a:t>
            </a:r>
          </a:p>
        </p:txBody>
      </p:sp>
      <p:sp>
        <p:nvSpPr>
          <p:cNvPr id="35" name="Rectangle 34"/>
          <p:cNvSpPr/>
          <p:nvPr/>
        </p:nvSpPr>
        <p:spPr>
          <a:xfrm>
            <a:off x="320040" y="4434840"/>
            <a:ext cx="11521440" cy="640080"/>
          </a:xfrm>
          <a:prstGeom prst="rect">
            <a:avLst/>
          </a:prstGeom>
          <a:solidFill>
            <a:srgbClr val="F0F2F5"/>
          </a:solidFill>
          <a:ln w="19050">
            <a:solidFill>
              <a:srgbClr val="345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526280"/>
            <a:ext cx="11247120" cy="457200"/>
          </a:xfrm>
          <a:prstGeom prst="rect">
            <a:avLst/>
          </a:prstGeom>
          <a:noFill/>
        </p:spPr>
        <p:txBody>
          <a:bodyPr wrap="square">
            <a:spAutoFit/>
          </a:bodyPr>
          <a:lstStyle/>
          <a:p>
            <a:pPr algn="ctr"/>
            <a:r>
              <a:rPr sz="1500" b="0" i="1">
                <a:solidFill>
                  <a:srgbClr val="345C8C"/>
                </a:solidFill>
                <a:latin typeface="Calibri"/>
              </a:rPr>
              <a:t>Pregunta de investigacion respondida parcialmente: la PINN-SIREN simula speckle con C ≈ 1  ✓   |   Falta: benchmark FEM para cuantificar aceleración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345C8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91695" cy="1097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1247120" cy="777240"/>
          </a:xfrm>
          <a:prstGeom prst="rect">
            <a:avLst/>
          </a:prstGeom>
          <a:noFill/>
        </p:spPr>
        <p:txBody>
          <a:bodyPr wrap="square">
            <a:spAutoFit/>
          </a:bodyPr>
          <a:lstStyle/>
          <a:p>
            <a:pPr algn="ctr"/>
            <a:r>
              <a:rPr sz="4000" b="1" i="0">
                <a:solidFill>
                  <a:srgbClr val="FFFFFF"/>
                </a:solidFill>
                <a:latin typeface="Calibri"/>
              </a:rPr>
              <a:t>Gracias por su atencion</a:t>
            </a:r>
          </a:p>
        </p:txBody>
      </p:sp>
      <p:sp>
        <p:nvSpPr>
          <p:cNvPr id="5" name="Rectangle 4"/>
          <p:cNvSpPr/>
          <p:nvPr/>
        </p:nvSpPr>
        <p:spPr>
          <a:xfrm>
            <a:off x="1645920" y="1828800"/>
            <a:ext cx="8869680" cy="27432"/>
          </a:xfrm>
          <a:prstGeom prst="rect">
            <a:avLst/>
          </a:prstGeom>
          <a:solidFill>
            <a:srgbClr val="CCDD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965960"/>
            <a:ext cx="11247120" cy="438912"/>
          </a:xfrm>
          <a:prstGeom prst="rect">
            <a:avLst/>
          </a:prstGeom>
          <a:noFill/>
        </p:spPr>
        <p:txBody>
          <a:bodyPr wrap="square">
            <a:spAutoFit/>
          </a:bodyPr>
          <a:lstStyle/>
          <a:p>
            <a:pPr algn="ctr"/>
            <a:r>
              <a:rPr sz="2200" b="1" i="0">
                <a:solidFill>
                  <a:srgbClr val="FFFFFF"/>
                </a:solidFill>
                <a:latin typeface="Calibri"/>
              </a:rPr>
              <a:t>Roberto Hernandez Estrada</a:t>
            </a:r>
          </a:p>
        </p:txBody>
      </p:sp>
      <p:sp>
        <p:nvSpPr>
          <p:cNvPr id="7" name="TextBox 6"/>
          <p:cNvSpPr txBox="1"/>
          <p:nvPr/>
        </p:nvSpPr>
        <p:spPr>
          <a:xfrm>
            <a:off x="457200" y="2395728"/>
            <a:ext cx="11247120" cy="320040"/>
          </a:xfrm>
          <a:prstGeom prst="rect">
            <a:avLst/>
          </a:prstGeom>
          <a:noFill/>
        </p:spPr>
        <p:txBody>
          <a:bodyPr wrap="square">
            <a:spAutoFit/>
          </a:bodyPr>
          <a:lstStyle/>
          <a:p>
            <a:pPr algn="ctr"/>
            <a:r>
              <a:rPr sz="1400" b="0" i="0">
                <a:solidFill>
                  <a:srgbClr val="CCDDEE"/>
                </a:solidFill>
                <a:latin typeface="Calibri"/>
              </a:rPr>
              <a:t>robertohernandezestrd@gmail.com   |   Matricula: 252H21004</a:t>
            </a:r>
          </a:p>
        </p:txBody>
      </p:sp>
      <p:sp>
        <p:nvSpPr>
          <p:cNvPr id="8" name="Rectangle 7"/>
          <p:cNvSpPr/>
          <p:nvPr/>
        </p:nvSpPr>
        <p:spPr>
          <a:xfrm>
            <a:off x="1645920" y="2834640"/>
            <a:ext cx="8869680" cy="27432"/>
          </a:xfrm>
          <a:prstGeom prst="rect">
            <a:avLst/>
          </a:prstGeom>
          <a:solidFill>
            <a:srgbClr val="80A0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999232"/>
            <a:ext cx="11247120" cy="347472"/>
          </a:xfrm>
          <a:prstGeom prst="rect">
            <a:avLst/>
          </a:prstGeom>
          <a:noFill/>
        </p:spPr>
        <p:txBody>
          <a:bodyPr wrap="square">
            <a:spAutoFit/>
          </a:bodyPr>
          <a:lstStyle/>
          <a:p>
            <a:pPr algn="ctr"/>
            <a:r>
              <a:rPr sz="1800" b="1" i="0">
                <a:solidFill>
                  <a:srgbClr val="CCDDEE"/>
                </a:solidFill>
                <a:latin typeface="Calibri"/>
              </a:rPr>
              <a:t>Agradecimientos</a:t>
            </a:r>
          </a:p>
        </p:txBody>
      </p:sp>
      <p:sp>
        <p:nvSpPr>
          <p:cNvPr id="10" name="TextBox 9"/>
          <p:cNvSpPr txBox="1"/>
          <p:nvPr/>
        </p:nvSpPr>
        <p:spPr>
          <a:xfrm>
            <a:off x="1371600" y="3429000"/>
            <a:ext cx="9418320" cy="384048"/>
          </a:xfrm>
          <a:prstGeom prst="rect">
            <a:avLst/>
          </a:prstGeom>
          <a:noFill/>
        </p:spPr>
        <p:txBody>
          <a:bodyPr wrap="square">
            <a:spAutoFit/>
          </a:bodyPr>
          <a:lstStyle/>
          <a:p>
            <a:pPr algn="ctr"/>
            <a:r>
              <a:rPr sz="1700" b="0" i="0">
                <a:solidFill>
                  <a:srgbClr val="FFFFFF"/>
                </a:solidFill>
                <a:latin typeface="Calibri"/>
              </a:rPr>
              <a:t>Dr. Jose Adan Hernandez Nolasco  -  Director de tesis</a:t>
            </a:r>
          </a:p>
        </p:txBody>
      </p:sp>
      <p:sp>
        <p:nvSpPr>
          <p:cNvPr id="11" name="TextBox 10"/>
          <p:cNvSpPr txBox="1"/>
          <p:nvPr/>
        </p:nvSpPr>
        <p:spPr>
          <a:xfrm>
            <a:off x="1371600" y="3886200"/>
            <a:ext cx="9418320" cy="384048"/>
          </a:xfrm>
          <a:prstGeom prst="rect">
            <a:avLst/>
          </a:prstGeom>
          <a:noFill/>
        </p:spPr>
        <p:txBody>
          <a:bodyPr wrap="square">
            <a:spAutoFit/>
          </a:bodyPr>
          <a:lstStyle/>
          <a:p>
            <a:pPr algn="ctr"/>
            <a:r>
              <a:rPr sz="1700" b="0" i="0">
                <a:solidFill>
                  <a:srgbClr val="FFFFFF"/>
                </a:solidFill>
                <a:latin typeface="Calibri"/>
              </a:rPr>
              <a:t>Dr. Oscar Alberto Chavez Bosquez  -  Codirector de tesis</a:t>
            </a:r>
          </a:p>
        </p:txBody>
      </p:sp>
      <p:sp>
        <p:nvSpPr>
          <p:cNvPr id="12" name="TextBox 11"/>
          <p:cNvSpPr txBox="1"/>
          <p:nvPr/>
        </p:nvSpPr>
        <p:spPr>
          <a:xfrm>
            <a:off x="1371600" y="4343400"/>
            <a:ext cx="9418320" cy="384048"/>
          </a:xfrm>
          <a:prstGeom prst="rect">
            <a:avLst/>
          </a:prstGeom>
          <a:noFill/>
        </p:spPr>
        <p:txBody>
          <a:bodyPr wrap="square">
            <a:spAutoFit/>
          </a:bodyPr>
          <a:lstStyle/>
          <a:p>
            <a:pPr algn="ctr"/>
            <a:r>
              <a:rPr sz="1700" b="0" i="0">
                <a:solidFill>
                  <a:srgbClr val="FFFFFF"/>
                </a:solidFill>
                <a:latin typeface="Calibri"/>
              </a:rPr>
              <a:t>DACYTI-UJAT  -  Programa de Maestria en Ciencias de la Computacion</a:t>
            </a:r>
          </a:p>
        </p:txBody>
      </p:sp>
      <p:sp>
        <p:nvSpPr>
          <p:cNvPr id="13" name="TextBox 12"/>
          <p:cNvSpPr txBox="1"/>
          <p:nvPr/>
        </p:nvSpPr>
        <p:spPr>
          <a:xfrm>
            <a:off x="457200" y="5166360"/>
            <a:ext cx="11247120" cy="347472"/>
          </a:xfrm>
          <a:prstGeom prst="rect">
            <a:avLst/>
          </a:prstGeom>
          <a:noFill/>
        </p:spPr>
        <p:txBody>
          <a:bodyPr wrap="square">
            <a:spAutoFit/>
          </a:bodyPr>
          <a:lstStyle/>
          <a:p>
            <a:pPr algn="ctr"/>
            <a:r>
              <a:rPr sz="1300" b="0" i="0">
                <a:solidFill>
                  <a:srgbClr val="AACCEE"/>
                </a:solidFill>
                <a:latin typeface="Calibri"/>
              </a:rPr>
              <a:t>Python 3.14  |  PyTorch 2.4  |  CUDA 12.6  |  GPU NVIDIA RTX 5050</a:t>
            </a:r>
          </a:p>
        </p:txBody>
      </p:sp>
      <p:sp>
        <p:nvSpPr>
          <p:cNvPr id="14" name="Rectangle 13"/>
          <p:cNvSpPr/>
          <p:nvPr/>
        </p:nvSpPr>
        <p:spPr>
          <a:xfrm>
            <a:off x="1645920" y="5577840"/>
            <a:ext cx="8869680" cy="27432"/>
          </a:xfrm>
          <a:prstGeom prst="rect">
            <a:avLst/>
          </a:prstGeom>
          <a:solidFill>
            <a:srgbClr val="80A0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5669280"/>
            <a:ext cx="11247120" cy="548640"/>
          </a:xfrm>
          <a:prstGeom prst="rect">
            <a:avLst/>
          </a:prstGeom>
          <a:noFill/>
        </p:spPr>
        <p:txBody>
          <a:bodyPr wrap="square">
            <a:spAutoFit/>
          </a:bodyPr>
          <a:lstStyle/>
          <a:p>
            <a:pPr algn="ctr"/>
            <a:r>
              <a:rPr sz="2600" b="1" i="0">
                <a:solidFill>
                  <a:srgbClr val="FFFFFF"/>
                </a:solidFill>
                <a:latin typeface="Calibri"/>
              </a:rPr>
              <a:t>Preguntas?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