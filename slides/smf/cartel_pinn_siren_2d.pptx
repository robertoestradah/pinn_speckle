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32399288" cy="467995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33" d="100"/>
          <a:sy n="33" d="100"/>
        </p:scale>
        <p:origin x="509" y="-213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Cartel adaptado de la tesis hasta el caso 2D. El desarrollo 3D no forma parte de este material.</a:t>
            </a:r>
          </a:p>
          <a:p>
            <a:r>
              <a:t>[Sources]</a:t>
            </a:r>
          </a:p>
          <a:p>
            <a:r>
              <a:t>- Tesis y resultados: C:/roberto/Tesis_Maestria/tesis/Tesis_Actual/main.pdf, chapters/Cap1-Generalidades.tex, chapters/Cap3-Modelo.tex, chapters/Cap4-Resultados.tex.</a:t>
            </a:r>
          </a:p>
          <a:p>
            <a:r>
              <a:t>- Figuras: C:/roberto/Tesis_Maestria/tesis/Tesis_Actual/figures/*.png.</a:t>
            </a:r>
          </a:p>
          <a:p>
            <a:r>
              <a:t>- Título, autores y datos del congreso: C:/Users/rober/Downloads/CNF LXIX-014674.pdf.</a:t>
            </a:r>
          </a:p>
          <a:p>
            <a:r>
              <a:t>- Estructura visual y logotipos: C:/roberto/Tesis_Maestria/master_supporting_docs/supporting_slides/CARTEL/GENERACIÓN DE SONIDO MEDIANTE EFECTO TERMOACÚSTICO EMPLEANDO ÓXIDO DE GRAFENO..pptx.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FE226-2DDD-40F3-88BC-056D496C14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29947" y="7659088"/>
            <a:ext cx="27539395" cy="16293159"/>
          </a:xfrm>
        </p:spPr>
        <p:txBody>
          <a:bodyPr anchor="b"/>
          <a:lstStyle>
            <a:lvl1pPr algn="ctr">
              <a:buNone/>
              <a:defRPr sz="21259"/>
            </a:lvl1pPr>
          </a:lstStyle>
          <a:p>
            <a:r>
              <a:t>Haga clic para modificar el estilo de título del patrón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8CB038-6FC0-4339-BA06-CEB26D2870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49911" y="24580574"/>
            <a:ext cx="24299466" cy="11299043"/>
          </a:xfrm>
        </p:spPr>
        <p:txBody>
          <a:bodyPr/>
          <a:lstStyle>
            <a:lvl1pPr marL="0" indent="0" algn="ctr">
              <a:buNone/>
              <a:defRPr sz="8504"/>
            </a:lvl1pPr>
            <a:lvl2pPr marL="1619951" indent="0" algn="ctr">
              <a:buNone/>
              <a:defRPr sz="7086"/>
            </a:lvl2pPr>
            <a:lvl3pPr marL="3239902" indent="0" algn="ctr">
              <a:buNone/>
              <a:defRPr sz="6378"/>
            </a:lvl3pPr>
            <a:lvl4pPr marL="4859853" indent="0" algn="ctr">
              <a:buNone/>
              <a:defRPr sz="5669"/>
            </a:lvl4pPr>
            <a:lvl5pPr marL="6479804" indent="0" algn="ctr">
              <a:buNone/>
              <a:defRPr sz="5669"/>
            </a:lvl5pPr>
            <a:lvl6pPr marL="8099755" indent="0" algn="ctr">
              <a:buNone/>
              <a:defRPr sz="5669"/>
            </a:lvl6pPr>
            <a:lvl7pPr marL="9719706" indent="0" algn="ctr">
              <a:buNone/>
              <a:defRPr sz="5669"/>
            </a:lvl7pPr>
            <a:lvl8pPr marL="11339657" indent="0" algn="ctr">
              <a:buNone/>
              <a:defRPr sz="5669"/>
            </a:lvl8pPr>
            <a:lvl9pPr marL="12959608" indent="0" algn="ctr">
              <a:buNone/>
              <a:defRPr sz="5669"/>
            </a:lvl9pPr>
          </a:lstStyle>
          <a:p>
            <a:r>
              <a:t>Haga clic para modificar el estilo de subtítulo del patrón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ADAA27-410D-4B93-BE50-67EB60EBAD8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2859D279-7FFD-4108-AAC5-6DD8152157B1}" type="datetimeFigureOut">
              <a:t>31/08/2026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5CF813-705C-4119-92B2-B196EEEAE7C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EFC323-30C9-4806-82C7-5305014A229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9E107B50-42F2-442C-8A9B-03B1021A57A2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6010B0-FD76-474B-A019-0688A2AA43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Haga clic para modificar el estilo de título del patrón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C3F179-9B27-4F49-B1FC-DA25D63800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Haga clic para modificar los estilos de texto del patrón</a:t>
            </a:r>
          </a:p>
          <a:p>
            <a:pPr lvl="1">
              <a:buNone/>
            </a:pPr>
            <a:r>
              <a:t>Segundo nivel</a:t>
            </a:r>
          </a:p>
          <a:p>
            <a:pPr lvl="2">
              <a:buNone/>
            </a:pPr>
            <a:r>
              <a:t>Tercer nivel</a:t>
            </a:r>
          </a:p>
          <a:p>
            <a:pPr lvl="3">
              <a:buNone/>
            </a:pPr>
            <a:r>
              <a:t>Cuarto nivel</a:t>
            </a:r>
          </a:p>
          <a:p>
            <a:pPr lvl="4">
              <a:buNone/>
            </a:pPr>
            <a:r>
              <a:t>Quinto nivel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B95883-E2D2-4676-8FC2-C08006CDE47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2859D279-7FFD-4108-AAC5-6DD8152157B1}" type="datetimeFigureOut">
              <a:t>31/08/2026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E1DC7A-2D6D-4432-A0ED-73C4F001FFD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4378AD-9B39-4E72-AF3E-4380B7BB9A0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9E107B50-42F2-442C-8A9B-03B1021A57A2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00996F-22A3-4349-B57D-48662920FE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0578" y="11667389"/>
            <a:ext cx="27944386" cy="19467289"/>
          </a:xfrm>
        </p:spPr>
        <p:txBody>
          <a:bodyPr anchor="b"/>
          <a:lstStyle>
            <a:lvl1pPr>
              <a:buNone/>
              <a:defRPr sz="21259"/>
            </a:lvl1pPr>
          </a:lstStyle>
          <a:p>
            <a:r>
              <a:t>Haga clic para modificar el estilo de título del patrón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AEEFFF-B697-4ED3-B741-3FD6AF2C33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10578" y="31318846"/>
            <a:ext cx="27944386" cy="10237387"/>
          </a:xfrm>
        </p:spPr>
        <p:txBody>
          <a:bodyPr/>
          <a:lstStyle>
            <a:lvl1pPr marL="0" indent="0">
              <a:buNone/>
              <a:defRPr sz="8504">
                <a:solidFill>
                  <a:schemeClr val="tx1"/>
                </a:solidFill>
              </a:defRPr>
            </a:lvl1pPr>
            <a:lvl2pPr marL="1619951" indent="0">
              <a:buNone/>
              <a:defRPr sz="7086">
                <a:solidFill>
                  <a:schemeClr val="tx1">
                    <a:tint val="75000"/>
                  </a:schemeClr>
                </a:solidFill>
              </a:defRPr>
            </a:lvl2pPr>
            <a:lvl3pPr marL="3239902" indent="0">
              <a:buNone/>
              <a:defRPr sz="6378">
                <a:solidFill>
                  <a:schemeClr val="tx1">
                    <a:tint val="75000"/>
                  </a:schemeClr>
                </a:solidFill>
              </a:defRPr>
            </a:lvl3pPr>
            <a:lvl4pPr marL="4859853" indent="0">
              <a:buNone/>
              <a:defRPr sz="5669">
                <a:solidFill>
                  <a:schemeClr val="tx1">
                    <a:tint val="75000"/>
                  </a:schemeClr>
                </a:solidFill>
              </a:defRPr>
            </a:lvl4pPr>
            <a:lvl5pPr marL="6479804" indent="0">
              <a:buNone/>
              <a:defRPr sz="5669">
                <a:solidFill>
                  <a:schemeClr val="tx1">
                    <a:tint val="75000"/>
                  </a:schemeClr>
                </a:solidFill>
              </a:defRPr>
            </a:lvl5pPr>
            <a:lvl6pPr marL="8099755" indent="0">
              <a:buNone/>
              <a:defRPr sz="5669">
                <a:solidFill>
                  <a:schemeClr val="tx1">
                    <a:tint val="75000"/>
                  </a:schemeClr>
                </a:solidFill>
              </a:defRPr>
            </a:lvl6pPr>
            <a:lvl7pPr marL="9719706" indent="0">
              <a:buNone/>
              <a:defRPr sz="5669">
                <a:solidFill>
                  <a:schemeClr val="tx1">
                    <a:tint val="75000"/>
                  </a:schemeClr>
                </a:solidFill>
              </a:defRPr>
            </a:lvl7pPr>
            <a:lvl8pPr marL="11339657" indent="0">
              <a:buNone/>
              <a:defRPr sz="5669">
                <a:solidFill>
                  <a:schemeClr val="tx1">
                    <a:tint val="75000"/>
                  </a:schemeClr>
                </a:solidFill>
              </a:defRPr>
            </a:lvl8pPr>
            <a:lvl9pPr marL="12959608" indent="0">
              <a:buNone/>
              <a:defRPr sz="566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Haga clic para modificar los estilos de texto del patrón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065FCC-BA5E-48D5-9347-A1EBBC9C22C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2859D279-7FFD-4108-AAC5-6DD8152157B1}" type="datetimeFigureOut">
              <a:t>31/08/2026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AAC06C-CE54-487A-86C4-CBDDC016B9A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232EE9-9905-4052-B695-6A0972CBE49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9E107B50-42F2-442C-8A9B-03B1021A57A2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F31350-D251-453B-ACAF-208D95707A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Haga clic para modificar el estilo de título del patrón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13344E-470D-48D1-A860-BE68EB8002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27451" y="12458200"/>
            <a:ext cx="13769697" cy="29693853"/>
          </a:xfrm>
        </p:spPr>
        <p:txBody>
          <a:bodyPr/>
          <a:lstStyle/>
          <a:p>
            <a:pPr lvl="0">
              <a:buNone/>
            </a:pPr>
            <a:r>
              <a:t>Haga clic para modificar los estilos de texto del patrón</a:t>
            </a:r>
          </a:p>
          <a:p>
            <a:pPr lvl="1">
              <a:buNone/>
            </a:pPr>
            <a:r>
              <a:t>Segundo nivel</a:t>
            </a:r>
          </a:p>
          <a:p>
            <a:pPr lvl="2">
              <a:buNone/>
            </a:pPr>
            <a:r>
              <a:t>Tercer nivel</a:t>
            </a:r>
          </a:p>
          <a:p>
            <a:pPr lvl="3">
              <a:buNone/>
            </a:pPr>
            <a:r>
              <a:t>Cuarto nivel</a:t>
            </a:r>
          </a:p>
          <a:p>
            <a:pPr lvl="4">
              <a:buNone/>
            </a:pPr>
            <a:r>
              <a:t>Quinto nivel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2803A8-8FE3-4A38-8409-15A081E7B35E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16402140" y="12458200"/>
            <a:ext cx="13769697" cy="29693853"/>
          </a:xfrm>
        </p:spPr>
        <p:txBody>
          <a:bodyPr/>
          <a:lstStyle/>
          <a:p>
            <a:pPr lvl="0">
              <a:buNone/>
            </a:pPr>
            <a:r>
              <a:t>Haga clic para modificar los estilos de texto del patrón</a:t>
            </a:r>
          </a:p>
          <a:p>
            <a:pPr lvl="1">
              <a:buNone/>
            </a:pPr>
            <a:r>
              <a:t>Segundo nivel</a:t>
            </a:r>
          </a:p>
          <a:p>
            <a:pPr lvl="2">
              <a:buNone/>
            </a:pPr>
            <a:r>
              <a:t>Tercer nivel</a:t>
            </a:r>
          </a:p>
          <a:p>
            <a:pPr lvl="3">
              <a:buNone/>
            </a:pPr>
            <a:r>
              <a:t>Cuarto nivel</a:t>
            </a:r>
          </a:p>
          <a:p>
            <a:pPr lvl="4">
              <a:buNone/>
            </a:pPr>
            <a:r>
              <a:t>Quinto nivel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CD1099-6AD6-4472-8AD7-C1C5BBD23F6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2859D279-7FFD-4108-AAC5-6DD8152157B1}" type="datetimeFigureOut">
              <a:t>31/08/2026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EC5E7E-9F67-41BB-8566-BE3B2D3AE0F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62935A-094F-4698-A942-7AB5051C674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9E107B50-42F2-442C-8A9B-03B1021A57A2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F4156-5EC5-432B-847A-525D27801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671" y="2491650"/>
            <a:ext cx="27944386" cy="9045740"/>
          </a:xfrm>
        </p:spPr>
        <p:txBody>
          <a:bodyPr/>
          <a:lstStyle/>
          <a:p>
            <a:r>
              <a:t>Haga clic para modificar el estilo de título del patrón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41C7ED-05C5-4A15-882C-A09897E6F0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31675" y="11472381"/>
            <a:ext cx="13706415" cy="5622437"/>
          </a:xfrm>
        </p:spPr>
        <p:txBody>
          <a:bodyPr anchor="b"/>
          <a:lstStyle>
            <a:lvl1pPr marL="0" indent="0">
              <a:buNone/>
              <a:defRPr sz="8504" b="1"/>
            </a:lvl1pPr>
            <a:lvl2pPr marL="1619951" indent="0">
              <a:buNone/>
              <a:defRPr sz="7086" b="1"/>
            </a:lvl2pPr>
            <a:lvl3pPr marL="3239902" indent="0">
              <a:buNone/>
              <a:defRPr sz="6378" b="1"/>
            </a:lvl3pPr>
            <a:lvl4pPr marL="4859853" indent="0">
              <a:buNone/>
              <a:defRPr sz="5669" b="1"/>
            </a:lvl4pPr>
            <a:lvl5pPr marL="6479804" indent="0">
              <a:buNone/>
              <a:defRPr sz="5669" b="1"/>
            </a:lvl5pPr>
            <a:lvl6pPr marL="8099755" indent="0">
              <a:buNone/>
              <a:defRPr sz="5669" b="1"/>
            </a:lvl6pPr>
            <a:lvl7pPr marL="9719706" indent="0">
              <a:buNone/>
              <a:defRPr sz="5669" b="1"/>
            </a:lvl7pPr>
            <a:lvl8pPr marL="11339657" indent="0">
              <a:buNone/>
              <a:defRPr sz="5669" b="1"/>
            </a:lvl8pPr>
            <a:lvl9pPr marL="12959608" indent="0">
              <a:buNone/>
              <a:defRPr sz="5669" b="1"/>
            </a:lvl9pPr>
          </a:lstStyle>
          <a:p>
            <a:pPr lvl="0">
              <a:buNone/>
            </a:pPr>
            <a:r>
              <a:t>Haga clic para modificar los estilos de texto del patrón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0526AB-0AF6-4E11-88C9-F30FBE5E62C5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2231675" y="17094818"/>
            <a:ext cx="13706415" cy="25143901"/>
          </a:xfrm>
        </p:spPr>
        <p:txBody>
          <a:bodyPr/>
          <a:lstStyle/>
          <a:p>
            <a:pPr lvl="0">
              <a:buNone/>
            </a:pPr>
            <a:r>
              <a:t>Haga clic para modificar los estilos de texto del patrón</a:t>
            </a:r>
          </a:p>
          <a:p>
            <a:pPr lvl="1">
              <a:buNone/>
            </a:pPr>
            <a:r>
              <a:t>Segundo nivel</a:t>
            </a:r>
          </a:p>
          <a:p>
            <a:pPr lvl="2">
              <a:buNone/>
            </a:pPr>
            <a:r>
              <a:t>Tercer nivel</a:t>
            </a:r>
          </a:p>
          <a:p>
            <a:pPr lvl="3">
              <a:buNone/>
            </a:pPr>
            <a:r>
              <a:t>Cuarto nivel</a:t>
            </a:r>
          </a:p>
          <a:p>
            <a:pPr lvl="4">
              <a:buNone/>
            </a:pPr>
            <a:r>
              <a:t>Quinto nivel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507890B-CD78-472D-8F9C-2482C06AAE37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16402142" y="11472381"/>
            <a:ext cx="13773917" cy="5622437"/>
          </a:xfrm>
        </p:spPr>
        <p:txBody>
          <a:bodyPr anchor="b"/>
          <a:lstStyle>
            <a:lvl1pPr marL="0" indent="0">
              <a:buNone/>
              <a:defRPr sz="8504" b="1"/>
            </a:lvl1pPr>
            <a:lvl2pPr marL="1619951" indent="0">
              <a:buNone/>
              <a:defRPr sz="7086" b="1"/>
            </a:lvl2pPr>
            <a:lvl3pPr marL="3239902" indent="0">
              <a:buNone/>
              <a:defRPr sz="6378" b="1"/>
            </a:lvl3pPr>
            <a:lvl4pPr marL="4859853" indent="0">
              <a:buNone/>
              <a:defRPr sz="5669" b="1"/>
            </a:lvl4pPr>
            <a:lvl5pPr marL="6479804" indent="0">
              <a:buNone/>
              <a:defRPr sz="5669" b="1"/>
            </a:lvl5pPr>
            <a:lvl6pPr marL="8099755" indent="0">
              <a:buNone/>
              <a:defRPr sz="5669" b="1"/>
            </a:lvl6pPr>
            <a:lvl7pPr marL="9719706" indent="0">
              <a:buNone/>
              <a:defRPr sz="5669" b="1"/>
            </a:lvl7pPr>
            <a:lvl8pPr marL="11339657" indent="0">
              <a:buNone/>
              <a:defRPr sz="5669" b="1"/>
            </a:lvl8pPr>
            <a:lvl9pPr marL="12959608" indent="0">
              <a:buNone/>
              <a:defRPr sz="5669" b="1"/>
            </a:lvl9pPr>
          </a:lstStyle>
          <a:p>
            <a:pPr lvl="0">
              <a:buNone/>
            </a:pPr>
            <a:r>
              <a:t>Haga clic para modificar los estilos de texto del patrón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4213B05-7078-476C-835F-4D7CE6A7ABD7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16402142" y="17094818"/>
            <a:ext cx="13773917" cy="25143901"/>
          </a:xfrm>
        </p:spPr>
        <p:txBody>
          <a:bodyPr/>
          <a:lstStyle/>
          <a:p>
            <a:pPr lvl="0">
              <a:buNone/>
            </a:pPr>
            <a:r>
              <a:t>Haga clic para modificar los estilos de texto del patrón</a:t>
            </a:r>
          </a:p>
          <a:p>
            <a:pPr lvl="1">
              <a:buNone/>
            </a:pPr>
            <a:r>
              <a:t>Segundo nivel</a:t>
            </a:r>
          </a:p>
          <a:p>
            <a:pPr lvl="2">
              <a:buNone/>
            </a:pPr>
            <a:r>
              <a:t>Tercer nivel</a:t>
            </a:r>
          </a:p>
          <a:p>
            <a:pPr lvl="3">
              <a:buNone/>
            </a:pPr>
            <a:r>
              <a:t>Cuarto nivel</a:t>
            </a:r>
          </a:p>
          <a:p>
            <a:pPr lvl="4">
              <a:buNone/>
            </a:pPr>
            <a:r>
              <a:t>Quinto nivel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46AF7FA-0544-412E-8E9B-256F6E13818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2859D279-7FFD-4108-AAC5-6DD8152157B1}" type="datetimeFigureOut">
              <a:t>31/08/2026</a:t>
            </a:fld>
            <a:endParaRPr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727B08-7112-494B-9FB3-390A3E1B699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052CE5E-F92E-4FAE-B31D-6C14E7B81B2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9E107B50-42F2-442C-8A9B-03B1021A57A2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7C75EF-AD44-4131-86A2-BC55847C04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Haga clic para modificar el estilo de título del patrón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6CF7DC0-8431-4886-B2F0-2A9E9EB37B8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2859D279-7FFD-4108-AAC5-6DD8152157B1}" type="datetimeFigureOut">
              <a:t>31/08/2026</a:t>
            </a:fld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EEBA80F-EA9B-4282-8FC0-723A47D773D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6AADC8-A1BF-4752-B518-68B5D70EA70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9E107B50-42F2-442C-8A9B-03B1021A57A2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FBC4771-409D-4EA9-93CD-E2B1790D1AF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2859D279-7FFD-4108-AAC5-6DD8152157B1}" type="datetimeFigureOut">
              <a:t>31/08/2026</a:t>
            </a:fld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5347D61-30E1-4E7F-93C1-A911AB23F58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6B9AEF-B4A3-4009-BADA-52C29F2BB21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9E107B50-42F2-442C-8A9B-03B1021A57A2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FD2A22-6381-4D12-8BF6-7B9A4511F2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671" y="3119967"/>
            <a:ext cx="10449614" cy="10919883"/>
          </a:xfrm>
        </p:spPr>
        <p:txBody>
          <a:bodyPr anchor="b"/>
          <a:lstStyle>
            <a:lvl1pPr>
              <a:buNone/>
              <a:defRPr sz="11338"/>
            </a:lvl1pPr>
          </a:lstStyle>
          <a:p>
            <a:r>
              <a:t>Haga clic para modificar el estilo de título del patrón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E22300-7365-460A-A606-4A4DB3D328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73917" y="6738272"/>
            <a:ext cx="16402140" cy="33257978"/>
          </a:xfrm>
        </p:spPr>
        <p:txBody>
          <a:bodyPr/>
          <a:lstStyle>
            <a:lvl1pPr>
              <a:buNone/>
              <a:defRPr sz="11338"/>
            </a:lvl1pPr>
            <a:lvl2pPr>
              <a:buNone/>
              <a:defRPr sz="9921"/>
            </a:lvl2pPr>
            <a:lvl3pPr>
              <a:buNone/>
              <a:defRPr sz="8504"/>
            </a:lvl3pPr>
            <a:lvl4pPr>
              <a:buNone/>
              <a:defRPr sz="7086"/>
            </a:lvl4pPr>
            <a:lvl5pPr>
              <a:buNone/>
              <a:defRPr sz="7086"/>
            </a:lvl5pPr>
            <a:lvl6pPr>
              <a:buNone/>
              <a:defRPr sz="7086"/>
            </a:lvl6pPr>
            <a:lvl7pPr>
              <a:buNone/>
              <a:defRPr sz="7086"/>
            </a:lvl7pPr>
            <a:lvl8pPr>
              <a:buNone/>
              <a:defRPr sz="7086"/>
            </a:lvl8pPr>
            <a:lvl9pPr>
              <a:buNone/>
              <a:defRPr sz="7086"/>
            </a:lvl9pPr>
          </a:lstStyle>
          <a:p>
            <a:pPr lvl="0">
              <a:buNone/>
            </a:pPr>
            <a:r>
              <a:t>Haga clic para modificar los estilos de texto del patrón</a:t>
            </a:r>
          </a:p>
          <a:p>
            <a:pPr lvl="1">
              <a:buNone/>
            </a:pPr>
            <a:r>
              <a:t>Segundo nivel</a:t>
            </a:r>
          </a:p>
          <a:p>
            <a:pPr lvl="2">
              <a:buNone/>
            </a:pPr>
            <a:r>
              <a:t>Tercer nivel</a:t>
            </a:r>
          </a:p>
          <a:p>
            <a:pPr lvl="3">
              <a:buNone/>
            </a:pPr>
            <a:r>
              <a:t>Cuarto nivel</a:t>
            </a:r>
          </a:p>
          <a:p>
            <a:pPr lvl="4">
              <a:buNone/>
            </a:pPr>
            <a:r>
              <a:t>Quinto nivel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7BE85B-1843-477B-AFBD-E1F8D32C0F49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2231671" y="14039850"/>
            <a:ext cx="10449614" cy="26010559"/>
          </a:xfrm>
        </p:spPr>
        <p:txBody>
          <a:bodyPr/>
          <a:lstStyle>
            <a:lvl1pPr marL="0" indent="0">
              <a:buNone/>
              <a:defRPr sz="5669"/>
            </a:lvl1pPr>
            <a:lvl2pPr marL="1619951" indent="0">
              <a:buNone/>
              <a:defRPr sz="4960"/>
            </a:lvl2pPr>
            <a:lvl3pPr marL="3239902" indent="0">
              <a:buNone/>
              <a:defRPr sz="4252"/>
            </a:lvl3pPr>
            <a:lvl4pPr marL="4859853" indent="0">
              <a:buNone/>
              <a:defRPr sz="3543"/>
            </a:lvl4pPr>
            <a:lvl5pPr marL="6479804" indent="0">
              <a:buNone/>
              <a:defRPr sz="3543"/>
            </a:lvl5pPr>
            <a:lvl6pPr marL="8099755" indent="0">
              <a:buNone/>
              <a:defRPr sz="3543"/>
            </a:lvl6pPr>
            <a:lvl7pPr marL="9719706" indent="0">
              <a:buNone/>
              <a:defRPr sz="3543"/>
            </a:lvl7pPr>
            <a:lvl8pPr marL="11339657" indent="0">
              <a:buNone/>
              <a:defRPr sz="3543"/>
            </a:lvl8pPr>
            <a:lvl9pPr marL="12959608" indent="0">
              <a:buNone/>
              <a:defRPr sz="3543"/>
            </a:lvl9pPr>
          </a:lstStyle>
          <a:p>
            <a:pPr lvl="0">
              <a:buNone/>
            </a:pPr>
            <a:r>
              <a:t>Haga clic para modificar los estilos de texto del patrón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E166F2-1A9A-4D13-9272-D4ACF0B3A96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2859D279-7FFD-4108-AAC5-6DD8152157B1}" type="datetimeFigureOut">
              <a:t>31/08/2026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E852DC-C832-4F44-8662-E26EA23FED8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B3A51B-B292-4AF0-9840-CFC969912F3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9E107B50-42F2-442C-8A9B-03B1021A57A2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A90F4D-F284-4378-9247-521F222EAC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671" y="3119967"/>
            <a:ext cx="10449614" cy="10919883"/>
          </a:xfrm>
        </p:spPr>
        <p:txBody>
          <a:bodyPr anchor="b"/>
          <a:lstStyle>
            <a:lvl1pPr>
              <a:buNone/>
              <a:defRPr sz="11338"/>
            </a:lvl1pPr>
          </a:lstStyle>
          <a:p>
            <a:r>
              <a:t>Haga clic para modificar el estilo de título del patrón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7DA256C-CB1E-4052-AAE3-237179C789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3773917" y="6738272"/>
            <a:ext cx="16402140" cy="33257978"/>
          </a:xfrm>
        </p:spPr>
        <p:txBody>
          <a:bodyPr anchor="t"/>
          <a:lstStyle>
            <a:lvl1pPr marL="0" indent="0">
              <a:buNone/>
              <a:defRPr sz="11338"/>
            </a:lvl1pPr>
            <a:lvl2pPr marL="1619951" indent="0">
              <a:buNone/>
              <a:defRPr sz="9921"/>
            </a:lvl2pPr>
            <a:lvl3pPr marL="3239902" indent="0">
              <a:buNone/>
              <a:defRPr sz="8504"/>
            </a:lvl3pPr>
            <a:lvl4pPr marL="4859853" indent="0">
              <a:buNone/>
              <a:defRPr sz="7086"/>
            </a:lvl4pPr>
            <a:lvl5pPr marL="6479804" indent="0">
              <a:buNone/>
              <a:defRPr sz="7086"/>
            </a:lvl5pPr>
            <a:lvl6pPr marL="8099755" indent="0">
              <a:buNone/>
              <a:defRPr sz="7086"/>
            </a:lvl6pPr>
            <a:lvl7pPr marL="9719706" indent="0">
              <a:buNone/>
              <a:defRPr sz="7086"/>
            </a:lvl7pPr>
            <a:lvl8pPr marL="11339657" indent="0">
              <a:buNone/>
              <a:defRPr sz="7086"/>
            </a:lvl8pPr>
            <a:lvl9pPr marL="12959608" indent="0">
              <a:buNone/>
              <a:defRPr sz="7086"/>
            </a:lvl9pPr>
          </a:lstStyle>
          <a:p>
            <a:r>
              <a:t>Haga clic en el icono para agregar una imagen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53D57C-55F2-4045-A283-A161F00ECB07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2231671" y="14039850"/>
            <a:ext cx="10449614" cy="26010559"/>
          </a:xfrm>
        </p:spPr>
        <p:txBody>
          <a:bodyPr/>
          <a:lstStyle>
            <a:lvl1pPr marL="0" indent="0">
              <a:buNone/>
              <a:defRPr sz="5669"/>
            </a:lvl1pPr>
            <a:lvl2pPr marL="1619951" indent="0">
              <a:buNone/>
              <a:defRPr sz="4960"/>
            </a:lvl2pPr>
            <a:lvl3pPr marL="3239902" indent="0">
              <a:buNone/>
              <a:defRPr sz="4252"/>
            </a:lvl3pPr>
            <a:lvl4pPr marL="4859853" indent="0">
              <a:buNone/>
              <a:defRPr sz="3543"/>
            </a:lvl4pPr>
            <a:lvl5pPr marL="6479804" indent="0">
              <a:buNone/>
              <a:defRPr sz="3543"/>
            </a:lvl5pPr>
            <a:lvl6pPr marL="8099755" indent="0">
              <a:buNone/>
              <a:defRPr sz="3543"/>
            </a:lvl6pPr>
            <a:lvl7pPr marL="9719706" indent="0">
              <a:buNone/>
              <a:defRPr sz="3543"/>
            </a:lvl7pPr>
            <a:lvl8pPr marL="11339657" indent="0">
              <a:buNone/>
              <a:defRPr sz="3543"/>
            </a:lvl8pPr>
            <a:lvl9pPr marL="12959608" indent="0">
              <a:buNone/>
              <a:defRPr sz="3543"/>
            </a:lvl9pPr>
          </a:lstStyle>
          <a:p>
            <a:pPr lvl="0">
              <a:buNone/>
            </a:pPr>
            <a:r>
              <a:t>Haga clic para modificar los estilos de texto del patrón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0257A4-BF5A-4481-9A95-7E74EA87694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2859D279-7FFD-4108-AAC5-6DD8152157B1}" type="datetimeFigureOut">
              <a:t>31/08/2026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763333-39A2-45A6-9610-04A84E6C151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A029BF-2B01-4836-9AC7-DC9500583F2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9E107B50-42F2-442C-8A9B-03B1021A57A2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BE2870-84E1-4F30-A822-81B904DE3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Haga clic para modificar el estilo de título del patrón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4D29B2-CA57-4B57-A139-D57233435F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Haga clic para modificar los estilos de texto del patrón</a:t>
            </a:r>
          </a:p>
          <a:p>
            <a:pPr lvl="1">
              <a:buNone/>
            </a:pPr>
            <a:r>
              <a:t>Segundo nivel</a:t>
            </a:r>
          </a:p>
          <a:p>
            <a:pPr lvl="2">
              <a:buNone/>
            </a:pPr>
            <a:r>
              <a:t>Tercer nivel</a:t>
            </a:r>
          </a:p>
          <a:p>
            <a:pPr lvl="3">
              <a:buNone/>
            </a:pPr>
            <a:r>
              <a:t>Cuarto nivel</a:t>
            </a:r>
          </a:p>
          <a:p>
            <a:pPr lvl="4">
              <a:buNone/>
            </a:pPr>
            <a:r>
              <a:t>Quinto nivel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37E074-ED9F-48F6-BD32-A1BA7AFD6F0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2859D279-7FFD-4108-AAC5-6DD8152157B1}" type="datetimeFigureOut">
              <a:t>31/08/2026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3FBDAF-D3E7-4CB7-9DDB-42A4298A60F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6AFD13-564D-40F2-B85A-45A7F1C2A69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9E107B50-42F2-442C-8A9B-03B1021A57A2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A18C43C-9CA0-4806-82C1-2FCDCA5B39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85742" y="2491640"/>
            <a:ext cx="6986096" cy="39660413"/>
          </a:xfrm>
        </p:spPr>
        <p:txBody>
          <a:bodyPr vert="eaVert"/>
          <a:lstStyle/>
          <a:p>
            <a:r>
              <a:t>Haga clic para modificar el estilo de título del patrón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6C97C4-05DA-4659-AC12-D09225BB16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27453" y="2491640"/>
            <a:ext cx="20553298" cy="39660413"/>
          </a:xfrm>
        </p:spPr>
        <p:txBody>
          <a:bodyPr vert="eaVert"/>
          <a:lstStyle/>
          <a:p>
            <a:pPr lvl="0">
              <a:buNone/>
            </a:pPr>
            <a:r>
              <a:t>Haga clic para modificar los estilos de texto del patrón</a:t>
            </a:r>
          </a:p>
          <a:p>
            <a:pPr lvl="1">
              <a:buNone/>
            </a:pPr>
            <a:r>
              <a:t>Segundo nivel</a:t>
            </a:r>
          </a:p>
          <a:p>
            <a:pPr lvl="2">
              <a:buNone/>
            </a:pPr>
            <a:r>
              <a:t>Tercer nivel</a:t>
            </a:r>
          </a:p>
          <a:p>
            <a:pPr lvl="3">
              <a:buNone/>
            </a:pPr>
            <a:r>
              <a:t>Cuarto nivel</a:t>
            </a:r>
          </a:p>
          <a:p>
            <a:pPr lvl="4">
              <a:buNone/>
            </a:pPr>
            <a:r>
              <a:t>Quinto nivel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DA131E-2A98-4BCB-A844-53F2930FAF9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2859D279-7FFD-4108-AAC5-6DD8152157B1}" type="datetimeFigureOut">
              <a:t>31/08/2026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4E87A4-25A9-4917-A5D9-D430FF14299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9D5001-C9F7-430A-B348-DB5BA45C16C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9E107B50-42F2-442C-8A9B-03B1021A57A2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9C472C3-9AFA-4F30-8EDC-A2725C7205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27451" y="2491650"/>
            <a:ext cx="27944386" cy="904574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Haga clic para modificar el estilo de título del patrón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5150D7-4CF7-4407-A7E9-45BBB46F7C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27451" y="12458200"/>
            <a:ext cx="27944386" cy="29693853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Haga clic para modificar los estilos de texto del patrón</a:t>
            </a:r>
          </a:p>
          <a:p>
            <a:pPr lvl="1">
              <a:buNone/>
            </a:pPr>
            <a:r>
              <a:t>Segundo nivel</a:t>
            </a:r>
          </a:p>
          <a:p>
            <a:pPr lvl="2">
              <a:buNone/>
            </a:pPr>
            <a:r>
              <a:t>Tercer nivel</a:t>
            </a:r>
          </a:p>
          <a:p>
            <a:pPr lvl="3">
              <a:buNone/>
            </a:pPr>
            <a:r>
              <a:t>Cuarto nivel</a:t>
            </a:r>
          </a:p>
          <a:p>
            <a:pPr lvl="4">
              <a:buNone/>
            </a:pPr>
            <a:r>
              <a:t>Quinto nivel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D81591-F21B-42AE-AD04-1F98A7FC17E1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2227451" y="43376214"/>
            <a:ext cx="7289840" cy="2491640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425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59D279-7FFD-4108-AAC5-6DD8152157B1}" type="datetimeFigureOut">
              <a:t>31/08/2026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ED40C9-AC24-4789-BA5B-D1AC31D35C8A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10732264" y="43376214"/>
            <a:ext cx="10934760" cy="2491640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425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846A5F-91EE-4247-897D-B3DB207D196A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22881997" y="43376214"/>
            <a:ext cx="7289840" cy="2491640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425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107B50-42F2-442C-8A9B-03B1021A57A2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239902">
        <a:lnSpc>
          <a:spcPct val="90000"/>
        </a:lnSpc>
        <a:spcBef>
          <a:spcPct val="0"/>
        </a:spcBef>
        <a:buNone/>
        <a:defRPr sz="1559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809976" indent="-809976" algn="l" defTabSz="3239902">
        <a:lnSpc>
          <a:spcPct val="90000"/>
        </a:lnSpc>
        <a:spcBef>
          <a:spcPts val="3543"/>
        </a:spcBef>
        <a:buFont typeface="Arial"/>
        <a:buChar char="•"/>
        <a:defRPr sz="9921" kern="1200">
          <a:solidFill>
            <a:schemeClr val="tx1"/>
          </a:solidFill>
          <a:latin typeface="+mn-lt"/>
          <a:ea typeface="+mn-lt"/>
          <a:cs typeface="+mn-lt"/>
        </a:defRPr>
      </a:lvl1pPr>
      <a:lvl2pPr marL="2429927" indent="-809976" algn="l" defTabSz="3239902">
        <a:lnSpc>
          <a:spcPct val="90000"/>
        </a:lnSpc>
        <a:spcBef>
          <a:spcPts val="1772"/>
        </a:spcBef>
        <a:buFont typeface="Arial"/>
        <a:buChar char="•"/>
        <a:defRPr sz="8504" kern="1200">
          <a:solidFill>
            <a:schemeClr val="tx1"/>
          </a:solidFill>
          <a:latin typeface="+mn-lt"/>
          <a:ea typeface="+mn-lt"/>
          <a:cs typeface="+mn-lt"/>
        </a:defRPr>
      </a:lvl2pPr>
      <a:lvl3pPr marL="4049878" indent="-809976" algn="l" defTabSz="3239902">
        <a:lnSpc>
          <a:spcPct val="90000"/>
        </a:lnSpc>
        <a:spcBef>
          <a:spcPts val="1772"/>
        </a:spcBef>
        <a:buFont typeface="Arial"/>
        <a:buChar char="•"/>
        <a:defRPr sz="7086" kern="1200">
          <a:solidFill>
            <a:schemeClr val="tx1"/>
          </a:solidFill>
          <a:latin typeface="+mn-lt"/>
          <a:ea typeface="+mn-lt"/>
          <a:cs typeface="+mn-lt"/>
        </a:defRPr>
      </a:lvl3pPr>
      <a:lvl4pPr marL="5669829" indent="-809976" algn="l" defTabSz="3239902">
        <a:lnSpc>
          <a:spcPct val="90000"/>
        </a:lnSpc>
        <a:spcBef>
          <a:spcPts val="1772"/>
        </a:spcBef>
        <a:buFont typeface="Arial"/>
        <a:buChar char="•"/>
        <a:defRPr sz="6378" kern="1200">
          <a:solidFill>
            <a:schemeClr val="tx1"/>
          </a:solidFill>
          <a:latin typeface="+mn-lt"/>
          <a:ea typeface="+mn-lt"/>
          <a:cs typeface="+mn-lt"/>
        </a:defRPr>
      </a:lvl4pPr>
      <a:lvl5pPr marL="7289780" indent="-809976" algn="l" defTabSz="3239902">
        <a:lnSpc>
          <a:spcPct val="90000"/>
        </a:lnSpc>
        <a:spcBef>
          <a:spcPts val="1772"/>
        </a:spcBef>
        <a:buFont typeface="Arial"/>
        <a:buChar char="•"/>
        <a:defRPr sz="6378" kern="1200">
          <a:solidFill>
            <a:schemeClr val="tx1"/>
          </a:solidFill>
          <a:latin typeface="+mn-lt"/>
          <a:ea typeface="+mn-lt"/>
          <a:cs typeface="+mn-lt"/>
        </a:defRPr>
      </a:lvl5pPr>
      <a:lvl6pPr marL="8909731" indent="-809976" algn="l" defTabSz="3239902">
        <a:lnSpc>
          <a:spcPct val="90000"/>
        </a:lnSpc>
        <a:spcBef>
          <a:spcPts val="1772"/>
        </a:spcBef>
        <a:buFont typeface="Arial"/>
        <a:buChar char="•"/>
        <a:defRPr sz="6378" kern="1200">
          <a:solidFill>
            <a:schemeClr val="tx1"/>
          </a:solidFill>
          <a:latin typeface="+mn-lt"/>
          <a:ea typeface="+mn-lt"/>
          <a:cs typeface="+mn-lt"/>
        </a:defRPr>
      </a:lvl6pPr>
      <a:lvl7pPr marL="10529682" indent="-809976" algn="l" defTabSz="3239902">
        <a:lnSpc>
          <a:spcPct val="90000"/>
        </a:lnSpc>
        <a:spcBef>
          <a:spcPts val="1772"/>
        </a:spcBef>
        <a:buFont typeface="Arial"/>
        <a:buChar char="•"/>
        <a:defRPr sz="6378" kern="1200">
          <a:solidFill>
            <a:schemeClr val="tx1"/>
          </a:solidFill>
          <a:latin typeface="+mn-lt"/>
          <a:ea typeface="+mn-lt"/>
          <a:cs typeface="+mn-lt"/>
        </a:defRPr>
      </a:lvl7pPr>
      <a:lvl8pPr marL="12149633" indent="-809976" algn="l" defTabSz="3239902">
        <a:lnSpc>
          <a:spcPct val="90000"/>
        </a:lnSpc>
        <a:spcBef>
          <a:spcPts val="1772"/>
        </a:spcBef>
        <a:buFont typeface="Arial"/>
        <a:buChar char="•"/>
        <a:defRPr sz="6378" kern="1200">
          <a:solidFill>
            <a:schemeClr val="tx1"/>
          </a:solidFill>
          <a:latin typeface="+mn-lt"/>
          <a:ea typeface="+mn-lt"/>
          <a:cs typeface="+mn-lt"/>
        </a:defRPr>
      </a:lvl8pPr>
      <a:lvl9pPr marL="13769584" indent="-809976" algn="l" defTabSz="3239902">
        <a:lnSpc>
          <a:spcPct val="90000"/>
        </a:lnSpc>
        <a:spcBef>
          <a:spcPts val="1772"/>
        </a:spcBef>
        <a:buFont typeface="Arial"/>
        <a:buChar char="•"/>
        <a:defRPr sz="6378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3239902">
        <a:buNone/>
        <a:defRPr sz="6378" kern="1200">
          <a:solidFill>
            <a:schemeClr val="tx1"/>
          </a:solidFill>
          <a:latin typeface="+mn-lt"/>
          <a:ea typeface="+mn-lt"/>
          <a:cs typeface="+mn-lt"/>
        </a:defRPr>
      </a:lvl1pPr>
      <a:lvl2pPr marL="1619951" algn="l" defTabSz="3239902">
        <a:buNone/>
        <a:defRPr sz="6378" kern="1200">
          <a:solidFill>
            <a:schemeClr val="tx1"/>
          </a:solidFill>
          <a:latin typeface="+mn-lt"/>
          <a:ea typeface="+mn-lt"/>
          <a:cs typeface="+mn-lt"/>
        </a:defRPr>
      </a:lvl2pPr>
      <a:lvl3pPr marL="3239902" algn="l" defTabSz="3239902">
        <a:buNone/>
        <a:defRPr sz="6378" kern="1200">
          <a:solidFill>
            <a:schemeClr val="tx1"/>
          </a:solidFill>
          <a:latin typeface="+mn-lt"/>
          <a:ea typeface="+mn-lt"/>
          <a:cs typeface="+mn-lt"/>
        </a:defRPr>
      </a:lvl3pPr>
      <a:lvl4pPr marL="4859853" algn="l" defTabSz="3239902">
        <a:buNone/>
        <a:defRPr sz="6378" kern="1200">
          <a:solidFill>
            <a:schemeClr val="tx1"/>
          </a:solidFill>
          <a:latin typeface="+mn-lt"/>
          <a:ea typeface="+mn-lt"/>
          <a:cs typeface="+mn-lt"/>
        </a:defRPr>
      </a:lvl4pPr>
      <a:lvl5pPr marL="6479804" algn="l" defTabSz="3239902">
        <a:buNone/>
        <a:defRPr sz="6378" kern="1200">
          <a:solidFill>
            <a:schemeClr val="tx1"/>
          </a:solidFill>
          <a:latin typeface="+mn-lt"/>
          <a:ea typeface="+mn-lt"/>
          <a:cs typeface="+mn-lt"/>
        </a:defRPr>
      </a:lvl5pPr>
      <a:lvl6pPr marL="8099755" algn="l" defTabSz="3239902">
        <a:buNone/>
        <a:defRPr sz="6378" kern="1200">
          <a:solidFill>
            <a:schemeClr val="tx1"/>
          </a:solidFill>
          <a:latin typeface="+mn-lt"/>
          <a:ea typeface="+mn-lt"/>
          <a:cs typeface="+mn-lt"/>
        </a:defRPr>
      </a:lvl6pPr>
      <a:lvl7pPr marL="9719706" algn="l" defTabSz="3239902">
        <a:buNone/>
        <a:defRPr sz="6378" kern="1200">
          <a:solidFill>
            <a:schemeClr val="tx1"/>
          </a:solidFill>
          <a:latin typeface="+mn-lt"/>
          <a:ea typeface="+mn-lt"/>
          <a:cs typeface="+mn-lt"/>
        </a:defRPr>
      </a:lvl7pPr>
      <a:lvl8pPr marL="11339657" algn="l" defTabSz="3239902">
        <a:buNone/>
        <a:defRPr sz="6378" kern="1200">
          <a:solidFill>
            <a:schemeClr val="tx1"/>
          </a:solidFill>
          <a:latin typeface="+mn-lt"/>
          <a:ea typeface="+mn-lt"/>
          <a:cs typeface="+mn-lt"/>
        </a:defRPr>
      </a:lvl8pPr>
      <a:lvl9pPr marL="12959608" algn="l" defTabSz="3239902">
        <a:buNone/>
        <a:defRPr sz="6378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ángulo 32">
            <a:extLst>
              <a:ext uri="{FF2B5EF4-FFF2-40B4-BE49-F238E27FC236}">
                <a16:creationId xmlns:a16="http://schemas.microsoft.com/office/drawing/2014/main" id="{A422E3A7-1767-D4B3-844B-B6FF22A04F7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32399288" cy="505406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A9CE18A-15C1-D8DD-8A76-84C6D1781719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151638" y="294608"/>
            <a:ext cx="32247650" cy="4830794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sz="5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Solución mesh-free de la ecuación de Helmholtz
mediante redes neuronales físicamente informadas (PINN-SIREN)</a:t>
            </a:r>
          </a:p>
          <a:p>
            <a:pPr algn="ctr">
              <a:buNone/>
            </a:pPr>
            <a:r>
              <a:rPr sz="40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Roberto Hernández Estrada¹ · José Adán Hernández Nolasco¹</a:t>
            </a:r>
          </a:p>
          <a:p>
            <a:pPr algn="ctr">
              <a:buNone/>
            </a:pPr>
            <a:r>
              <a:rPr sz="40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Ibis Ricárdez Vargas² · Óscar Andrés Flores Vargas²</a:t>
            </a:r>
          </a:p>
          <a:p>
            <a:pPr algn="ctr">
              <a:buNone/>
            </a:pPr>
            <a:r>
              <a:rPr sz="4000">
                <a:latin typeface="Arial"/>
                <a:ea typeface="Arial"/>
                <a:cs typeface="Arial"/>
              </a:rPr>
              <a:t>¹ División Académica de Ciencias y Tecnologías de la Información · ² División Académica de Ciencias Básicas</a:t>
            </a:r>
          </a:p>
          <a:p>
            <a:pPr algn="ctr">
              <a:buNone/>
            </a:pPr>
            <a:r>
              <a:rPr sz="3600">
                <a:latin typeface="Arial"/>
                <a:ea typeface="Arial"/>
                <a:cs typeface="Arial"/>
              </a:rPr>
              <a:t>Universidad Juárez Autónoma de Tabasco · Sesión de Óptica · LXIX Congreso Nacional de Física · 15 de octubre de 2026</a:t>
            </a:r>
          </a:p>
        </p:txBody>
      </p:sp>
      <p:pic>
        <p:nvPicPr>
          <p:cNvPr id="59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22434" y="280106"/>
            <a:ext cx="3324835" cy="4270131"/>
          </a:xfrm>
          <a:prstGeom prst="rect">
            <a:avLst/>
          </a:prstGeom>
        </p:spPr>
      </p:pic>
      <p:pic>
        <p:nvPicPr>
          <p:cNvPr id="60" name="Imagen 10"/>
          <p:cNvPicPr>
            <a:picLocks noChangeAspect="1"/>
          </p:cNvPicPr>
          <p:nvPr/>
        </p:nvPicPr>
        <p:blipFill rotWithShape="1">
          <a:blip r:embed="rId4"/>
          <a:srcRect l="27243" r="25987" b="37906"/>
          <a:stretch/>
        </p:blipFill>
        <p:spPr>
          <a:xfrm>
            <a:off x="801756" y="591290"/>
            <a:ext cx="2855844" cy="3774783"/>
          </a:xfrm>
          <a:prstGeom prst="rect">
            <a:avLst/>
          </a:prstGeom>
        </p:spPr>
      </p:pic>
      <p:sp>
        <p:nvSpPr>
          <p:cNvPr id="46" name="Rectángulo 45">
            <a:extLst>
              <a:ext uri="{FF2B5EF4-FFF2-40B4-BE49-F238E27FC236}">
                <a16:creationId xmlns:a16="http://schemas.microsoft.com/office/drawing/2014/main" id="{892B14FF-9930-BF36-FC1F-8BD9159D9782}"/>
              </a:ext>
            </a:extLst>
          </p:cNvPr>
          <p:cNvSpPr>
            <a:spLocks noGrp="1"/>
          </p:cNvSpPr>
          <p:nvPr/>
        </p:nvSpPr>
        <p:spPr>
          <a:xfrm>
            <a:off x="0" y="4911756"/>
            <a:ext cx="32399288" cy="581992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7" name="CuadroTexto 46">
            <a:extLst>
              <a:ext uri="{FF2B5EF4-FFF2-40B4-BE49-F238E27FC236}">
                <a16:creationId xmlns:a16="http://schemas.microsoft.com/office/drawing/2014/main" id="{873F68A6-0A1E-48C9-3F15-78C7CE186FDD}"/>
              </a:ext>
            </a:extLst>
          </p:cNvPr>
          <p:cNvSpPr>
            <a:spLocks noGrp="1"/>
          </p:cNvSpPr>
          <p:nvPr/>
        </p:nvSpPr>
        <p:spPr>
          <a:xfrm>
            <a:off x="22142672" y="35337750"/>
            <a:ext cx="9304592" cy="542925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sz="3400" b="1">
                <a:solidFill>
                  <a:schemeClr val="bg1"/>
                </a:solidFill>
                <a:latin typeface="Arial"/>
                <a:ea typeface="Arial"/>
                <a:cs typeface="Arial"/>
              </a:rPr>
              <a:t>5. CONCLUSIONES.</a:t>
            </a:r>
          </a:p>
          <a:p>
            <a:pPr>
              <a:buNone/>
            </a:pPr>
            <a:r>
              <a:rPr sz="3400">
                <a:solidFill>
                  <a:schemeClr val="bg1"/>
                </a:solidFill>
                <a:latin typeface="Arial"/>
                <a:ea typeface="Arial"/>
                <a:cs typeface="Arial"/>
              </a:rPr>
              <a:t>PINN-SIREN resuelve Helmholtz con precisión subporcentual: 0.006% en 1D y 0.171% en 2D.</a:t>
            </a:r>
          </a:p>
          <a:p>
            <a:pPr>
              <a:buNone/>
            </a:pPr>
            <a:r>
              <a:rPr sz="3400">
                <a:solidFill>
                  <a:schemeClr val="bg1"/>
                </a:solidFill>
                <a:latin typeface="Arial"/>
                <a:ea typeface="Arial"/>
                <a:cs typeface="Arial"/>
              </a:rPr>
              <a:t>La representación sinusoidal, el muestreo LHS y Adam + L-BFGS favorecen la convergencia del campo complejo.</a:t>
            </a:r>
          </a:p>
          <a:p>
            <a:pPr>
              <a:buNone/>
            </a:pPr>
            <a:r>
              <a:rPr sz="3400">
                <a:solidFill>
                  <a:schemeClr val="bg1"/>
                </a:solidFill>
                <a:latin typeface="Arial"/>
                <a:ea typeface="Arial"/>
                <a:cs typeface="Arial"/>
              </a:rPr>
              <a:t>La frontera de fase aleatoria produce speckle 2D con contraste C = 1.0253, conforme al criterio de Goodman.</a:t>
            </a:r>
          </a:p>
        </p:txBody>
      </p:sp>
      <p:sp>
        <p:nvSpPr>
          <p:cNvPr id="14" name="AutoShape 2">
            <a:extLst>
              <a:ext uri="{FF2B5EF4-FFF2-40B4-BE49-F238E27FC236}">
                <a16:creationId xmlns:a16="http://schemas.microsoft.com/office/drawing/2014/main" id="{BAF848EE-9FA9-475F-D7D6-E7C59CE42076}"/>
              </a:ext>
            </a:extLst>
          </p:cNvPr>
          <p:cNvSpPr>
            <a:spLocks noGrp="1"/>
          </p:cNvSpPr>
          <p:nvPr/>
        </p:nvSpPr>
        <p:spPr>
          <a:xfrm>
            <a:off x="16046450" y="23246556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anchor="t"/>
          <a:lstStyle/>
          <a:p>
            <a:endParaRPr/>
          </a:p>
        </p:txBody>
      </p:sp>
      <p:sp>
        <p:nvSpPr>
          <p:cNvPr id="15" name="AutoShape 4">
            <a:extLst>
              <a:ext uri="{FF2B5EF4-FFF2-40B4-BE49-F238E27FC236}">
                <a16:creationId xmlns:a16="http://schemas.microsoft.com/office/drawing/2014/main" id="{651A537B-9BF8-507F-10FD-849E59C2D3B3}"/>
              </a:ext>
            </a:extLst>
          </p:cNvPr>
          <p:cNvSpPr>
            <a:spLocks noGrp="1"/>
          </p:cNvSpPr>
          <p:nvPr/>
        </p:nvSpPr>
        <p:spPr>
          <a:xfrm>
            <a:off x="16198850" y="23398956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anchor="t"/>
          <a:lstStyle/>
          <a:p>
            <a:endParaRPr/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57B01137-9338-D708-A712-9371BAAEDAF1}"/>
              </a:ext>
            </a:extLst>
          </p:cNvPr>
          <p:cNvSpPr>
            <a:spLocks noGrp="1"/>
          </p:cNvSpPr>
          <p:nvPr/>
        </p:nvSpPr>
        <p:spPr>
          <a:xfrm>
            <a:off x="694087" y="44253245"/>
            <a:ext cx="30392942" cy="2529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sz="3200" b="1">
                <a:solidFill>
                  <a:schemeClr val="tx1"/>
                </a:solidFill>
                <a:latin typeface="Arial"/>
                <a:ea typeface="Arial"/>
                <a:cs typeface="Arial"/>
              </a:rPr>
              <a:t>7. FUENTES CITADAS.</a:t>
            </a:r>
          </a:p>
          <a:p>
            <a:pPr>
              <a:buNone/>
            </a:pPr>
            <a:r>
              <a:rPr sz="3200">
                <a:solidFill>
                  <a:schemeClr val="tx1"/>
                </a:solidFill>
                <a:latin typeface="Arial"/>
                <a:ea typeface="Arial"/>
                <a:cs typeface="Arial"/>
              </a:rPr>
              <a:t>[1] Raissi, M., Perdikaris, P. &amp; Karniadakis, G. (2019). Physics-informed neural networks. Journal of Computational Physics.</a:t>
            </a:r>
          </a:p>
          <a:p>
            <a:pPr>
              <a:buNone/>
            </a:pPr>
            <a:r>
              <a:rPr sz="3200">
                <a:solidFill>
                  <a:schemeClr val="tx1"/>
                </a:solidFill>
                <a:latin typeface="Arial"/>
                <a:ea typeface="Arial"/>
                <a:cs typeface="Arial"/>
              </a:rPr>
              <a:t>[2] Sitzmann, V. et al. (2020). Implicit neural representations with periodic activation functions. NeurIPS.</a:t>
            </a:r>
          </a:p>
          <a:p>
            <a:pPr>
              <a:buNone/>
            </a:pPr>
            <a:r>
              <a:rPr sz="3200">
                <a:solidFill>
                  <a:schemeClr val="tx1"/>
                </a:solidFill>
                <a:latin typeface="Arial"/>
                <a:ea typeface="Arial"/>
                <a:cs typeface="Arial"/>
              </a:rPr>
              <a:t>[3] Goodman, J. W. (2007). Speckle Phenomena in Optics: Theory and Applications.</a:t>
            </a:r>
          </a:p>
          <a:p>
            <a:pPr>
              <a:buNone/>
            </a:pPr>
            <a:r>
              <a:rPr sz="3200">
                <a:solidFill>
                  <a:schemeClr val="tx1"/>
                </a:solidFill>
                <a:latin typeface="Arial"/>
                <a:ea typeface="Arial"/>
                <a:cs typeface="Arial"/>
              </a:rPr>
              <a:t>[4] McKay, M. D., Beckman, R. J. &amp; Conover, W. J. (1979). Latin hypercube sampling. Technometrics.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039E41CE-2B9A-EB31-C82A-02B5B5DD60BF}"/>
              </a:ext>
            </a:extLst>
          </p:cNvPr>
          <p:cNvSpPr>
            <a:spLocks noGrp="1"/>
          </p:cNvSpPr>
          <p:nvPr/>
        </p:nvSpPr>
        <p:spPr>
          <a:xfrm>
            <a:off x="801719" y="13049250"/>
            <a:ext cx="9547193" cy="2682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sz="3400" b="1">
                <a:solidFill>
                  <a:schemeClr val="tx1"/>
                </a:solidFill>
                <a:latin typeface="Arial"/>
                <a:ea typeface="Arial"/>
                <a:cs typeface="Arial"/>
              </a:rPr>
              <a:t>2. OBJETIVO.</a:t>
            </a:r>
          </a:p>
          <a:p>
            <a:pPr>
              <a:buNone/>
            </a:pPr>
            <a:r>
              <a:rPr sz="3400">
                <a:solidFill>
                  <a:schemeClr val="tx1"/>
                </a:solidFill>
                <a:latin typeface="Arial"/>
                <a:ea typeface="Arial"/>
                <a:cs typeface="Arial"/>
              </a:rPr>
              <a:t>Construir y validar un modelo PINN-SIREN que resuelva la ecuación de Helmholtz 2D con campo complejo y reproduzca patrones de speckle óptico con alta precisión.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C663530F-9B89-3E78-7D39-A42DCBAF6EC2}"/>
              </a:ext>
            </a:extLst>
          </p:cNvPr>
          <p:cNvSpPr>
            <a:spLocks noGrp="1"/>
          </p:cNvSpPr>
          <p:nvPr/>
        </p:nvSpPr>
        <p:spPr>
          <a:xfrm>
            <a:off x="22170962" y="15240000"/>
            <a:ext cx="9454896" cy="7429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sz="3400" b="1">
                <a:solidFill>
                  <a:schemeClr val="tx1"/>
                </a:solidFill>
                <a:latin typeface="Arial"/>
                <a:ea typeface="Arial"/>
                <a:cs typeface="Arial"/>
              </a:rPr>
              <a:t>4. RESULTADOS.</a:t>
            </a:r>
          </a:p>
          <a:p>
            <a:pPr>
              <a:buNone/>
            </a:pPr>
            <a:r>
              <a:rPr sz="3400">
                <a:solidFill>
                  <a:schemeClr val="tx1"/>
                </a:solidFill>
                <a:latin typeface="Arial"/>
                <a:ea typeface="Arial"/>
                <a:cs typeface="Arial"/>
              </a:rPr>
              <a:t>El modelo reproduce la solución analítica con alta precisión en 1D y en ambas componentes del campo complejo 2D.</a:t>
            </a:r>
          </a:p>
          <a:p>
            <a:pPr>
              <a:buNone/>
            </a:pPr>
            <a:r>
              <a:rPr sz="3400">
                <a:solidFill>
                  <a:schemeClr val="tx1"/>
                </a:solidFill>
                <a:latin typeface="Arial"/>
                <a:ea typeface="Arial"/>
                <a:cs typeface="Arial"/>
              </a:rPr>
              <a:t>NB01 | εL² = 0.006% | R² = 1.000000.</a:t>
            </a:r>
          </a:p>
          <a:p>
            <a:pPr>
              <a:buNone/>
            </a:pPr>
            <a:r>
              <a:rPr sz="3400">
                <a:solidFill>
                  <a:schemeClr val="tx1"/>
                </a:solidFill>
                <a:latin typeface="Arial"/>
                <a:ea typeface="Arial"/>
                <a:cs typeface="Arial"/>
              </a:rPr>
              <a:t>NB02 | εL² promedio = 0.171% | R² &gt; 0.9999.</a:t>
            </a:r>
          </a:p>
          <a:p>
            <a:pPr>
              <a:buNone/>
            </a:pPr>
            <a:r>
              <a:rPr sz="3400">
                <a:solidFill>
                  <a:schemeClr val="tx1"/>
                </a:solidFill>
                <a:latin typeface="Arial"/>
                <a:ea typeface="Arial"/>
                <a:cs typeface="Arial"/>
              </a:rPr>
              <a:t>La arquitectura 5 × 128 reduce el error 2.5× frente a 5 × 64; la variación entre semillas es 0.155 ± 0.020%.</a:t>
            </a:r>
          </a:p>
          <a:p>
            <a:pPr>
              <a:buNone/>
            </a:pPr>
            <a:r>
              <a:rPr sz="3400">
                <a:solidFill>
                  <a:schemeClr val="tx1"/>
                </a:solidFill>
                <a:latin typeface="Arial"/>
                <a:ea typeface="Arial"/>
                <a:cs typeface="Arial"/>
              </a:rPr>
              <a:t>Speckle 2D: contraste C = 1.0253, consistente con speckle completamente desarrollado.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29C69117-B6EA-8074-3F79-D230F177C65B}"/>
              </a:ext>
            </a:extLst>
          </p:cNvPr>
          <p:cNvSpPr>
            <a:spLocks noGrp="1"/>
          </p:cNvSpPr>
          <p:nvPr/>
        </p:nvSpPr>
        <p:spPr>
          <a:xfrm>
            <a:off x="711422" y="6039421"/>
            <a:ext cx="9637586" cy="66675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None/>
            </a:pPr>
            <a:r>
              <a:rPr sz="3400" b="1">
                <a:solidFill>
                  <a:schemeClr val="bg1"/>
                </a:solidFill>
                <a:latin typeface="Arial"/>
                <a:ea typeface="Arial"/>
                <a:cs typeface="Arial"/>
              </a:rPr>
              <a:t>1. RESUMEN.</a:t>
            </a:r>
          </a:p>
          <a:p>
            <a:pPr>
              <a:buNone/>
            </a:pPr>
            <a:r>
              <a:rPr sz="3400">
                <a:solidFill>
                  <a:schemeClr val="bg1"/>
                </a:solidFill>
                <a:latin typeface="Arial"/>
                <a:ea typeface="Arial"/>
                <a:cs typeface="Arial"/>
              </a:rPr>
              <a:t>Se propone un modelo PINN-SIREN para resolver la ecuación de Helmholtz y acelerar la simulación de speckle óptico en dominios 2D.</a:t>
            </a:r>
          </a:p>
          <a:p>
            <a:pPr>
              <a:buNone/>
            </a:pPr>
            <a:r>
              <a:rPr sz="3400">
                <a:solidFill>
                  <a:schemeClr val="bg1"/>
                </a:solidFill>
                <a:latin typeface="Arial"/>
                <a:ea typeface="Arial"/>
                <a:cs typeface="Arial"/>
              </a:rPr>
              <a:t>El campo eléctrico complejo se aprende directamente desde la EDP y sus condiciones de frontera, sin construir una malla de elementos finitos.</a:t>
            </a:r>
          </a:p>
          <a:p>
            <a:pPr>
              <a:buNone/>
            </a:pPr>
            <a:r>
              <a:rPr sz="3400">
                <a:solidFill>
                  <a:schemeClr val="bg1"/>
                </a:solidFill>
                <a:latin typeface="Arial"/>
                <a:ea typeface="Arial"/>
                <a:cs typeface="Arial"/>
              </a:rPr>
              <a:t>El modelo alcanza εL² = 0.006% en 1D y 0.171% en 2D, ambos por debajo del umbral de tesis (&lt; 5%).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A03E13D9-BF07-B852-EF14-2366F34C9B29}"/>
              </a:ext>
            </a:extLst>
          </p:cNvPr>
          <p:cNvSpPr>
            <a:spLocks noGrp="1"/>
          </p:cNvSpPr>
          <p:nvPr/>
        </p:nvSpPr>
        <p:spPr>
          <a:xfrm>
            <a:off x="11430953" y="8763000"/>
            <a:ext cx="9689021" cy="723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sz="3400" b="1">
                <a:solidFill>
                  <a:schemeClr val="tx1"/>
                </a:solidFill>
                <a:latin typeface="Arial"/>
                <a:ea typeface="Arial"/>
                <a:cs typeface="Arial"/>
              </a:rPr>
              <a:t>3. METODOLOGÍA.</a:t>
            </a:r>
          </a:p>
          <a:p>
            <a:pPr>
              <a:buNone/>
            </a:pPr>
            <a:r>
              <a:rPr sz="3400">
                <a:solidFill>
                  <a:schemeClr val="tx1"/>
                </a:solidFill>
                <a:latin typeface="Arial"/>
                <a:ea typeface="Arial"/>
                <a:cs typeface="Arial"/>
              </a:rPr>
              <a:t>1. NB01 — Validación 1D: SIREN 5 × 64 contra E(x) = cos(kx).</a:t>
            </a:r>
          </a:p>
          <a:p>
            <a:pPr>
              <a:buNone/>
            </a:pPr>
            <a:r>
              <a:rPr sz="3400">
                <a:solidFill>
                  <a:schemeClr val="tx1"/>
                </a:solidFill>
                <a:latin typeface="Arial"/>
                <a:ea typeface="Arial"/>
                <a:cs typeface="Arial"/>
              </a:rPr>
              <a:t>2. NB02 — Validación 2D: SIREN 5 × 128, salida (Ereal, Eimag), LHS con Nc = 3,000 y Nb = 300 por borde.</a:t>
            </a:r>
          </a:p>
          <a:p>
            <a:pPr>
              <a:buNone/>
            </a:pPr>
            <a:r>
              <a:rPr sz="3400">
                <a:solidFill>
                  <a:schemeClr val="tx1"/>
                </a:solidFill>
                <a:latin typeface="Arial"/>
                <a:ea typeface="Arial"/>
                <a:cs typeface="Arial"/>
              </a:rPr>
              <a:t>3. NB03 — Speckle 2D: frontera E(x,0) = e^{iψ(x)}, ψ ~ U(0, 2π), con bordes libres.</a:t>
            </a:r>
          </a:p>
          <a:p>
            <a:pPr>
              <a:buNone/>
            </a:pPr>
            <a:r>
              <a:rPr sz="3400">
                <a:solidFill>
                  <a:schemeClr val="tx1"/>
                </a:solidFill>
                <a:latin typeface="Arial"/>
                <a:ea typeface="Arial"/>
                <a:cs typeface="Arial"/>
              </a:rPr>
              <a:t>Optimización bifásica Adam + L-BFGS; λfis = 0.1; evaluación en malla 100 × 100.</a:t>
            </a:r>
          </a:p>
          <a:p>
            <a:pPr>
              <a:buNone/>
            </a:pPr>
            <a:r>
              <a:rPr sz="3400">
                <a:solidFill>
                  <a:schemeClr val="tx1"/>
                </a:solidFill>
                <a:latin typeface="Arial"/>
                <a:ea typeface="Arial"/>
                <a:cs typeface="Arial"/>
              </a:rPr>
              <a:t>Las figuras muestran la validación analítica 1D y la aplicación 2D al patrón de speckle.</a:t>
            </a:r>
          </a:p>
        </p:txBody>
      </p:sp>
      <p:pic>
        <p:nvPicPr>
          <p:cNvPr id="70" name="Imagen 27"/>
          <p:cNvPicPr>
            <a:picLocks noChangeAspect="1"/>
          </p:cNvPicPr>
          <p:nvPr/>
        </p:nvPicPr>
        <p:blipFill rotWithShape="1">
          <a:blip r:embed="rId5"/>
          <a:stretch/>
        </p:blipFill>
        <p:spPr>
          <a:xfrm>
            <a:off x="12517771" y="17240250"/>
            <a:ext cx="7397082" cy="4667250"/>
          </a:xfrm>
          <a:prstGeom prst="rect">
            <a:avLst/>
          </a:prstGeom>
        </p:spPr>
      </p:pic>
      <p:sp>
        <p:nvSpPr>
          <p:cNvPr id="18" name="CuadroTexto 17">
            <a:extLst>
              <a:ext uri="{FF2B5EF4-FFF2-40B4-BE49-F238E27FC236}">
                <a16:creationId xmlns:a16="http://schemas.microsoft.com/office/drawing/2014/main" id="{0C537126-1334-0E11-8C9E-9ED6FE3A2E6E}"/>
              </a:ext>
            </a:extLst>
          </p:cNvPr>
          <p:cNvSpPr>
            <a:spLocks noGrp="1"/>
          </p:cNvSpPr>
          <p:nvPr/>
        </p:nvSpPr>
        <p:spPr>
          <a:xfrm>
            <a:off x="711422" y="16287750"/>
            <a:ext cx="9547193" cy="7334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sz="3400" b="1">
                <a:solidFill>
                  <a:schemeClr val="tx1"/>
                </a:solidFill>
                <a:latin typeface="Arial"/>
                <a:ea typeface="Arial"/>
                <a:cs typeface="Arial"/>
              </a:rPr>
              <a:t>PROBLEMA FÍSICO.</a:t>
            </a:r>
          </a:p>
          <a:p>
            <a:pPr>
              <a:buNone/>
            </a:pPr>
            <a:r>
              <a:rPr sz="3400">
                <a:solidFill>
                  <a:schemeClr val="tx1"/>
                </a:solidFill>
                <a:latin typeface="Arial"/>
                <a:ea typeface="Arial"/>
                <a:cs typeface="Arial"/>
              </a:rPr>
              <a:t>El speckle óptico surge por la interferencia de luz coherente dispersada. Su simulación exige resolver campos oscilatorios con gran resolución espacial.</a:t>
            </a:r>
          </a:p>
          <a:p>
            <a:pPr>
              <a:buNone/>
            </a:pPr>
            <a:r>
              <a:rPr sz="3400">
                <a:solidFill>
                  <a:schemeClr val="tx1"/>
                </a:solidFill>
                <a:latin typeface="Arial"/>
                <a:ea typeface="Arial"/>
                <a:cs typeface="Arial"/>
              </a:rPr>
              <a:t>Los métodos basados en malla pueden ser costosos para estudios con muchas realizaciones. Las PINNs imponen la EDP en puntos de colocación y SIREN representa mejor las oscilaciones.</a:t>
            </a:r>
          </a:p>
        </p:txBody>
      </p:sp>
      <p:pic>
        <p:nvPicPr>
          <p:cNvPr id="72" name="Imagen 8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857250" y="24496992"/>
            <a:ext cx="9334500" cy="2631515"/>
          </a:xfrm>
          <a:prstGeom prst="rect">
            <a:avLst/>
          </a:prstGeom>
        </p:spPr>
      </p:pic>
      <p:sp>
        <p:nvSpPr>
          <p:cNvPr id="10" name="AutoShape 2">
            <a:extLst>
              <a:ext uri="{FF2B5EF4-FFF2-40B4-BE49-F238E27FC236}">
                <a16:creationId xmlns:a16="http://schemas.microsoft.com/office/drawing/2014/main" id="{EB72079C-1686-5ACD-1D84-22B09994E359}"/>
              </a:ext>
            </a:extLst>
          </p:cNvPr>
          <p:cNvSpPr>
            <a:spLocks noGrp="1"/>
          </p:cNvSpPr>
          <p:nvPr/>
        </p:nvSpPr>
        <p:spPr>
          <a:xfrm>
            <a:off x="16351250" y="2355215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anchor="t"/>
          <a:lstStyle/>
          <a:p>
            <a:endParaRPr/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02C324C7-DAE6-C556-204D-4B4895F903E7}"/>
              </a:ext>
            </a:extLst>
          </p:cNvPr>
          <p:cNvSpPr>
            <a:spLocks noGrp="1"/>
          </p:cNvSpPr>
          <p:nvPr/>
        </p:nvSpPr>
        <p:spPr>
          <a:xfrm>
            <a:off x="22083141" y="5998178"/>
            <a:ext cx="9734550" cy="2381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sz="3400" b="1">
                <a:solidFill>
                  <a:schemeClr val="tx1"/>
                </a:solidFill>
                <a:latin typeface="Arial"/>
                <a:ea typeface="Arial"/>
                <a:cs typeface="Arial"/>
              </a:rPr>
              <a:t>VALIDACIÓN 2D.</a:t>
            </a:r>
          </a:p>
          <a:p>
            <a:pPr>
              <a:buNone/>
            </a:pPr>
            <a:r>
              <a:rPr sz="3400">
                <a:solidFill>
                  <a:schemeClr val="tx1"/>
                </a:solidFill>
                <a:latin typeface="Arial"/>
                <a:ea typeface="Arial"/>
                <a:cs typeface="Arial"/>
              </a:rPr>
              <a:t>Onda plana compleja en Ω = [0,1]²; se comparan Ereal y Eimag con la solución analítica. La diferencia visual es mínima.</a:t>
            </a:r>
          </a:p>
        </p:txBody>
      </p:sp>
      <p:sp>
        <p:nvSpPr>
          <p:cNvPr id="17" name="AutoShape 4">
            <a:extLst>
              <a:ext uri="{FF2B5EF4-FFF2-40B4-BE49-F238E27FC236}">
                <a16:creationId xmlns:a16="http://schemas.microsoft.com/office/drawing/2014/main" id="{C91B6DA9-255F-EDC0-F529-D9B8D5F0C75D}"/>
              </a:ext>
            </a:extLst>
          </p:cNvPr>
          <p:cNvSpPr>
            <a:spLocks noGrp="1"/>
          </p:cNvSpPr>
          <p:nvPr/>
        </p:nvSpPr>
        <p:spPr>
          <a:xfrm>
            <a:off x="16503650" y="2370455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anchor="t"/>
          <a:lstStyle/>
          <a:p>
            <a:endParaRPr/>
          </a:p>
        </p:txBody>
      </p:sp>
      <p:pic>
        <p:nvPicPr>
          <p:cNvPr id="76" name="Imagen 20"/>
          <p:cNvPicPr>
            <a:picLocks noChangeAspect="1"/>
          </p:cNvPicPr>
          <p:nvPr/>
        </p:nvPicPr>
        <p:blipFill rotWithShape="1">
          <a:blip r:embed="rId7"/>
          <a:stretch/>
        </p:blipFill>
        <p:spPr>
          <a:xfrm>
            <a:off x="23301452" y="8763000"/>
            <a:ext cx="7308595" cy="5810250"/>
          </a:xfrm>
          <a:prstGeom prst="rect">
            <a:avLst/>
          </a:prstGeom>
        </p:spPr>
      </p:pic>
      <p:pic>
        <p:nvPicPr>
          <p:cNvPr id="77" name="Imagen 5"/>
          <p:cNvPicPr>
            <a:picLocks noChangeAspect="1"/>
          </p:cNvPicPr>
          <p:nvPr/>
        </p:nvPicPr>
        <p:blipFill rotWithShape="1">
          <a:blip r:embed="rId8"/>
          <a:stretch/>
        </p:blipFill>
        <p:spPr>
          <a:xfrm>
            <a:off x="22612273" y="30003750"/>
            <a:ext cx="8686954" cy="4953000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D2201B3C-48C5-A591-0B02-8BEEF753F0C1}"/>
              </a:ext>
            </a:extLst>
          </p:cNvPr>
          <p:cNvSpPr>
            <a:spLocks noGrp="1"/>
          </p:cNvSpPr>
          <p:nvPr/>
        </p:nvSpPr>
        <p:spPr>
          <a:xfrm>
            <a:off x="22201156" y="41148000"/>
            <a:ext cx="9193911" cy="257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sz="3400" b="1">
                <a:solidFill>
                  <a:schemeClr val="tx1"/>
                </a:solidFill>
                <a:latin typeface="Arial"/>
                <a:ea typeface="Arial"/>
                <a:cs typeface="Arial"/>
              </a:rPr>
              <a:t>6. AGRADECIMIENTOS.</a:t>
            </a:r>
          </a:p>
          <a:p>
            <a:pPr>
              <a:buNone/>
            </a:pPr>
            <a:r>
              <a:rPr sz="3400">
                <a:solidFill>
                  <a:schemeClr val="tx1"/>
                </a:solidFill>
                <a:latin typeface="Arial"/>
                <a:ea typeface="Arial"/>
                <a:cs typeface="Arial"/>
              </a:rPr>
              <a:t>Agradecemos al Dr. José Adán Hernández Nolasco por la dirección de este trabajo y a la UJAT por el apoyo académico.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A3489B49-08AF-B377-36A8-D0A688417E05}"/>
              </a:ext>
            </a:extLst>
          </p:cNvPr>
          <p:cNvSpPr>
            <a:spLocks noGrp="1"/>
          </p:cNvSpPr>
          <p:nvPr/>
        </p:nvSpPr>
        <p:spPr>
          <a:xfrm>
            <a:off x="711422" y="28575000"/>
            <a:ext cx="9639014" cy="68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sz="3400" b="1">
                <a:solidFill>
                  <a:schemeClr val="tx1"/>
                </a:solidFill>
                <a:latin typeface="Arial"/>
                <a:ea typeface="Arial"/>
                <a:cs typeface="Arial"/>
              </a:rPr>
              <a:t>ALCANCE DEL ESTUDIO.</a:t>
            </a:r>
          </a:p>
          <a:p>
            <a:pPr>
              <a:buNone/>
            </a:pPr>
            <a:r>
              <a:rPr sz="3400">
                <a:solidFill>
                  <a:schemeClr val="tx1"/>
                </a:solidFill>
                <a:latin typeface="Arial"/>
                <a:ea typeface="Arial"/>
                <a:cs typeface="Arial"/>
              </a:rPr>
              <a:t>• Casos 1D y 2D; el desarrollo 3D queda fuera del alcance.</a:t>
            </a:r>
          </a:p>
          <a:p>
            <a:pPr>
              <a:buNone/>
            </a:pPr>
            <a:r>
              <a:rPr sz="3400">
                <a:solidFill>
                  <a:schemeClr val="tx1"/>
                </a:solidFill>
                <a:latin typeface="Arial"/>
                <a:ea typeface="Arial"/>
                <a:cs typeface="Arial"/>
              </a:rPr>
              <a:t>• Dominio normalizado Ω = [0,1]², k = 2π y campo complejo en 2D.</a:t>
            </a:r>
          </a:p>
          <a:p>
            <a:pPr>
              <a:buNone/>
            </a:pPr>
            <a:r>
              <a:rPr sz="3400">
                <a:solidFill>
                  <a:schemeClr val="tx1"/>
                </a:solidFill>
                <a:latin typeface="Arial"/>
                <a:ea typeface="Arial"/>
                <a:cs typeface="Arial"/>
              </a:rPr>
              <a:t>• Validación analítica mediante error L² y evaluación estadística del speckle.</a:t>
            </a: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3FDABAB0-D307-2F38-BE52-9303015051B3}"/>
              </a:ext>
            </a:extLst>
          </p:cNvPr>
          <p:cNvSpPr>
            <a:spLocks noGrp="1"/>
          </p:cNvSpPr>
          <p:nvPr/>
        </p:nvSpPr>
        <p:spPr>
          <a:xfrm>
            <a:off x="11430953" y="6040088"/>
            <a:ext cx="9689021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sz="3400" b="1">
                <a:solidFill>
                  <a:schemeClr val="tx1"/>
                </a:solidFill>
                <a:latin typeface="Arial"/>
                <a:ea typeface="Arial"/>
                <a:cs typeface="Arial"/>
              </a:rPr>
              <a:t>FORMULACIÓN.</a:t>
            </a:r>
          </a:p>
          <a:p>
            <a:pPr>
              <a:buNone/>
            </a:pPr>
            <a:r>
              <a:rPr sz="3400">
                <a:solidFill>
                  <a:schemeClr val="tx1"/>
                </a:solidFill>
                <a:latin typeface="Arial"/>
                <a:ea typeface="Arial"/>
                <a:cs typeface="Arial"/>
              </a:rPr>
              <a:t>Helmholtz: ∇²E + k²E = 0.</a:t>
            </a:r>
          </a:p>
          <a:p>
            <a:pPr>
              <a:buNone/>
            </a:pPr>
            <a:r>
              <a:rPr sz="3400">
                <a:solidFill>
                  <a:schemeClr val="tx1"/>
                </a:solidFill>
                <a:latin typeface="Arial"/>
                <a:ea typeface="Arial"/>
                <a:cs typeface="Arial"/>
              </a:rPr>
              <a:t>1D: E(x) = cos(kx).  2D: E(x,y) = e^{i(kₓx + kᵧy)}.</a:t>
            </a:r>
          </a:p>
        </p:txBody>
      </p:sp>
      <p:pic>
        <p:nvPicPr>
          <p:cNvPr id="81" name="Imagen 23"/>
          <p:cNvPicPr>
            <a:picLocks noChangeAspect="1"/>
          </p:cNvPicPr>
          <p:nvPr/>
        </p:nvPicPr>
        <p:blipFill>
          <a:blip r:embed="rId9"/>
          <a:stretch/>
        </p:blipFill>
        <p:spPr>
          <a:xfrm>
            <a:off x="13232750" y="28575000"/>
            <a:ext cx="5967126" cy="4667250"/>
          </a:xfrm>
          <a:prstGeom prst="rect">
            <a:avLst/>
          </a:prstGeom>
        </p:spPr>
      </p:pic>
      <p:pic>
        <p:nvPicPr>
          <p:cNvPr id="82" name="Imagen 33"/>
          <p:cNvPicPr>
            <a:picLocks noChangeAspect="1"/>
          </p:cNvPicPr>
          <p:nvPr/>
        </p:nvPicPr>
        <p:blipFill>
          <a:blip r:embed="rId10"/>
          <a:stretch/>
        </p:blipFill>
        <p:spPr>
          <a:xfrm>
            <a:off x="22288500" y="23866225"/>
            <a:ext cx="9334500" cy="5131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0315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895</Words>
  <Application>Microsoft Office PowerPoint</Application>
  <DocSecurity>0</DocSecurity>
  <PresentationFormat>Personalizado</PresentationFormat>
  <Paragraphs>53</Paragraphs>
  <Slides>1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de Office</vt:lpstr>
      <vt:lpstr>Solución mesh-free de la ecuación de Helmholtz
mediante redes neuronales físicamente informadas (PINN-SIREN) Roberto Hernández Estrada¹ · José Adán Hernández Nolasco¹ Ibis Ricárdez Vargas² · Óscar Andrés Flores Vargas² ¹ División Académica de Ciencias y Tecnologías de la Información · ² División Académica de Ciencias Básicas Universidad Juárez Autónoma de Tabasco · Sesión de Óptica · LXIX Congreso Nacional de Física · 15 de octubre de 2026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252H21004 ROBERTO HERNÁNDEZ ESTRADA</cp:lastModifiedBy>
  <cp:revision>1</cp:revision>
  <dcterms:created xsi:type="dcterms:W3CDTF">2026-08-31T21:34:26Z</dcterms:created>
  <dcterms:modified xsi:type="dcterms:W3CDTF">2026-09-01T19:58:41Z</dcterms:modified>
</cp:coreProperties>
</file>