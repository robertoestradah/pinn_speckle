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33c196e1a54bbf" /><Relationship Type="http://schemas.openxmlformats.org/officeDocument/2006/relationships/extended-properties" Target="/docProps/app.xml" Id="R7ce3acf1e82242fa" /><Relationship Type="http://schemas.openxmlformats.org/officeDocument/2006/relationships/officeDocument" Target="/ppt/presentation.xml" Id="R37e5238ab9ba49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3f1dd71e684ab5"/>
  </p:sldMasterIdLst>
  <p:notesMasterIdLst>
    <p:notesMasterId xmlns:r="http://schemas.openxmlformats.org/officeDocument/2006/relationships" r:id="R01fa7c5b3516407e"/>
  </p:notesMasterIdLst>
  <p:sldIdLst>
    <p:sldId xmlns:r="http://schemas.openxmlformats.org/officeDocument/2006/relationships" id="256" r:id="R3231c79bc74a4755"/>
  </p:sldIdLst>
  <p:sldSz cx="32399288" cy="46799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cc5b2439e94fa7" /><Relationship Type="http://schemas.openxmlformats.org/officeDocument/2006/relationships/slideMaster" Target="/ppt/slideMasters/slideMaster1.xml" Id="R8f3f1dd71e684ab5" /><Relationship Type="http://schemas.openxmlformats.org/officeDocument/2006/relationships/notesMaster" Target="/ppt/notesMasters/notesMaster1.xml" Id="R01fa7c5b3516407e" /><Relationship Type="http://schemas.openxmlformats.org/officeDocument/2006/relationships/presProps" Target="/ppt/presProps.xml" Id="Rce749bf143dc4d06" /><Relationship Type="http://schemas.openxmlformats.org/officeDocument/2006/relationships/viewProps" Target="/ppt/viewProps.xml" Id="R4bcb26b2381f485f" /><Relationship Type="http://schemas.openxmlformats.org/officeDocument/2006/relationships/tableStyles" Target="/ppt/tableStyles.xml" Id="R3b1bd957c5a04bd0" /><Relationship Type="http://schemas.openxmlformats.org/officeDocument/2006/relationships/slide" Target="/ppt/slides/slide1.xml" Id="R3231c79bc74a47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faaede871242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ec67efc6a44878" /><Relationship Type="http://schemas.openxmlformats.org/officeDocument/2006/relationships/notesMaster" Target="/ppt/notesMasters/notesMaster1.xml" Id="Re8e0bd4919c14a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Cartel adaptado de la tesis hasta el caso 2D. El desarrollo 3D no forma parte de este material.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Tesis y resultados: C:/roberto/Tesis_Maestria/tesis/Tesis_Actual/main.pdf, chapters/Cap1-Generalidades.tex, chapters/Cap3-Modelo.tex, chapters/Cap4-Resultados.tex.</a:t>
            </a:r>
          </a:p>
          <a:p xmlns:a="http://schemas.openxmlformats.org/drawingml/2006/main">
            <a:r>
              <a:t>- Figuras: C:/roberto/Tesis_Maestria/tesis/Tesis_Actual/figures/*.png.</a:t>
            </a:r>
          </a:p>
          <a:p xmlns:a="http://schemas.openxmlformats.org/drawingml/2006/main">
            <a:r>
              <a:t>- Título, autores y datos del congreso: C:/Users/rober/Downloads/CNF LXIX-014674.pdf.</a:t>
            </a:r>
          </a:p>
          <a:p xmlns:a="http://schemas.openxmlformats.org/drawingml/2006/main">
            <a:r>
              <a:t>- Estructura visual y logotipos: C:/roberto/Tesis_Maestria/master_supporting_docs/supporting_slides/CARTEL/GENERACIÓN DE SONIDO MEDIANTE EFECTO TERMOACÚSTICO EMPLEANDO ÓXIDO DE GRAFENO..pptx.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db053ff8d4fc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a4ed08ded844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c31a6ac2bd4c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6d9e6d0e9c424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6be012acbc48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6bf4128ccd4dd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62121d38fb4a4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b9bf193f1f49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c36a2a9df4fc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cebd659dd54ad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3e3199846c4cc4" /></Relationships>
</file>

<file path=ppt/slideLayouts/slideLayout1.xml><?xml version="1.0" encoding="utf-8"?>
<p:sldLayout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BFE226-2DDD-40F3-88BC-056D496C142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429947" y="7659088"/>
            <a:ext cx="27539395" cy="16293159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1259"/>
            </a:lvl1pPr>
          </a:lstStyle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98CB038-6FC0-4339-BA06-CEB26D28708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049911" y="24580574"/>
            <a:ext cx="24299466" cy="11299043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 xmlns:a="http://schemas.openxmlformats.org/drawingml/2006/main">
            <a:r>
              <a:t>Haga clic para modificar el estilo de subtítulo del patrón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0ADAA27-410D-4B93-BE50-67EB60EBAD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5CF813-705C-4119-92B2-B196EEEAE7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AEFC323-30C9-4806-82C7-5305014A22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A6010B0-FD76-474B-A019-0688A2AA43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C3F179-9B27-4F49-B1FC-DA25D638004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EB95883-E2D2-4676-8FC2-C08006CDE4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E1DC7A-2D6D-4432-A0ED-73C4F001FF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4378AD-9B39-4E72-AF3E-4380B7BB9A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00996F-22A3-4349-B57D-48662920FE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10578" y="11667389"/>
            <a:ext cx="27944386" cy="19467289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1259"/>
            </a:lvl1pPr>
          </a:lstStyle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8AEEFFF-B697-4ED3-B741-3FD6AF2C33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210578" y="31318846"/>
            <a:ext cx="27944386" cy="102373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5065FCC-BA5E-48D5-9347-A1EBBC9C22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8AAC06C-CE54-487A-86C4-CBDDC016B9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1232EE9-9905-4052-B695-6A0972CBE4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31350-D251-453B-ACAF-208D95707A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C13344E-470D-48D1-A860-BE68EB80027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227451" y="12458200"/>
            <a:ext cx="13769697" cy="2969385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32803A8-8FE3-4A38-8409-15A081E7B35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6402140" y="12458200"/>
            <a:ext cx="13769697" cy="2969385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6CD1099-6AD6-4472-8AD7-C1C5BBD23F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5EC5E7E-9F67-41BB-8566-BE3B2D3AE0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C62935A-094F-4698-A942-7AB5051C67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AF4156-5EC5-432B-847A-525D27801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31671" y="2491650"/>
            <a:ext cx="27944386" cy="90457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041C7ED-05C5-4A15-882C-A09897E6F0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231675" y="11472381"/>
            <a:ext cx="13706415" cy="562243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A0526AB-0AF6-4E11-88C9-F30FBE5E62C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231675" y="17094818"/>
            <a:ext cx="13706415" cy="2514390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507890B-CD78-472D-8F9C-2482C06AAE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6402142" y="11472381"/>
            <a:ext cx="13773917" cy="562243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4213B05-7078-476C-835F-4D7CE6A7ABD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6402142" y="17094818"/>
            <a:ext cx="13773917" cy="2514390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46AF7FA-0544-412E-8E9B-256F6E1381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9727B08-7112-494B-9FB3-390A3E1B69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052CE5E-F92E-4FAE-B31D-6C14E7B81B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A7C75EF-AD44-4131-86A2-BC55847C04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6CF7DC0-8431-4886-B2F0-2A9E9EB37B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EEBA80F-EA9B-4282-8FC0-723A47D773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A6AADC8-A1BF-4752-B518-68B5D70EA7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FBC4771-409D-4EA9-93CD-E2B1790D1A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5347D61-30E1-4E7F-93C1-A911AB23F5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D6B9AEF-B4A3-4009-BADA-52C29F2BB2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FD2A22-6381-4D12-8BF6-7B9A4511F2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31671" y="3119967"/>
            <a:ext cx="10449614" cy="10919883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1338"/>
            </a:lvl1pPr>
          </a:lstStyle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0E22300-7365-460A-A606-4A4DB3D3281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773917" y="6738272"/>
            <a:ext cx="16402140" cy="3325797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338"/>
            </a:lvl1pPr>
            <a:lvl2pPr>
              <a:buNone/>
              <a:defRPr sz="9921"/>
            </a:lvl2pPr>
            <a:lvl3pPr>
              <a:buNone/>
              <a:defRPr sz="8504"/>
            </a:lvl3pPr>
            <a:lvl4pPr>
              <a:buNone/>
              <a:defRPr sz="7086"/>
            </a:lvl4pPr>
            <a:lvl5pPr>
              <a:buNone/>
              <a:defRPr sz="7086"/>
            </a:lvl5pPr>
            <a:lvl6pPr>
              <a:buNone/>
              <a:defRPr sz="7086"/>
            </a:lvl6pPr>
            <a:lvl7pPr>
              <a:buNone/>
              <a:defRPr sz="7086"/>
            </a:lvl7pPr>
            <a:lvl8pPr>
              <a:buNone/>
              <a:defRPr sz="7086"/>
            </a:lvl8pPr>
            <a:lvl9pPr>
              <a:buNone/>
              <a:defRPr sz="7086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C7BE85B-1843-477B-AFBD-E1F8D32C0F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231671" y="14039850"/>
            <a:ext cx="10449614" cy="26010559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DE166F2-1A9A-4D13-9272-D4ACF0B3A9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4E852DC-C832-4F44-8662-E26EA23FED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AB3A51B-B292-4AF0-9840-CFC969912F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A90F4D-F284-4378-9247-521F222EAC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31671" y="3119967"/>
            <a:ext cx="10449614" cy="10919883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1338"/>
            </a:lvl1pPr>
          </a:lstStyle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7DA256C-CB1E-4052-AAE3-237179C7891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3773917" y="6738272"/>
            <a:ext cx="16402140" cy="33257978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 xmlns:a="http://schemas.openxmlformats.org/drawingml/2006/main">
            <a:r>
              <a:t>Haga clic en el icono para agregar una imagen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753D57C-55F2-4045-A283-A161F00ECB0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231671" y="14039850"/>
            <a:ext cx="10449614" cy="26010559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F0257A4-BF5A-4481-9A95-7E74EA8769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5763333-39A2-45A6-9610-04A84E6C15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9A029BF-2B01-4836-9AC7-DC9500583F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BE2870-84E1-4F30-A822-81B904DE3A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4D29B2-CA57-4B57-A139-D57233435F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37E074-ED9F-48F6-BD32-A1BA7AFD6F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3FBDAF-D3E7-4CB7-9DDB-42A4298A6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6AFD13-564D-40F2-B85A-45A7F1C2A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A18C43C-9CA0-4806-82C1-2FCDCA5B39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185742" y="2491640"/>
            <a:ext cx="6986096" cy="39660413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6C97C4-05DA-4659-AC12-D09225BB16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227453" y="2491640"/>
            <a:ext cx="20553298" cy="39660413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DA131E-2A98-4BCB-A844-53F2930FAF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4E87A4-25A9-4917-A5D9-D430FF1429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E9D5001-C9F7-430A-B348-DB5BA45C16C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287648fcb342c3" /><Relationship Type="http://schemas.openxmlformats.org/officeDocument/2006/relationships/slideLayout" Target="/ppt/slideLayouts/slideLayout1.xml" Id="R8c18ec062cc04edf" /><Relationship Type="http://schemas.openxmlformats.org/officeDocument/2006/relationships/slideLayout" Target="/ppt/slideLayouts/slideLayout2.xml" Id="Ra5c65c28e2ad48d8" /><Relationship Type="http://schemas.openxmlformats.org/officeDocument/2006/relationships/slideLayout" Target="/ppt/slideLayouts/slideLayout3.xml" Id="R0bf47c52617d4d46" /><Relationship Type="http://schemas.openxmlformats.org/officeDocument/2006/relationships/slideLayout" Target="/ppt/slideLayouts/slideLayout4.xml" Id="R102ccc94a7044287" /><Relationship Type="http://schemas.openxmlformats.org/officeDocument/2006/relationships/slideLayout" Target="/ppt/slideLayouts/slideLayout5.xml" Id="R03e10a568469466d" /><Relationship Type="http://schemas.openxmlformats.org/officeDocument/2006/relationships/slideLayout" Target="/ppt/slideLayouts/slideLayout6.xml" Id="Rf81ff431e05c45a1" /><Relationship Type="http://schemas.openxmlformats.org/officeDocument/2006/relationships/slideLayout" Target="/ppt/slideLayouts/slideLayout7.xml" Id="Rb6487f939cea4a51" /><Relationship Type="http://schemas.openxmlformats.org/officeDocument/2006/relationships/slideLayout" Target="/ppt/slideLayouts/slideLayout8.xml" Id="R8edda4a3cf334205" /><Relationship Type="http://schemas.openxmlformats.org/officeDocument/2006/relationships/slideLayout" Target="/ppt/slideLayouts/slideLayout9.xml" Id="R1510942c16694fd2" /><Relationship Type="http://schemas.openxmlformats.org/officeDocument/2006/relationships/slideLayout" Target="/ppt/slideLayouts/slideLayout10.xml" Id="R5d8646a65fe04e44" /><Relationship Type="http://schemas.openxmlformats.org/officeDocument/2006/relationships/slideLayout" Target="/ppt/slideLayouts/slideLayout11.xml" Id="R59820f261f184c7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9C472C3-9AFA-4F30-8EDC-A2725C7205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27451" y="2491650"/>
            <a:ext cx="27944386" cy="90457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Haga clic para modificar el estilo de título del patrón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5150D7-4CF7-4407-A7E9-45BBB46F7C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227451" y="12458200"/>
            <a:ext cx="27944386" cy="296938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Haga clic para modificar los estilos de texto del patrón</a:t>
            </a:r>
          </a:p>
          <a:p xmlns:a="http://schemas.openxmlformats.org/drawingml/2006/main">
            <a:pPr lvl="1">
              <a:buNone/>
            </a:pPr>
            <a:r>
              <a:t>Segundo nivel</a:t>
            </a:r>
          </a:p>
          <a:p xmlns:a="http://schemas.openxmlformats.org/drawingml/2006/main">
            <a:pPr lvl="2">
              <a:buNone/>
            </a:pPr>
            <a:r>
              <a:t>Tercer nivel</a:t>
            </a:r>
          </a:p>
          <a:p xmlns:a="http://schemas.openxmlformats.org/drawingml/2006/main">
            <a:pPr lvl="3">
              <a:buNone/>
            </a:pPr>
            <a:r>
              <a:t>Cuarto nivel</a:t>
            </a:r>
          </a:p>
          <a:p xmlns:a="http://schemas.openxmlformats.org/drawingml/2006/main">
            <a:pPr lvl="4">
              <a:buNone/>
            </a:pPr>
            <a:r>
              <a:t>Quinto nivel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D81591-F21B-42AE-AD04-1F98A7FC17E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227451" y="43376214"/>
            <a:ext cx="7289840" cy="2491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2859D279-7FFD-4108-AAC5-6DD8152157B1}" type="datetimeFigureOut">
              <a:t>05/10/2023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BED40C9-AC24-4789-BA5B-D1AC31D35C8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0732264" y="43376214"/>
            <a:ext cx="10934760" cy="2491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B846A5F-91EE-4247-897D-B3DB207D19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22881997" y="43376214"/>
            <a:ext cx="7289840" cy="2491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E107B50-42F2-442C-8A9B-03B1021A57A2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18ec062cc04edf"/>
    <p:sldLayoutId xmlns:r="http://schemas.openxmlformats.org/officeDocument/2006/relationships" id="2147483650" r:id="Ra5c65c28e2ad48d8"/>
    <p:sldLayoutId xmlns:r="http://schemas.openxmlformats.org/officeDocument/2006/relationships" id="2147483651" r:id="R0bf47c52617d4d46"/>
    <p:sldLayoutId xmlns:r="http://schemas.openxmlformats.org/officeDocument/2006/relationships" id="2147483652" r:id="R102ccc94a7044287"/>
    <p:sldLayoutId xmlns:r="http://schemas.openxmlformats.org/officeDocument/2006/relationships" id="2147483653" r:id="R03e10a568469466d"/>
    <p:sldLayoutId xmlns:r="http://schemas.openxmlformats.org/officeDocument/2006/relationships" id="2147483654" r:id="Rf81ff431e05c45a1"/>
    <p:sldLayoutId xmlns:r="http://schemas.openxmlformats.org/officeDocument/2006/relationships" id="2147483655" r:id="Rb6487f939cea4a51"/>
    <p:sldLayoutId xmlns:r="http://schemas.openxmlformats.org/officeDocument/2006/relationships" id="2147483656" r:id="R8edda4a3cf334205"/>
    <p:sldLayoutId xmlns:r="http://schemas.openxmlformats.org/officeDocument/2006/relationships" id="2147483657" r:id="R1510942c16694fd2"/>
    <p:sldLayoutId xmlns:r="http://schemas.openxmlformats.org/officeDocument/2006/relationships" id="2147483658" r:id="R5d8646a65fe04e44"/>
    <p:sldLayoutId xmlns:r="http://schemas.openxmlformats.org/officeDocument/2006/relationships" id="2147483659" r:id="R59820f261f184c76"/>
  </p:sldLayoutIdLst>
  <p:txStyles>
    <p:titleStyle>
      <a:lvl1pPr xmlns:a="http://schemas.openxmlformats.org/drawingml/2006/main" algn="l" defTabSz="3239902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809976" indent="-809976" algn="l" defTabSz="3239902">
        <a:lnSpc>
          <a:spcPct val="90000"/>
        </a:lnSpc>
        <a:spcBef>
          <a:spcPts val="3543"/>
        </a:spcBef>
        <a:buFont typeface="Arial"/>
        <a:buChar char="•"/>
        <a:defRPr sz="992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429927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049878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7086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669829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6378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289780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6378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909731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6378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0529682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6378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2149633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6378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3769584" indent="-809976" algn="l" defTabSz="3239902">
        <a:lnSpc>
          <a:spcPct val="90000"/>
        </a:lnSpc>
        <a:spcBef>
          <a:spcPts val="1772"/>
        </a:spcBef>
        <a:buFont typeface="Arial"/>
        <a:buChar char="•"/>
        <a:defRPr sz="6378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19951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239902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4859853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6479804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8099755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9719706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1339657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2959608" algn="l" defTabSz="3239902">
        <a:buNone/>
        <a:defRPr sz="6378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bb24fcd8f6481b" /><Relationship Type="http://schemas.openxmlformats.org/officeDocument/2006/relationships/image" Target="/ppt/media/image.png" Id="R81f4efafeae94569" /><Relationship Type="http://schemas.openxmlformats.org/officeDocument/2006/relationships/image" Target="/ppt/media/image2.png" Id="Rd549495e17084c36" /><Relationship Type="http://schemas.openxmlformats.org/officeDocument/2006/relationships/image" Target="/ppt/media/image3.png" Id="Ra855f8ade6604a7a" /><Relationship Type="http://schemas.openxmlformats.org/officeDocument/2006/relationships/image" Target="/ppt/media/image4.png" Id="Rf9e6be8c23734474" /><Relationship Type="http://schemas.openxmlformats.org/officeDocument/2006/relationships/image" Target="/ppt/media/image5.png" Id="R18b4aa270d6c4fbd" /><Relationship Type="http://schemas.openxmlformats.org/officeDocument/2006/relationships/image" Target="/ppt/media/image6.png" Id="R5b5715c223d345d9" /><Relationship Type="http://schemas.openxmlformats.org/officeDocument/2006/relationships/image" Target="/ppt/media/image7.png" Id="R8e1aaedcc5604bf2" /><Relationship Type="http://schemas.openxmlformats.org/officeDocument/2006/relationships/image" Target="/ppt/media/image8.png" Id="R5c48bdedad444bec" /><Relationship Type="http://schemas.openxmlformats.org/officeDocument/2006/relationships/notesSlide" Target="/ppt/notesSlides/notesSlide1.xml" Id="Rfb211fb47e0b46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A422E3A7-1767-D4B3-844B-B6FF22A0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99288" cy="50540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60000"/>
              <a:lumOff val="40000"/>
            </a:schemeClr>
          </a:solidFill>
          <a:ln xmlns:a="http://schemas.openxmlformats.org/drawingml/2006/main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Título 1">
            <a:extLst xmlns:a="http://schemas.openxmlformats.org/drawingml/2006/main">
              <a:ext uri="{FF2B5EF4-FFF2-40B4-BE49-F238E27FC236}">
                <a16:creationId xmlns:a16="http://schemas.microsoft.com/office/drawing/2014/main" id="{3A9CE18A-15C1-D8DD-8A76-84C6D1781719}"/>
              </a:ext>
            </a:extLst>
          </p:cNvPr>
          <p:cNvSpPr>
            <a:spLocks xmlns:a="http://schemas.openxmlformats.org/drawingml/2006/main" noGrp="1"/>
          </p:cNvSpPr>
          <p:nvPr>
            <p:ph type="ctrTitle" idx="4294967295"/>
          </p:nvPr>
        </p:nvSpPr>
        <p:spPr>
          <a:xfrm xmlns:a="http://schemas.openxmlformats.org/drawingml/2006/main">
            <a:off x="151638" y="294608"/>
            <a:ext cx="32247650" cy="4830794"/>
          </a:xfr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5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Solución mesh-free de la ecuación de Helmholtz
mediante redes neuronales físicamente informadas (PINN-SIREN)</a:t>
            </a:r>
          </a:p>
          <a:p xmlns:a="http://schemas.openxmlformats.org/drawingml/2006/main">
            <a:pPr algn="ctr">
              <a:buNone/>
            </a:pPr>
            <a:r>
              <a:rPr sz="4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Roberto Hernández Estrada¹ · José Adán Hernández Nolasco¹</a:t>
            </a:r>
          </a:p>
          <a:p xmlns:a="http://schemas.openxmlformats.org/drawingml/2006/main">
            <a:pPr algn="ctr">
              <a:buNone/>
            </a:pPr>
            <a:r>
              <a:rPr sz="4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Ibis Ricárdez Vargas² · Óscar Andrés Flores Vargas²</a:t>
            </a:r>
          </a:p>
          <a:p xmlns:a="http://schemas.openxmlformats.org/drawingml/2006/main">
            <a:pPr algn="ctr">
              <a:buNone/>
            </a:pPr>
            <a:r>
              <a:rPr sz="4000">
                <a:latin typeface="Arial"/>
                <a:ea typeface="Arial"/>
                <a:cs typeface="Arial"/>
              </a:rPr>
              <a:t>¹ División Académica de Ciencias y Tecnologías de la Información · ² División Académica de Ciencias Básicas</a:t>
            </a:r>
          </a:p>
          <a:p xmlns:a="http://schemas.openxmlformats.org/drawingml/2006/main">
            <a:pPr algn="ctr">
              <a:buNone/>
            </a:pPr>
            <a:r>
              <a:rPr sz="3600">
                <a:latin typeface="Arial"/>
                <a:ea typeface="Arial"/>
                <a:cs typeface="Arial"/>
              </a:rPr>
              <a:t>Universidad Juárez Autónoma de Tabasco · Sesión de Óptica · LXIX Congreso Nacional de Física · 15 de octubre de 2026</a:t>
            </a:r>
          </a:p>
        </p:txBody>
      </p:sp>
      <p:pic>
        <p:nvPicPr>
          <p:cNvPr id="59" name="Imagen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4efafeae945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122434" y="280106"/>
            <a:ext cx="3324835" cy="4270131"/>
          </a:xfrm>
          <a:prstGeom xmlns:a="http://schemas.openxmlformats.org/drawingml/2006/main" prst="rect">
            <a:avLst/>
          </a:prstGeom>
        </p:spPr>
      </p:pic>
      <p:pic>
        <p:nvPicPr>
          <p:cNvPr id="60" name="Imagen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49495e17084c36"/>
          <a:srcRect xmlns:a="http://schemas.openxmlformats.org/drawingml/2006/main" l="27243" t="0" r="25987" b="37906"/>
          <a:stretch xmlns:a="http://schemas.openxmlformats.org/drawingml/2006/main"/>
        </p:blipFill>
        <p:spPr>
          <a:xfrm xmlns:a="http://schemas.openxmlformats.org/drawingml/2006/main">
            <a:off x="801756" y="591290"/>
            <a:ext cx="2855844" cy="3774783"/>
          </a:xfrm>
          <a:prstGeom xmlns:a="http://schemas.openxmlformats.org/drawingml/2006/main" prst="rect">
            <a:avLst/>
          </a:prstGeom>
        </p:spPr>
      </p:pic>
      <p:sp>
        <p:nvSpPr>
          <p:cNvPr id="46" name="Rectángulo 45">
            <a:extLst xmlns:a="http://schemas.openxmlformats.org/drawingml/2006/main">
              <a:ext uri="{FF2B5EF4-FFF2-40B4-BE49-F238E27FC236}">
                <a16:creationId xmlns:a16="http://schemas.microsoft.com/office/drawing/2014/main" id="{892B14FF-9930-BF36-FC1F-8BD9159D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1756"/>
            <a:ext cx="32399288" cy="58199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50000"/>
            </a:schemeClr>
          </a:solidFill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7" name="CuadroTexto 46">
            <a:extLst xmlns:a="http://schemas.openxmlformats.org/drawingml/2006/main">
              <a:ext uri="{FF2B5EF4-FFF2-40B4-BE49-F238E27FC236}">
                <a16:creationId xmlns:a16="http://schemas.microsoft.com/office/drawing/2014/main" id="{873F68A6-0A1E-48C9-3F15-78C7CE18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2672" y="35337750"/>
            <a:ext cx="9304592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75000"/>
            </a:schemeClr>
          </a:solidFill>
          <a:ln xmlns:a="http://schemas.openxmlformats.org/drawingml/2006/main">
            <a:solidFill>
              <a:schemeClr val="accent6">
                <a:lumMod val="20000"/>
                <a:lumOff val="80000"/>
              </a:schemeClr>
            </a:solidFill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5. CONCLUSIONES.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bg1"/>
                </a:solidFill>
                <a:latin typeface="Arial"/>
                <a:ea typeface="Arial"/>
                <a:cs typeface="Arial"/>
              </a:rPr>
              <a:t>PINN-SIREN resuelve Helmholtz con precisión subporcentual: 0.006% en 1D y 0.171% en 2D.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bg1"/>
                </a:solidFill>
                <a:latin typeface="Arial"/>
                <a:ea typeface="Arial"/>
                <a:cs typeface="Arial"/>
              </a:rPr>
              <a:t>La representación sinusoidal, el muestreo LHS y Adam + L-BFGS favorecen la convergencia del campo complejo.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bg1"/>
                </a:solidFill>
                <a:latin typeface="Arial"/>
                <a:ea typeface="Arial"/>
                <a:cs typeface="Arial"/>
              </a:rPr>
              <a:t>La frontera de fase aleatoria produce speckle 2D con contraste C = 1.0253, conforme al criterio de Goodman.</a:t>
            </a:r>
          </a:p>
        </p:txBody>
      </p:sp>
      <p:sp>
        <p:nvSpPr>
          <p:cNvPr id="14" name="AutoShape 2">
            <a:extLst xmlns:a="http://schemas.openxmlformats.org/drawingml/2006/main">
              <a:ext uri="{FF2B5EF4-FFF2-40B4-BE49-F238E27FC236}">
                <a16:creationId xmlns:a16="http://schemas.microsoft.com/office/drawing/2014/main" id="{BAF848EE-9FA9-475F-D7D6-E7C59CE4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6450" y="23246556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AutoShape 4">
            <a:extLst xmlns:a="http://schemas.openxmlformats.org/drawingml/2006/main">
              <a:ext uri="{FF2B5EF4-FFF2-40B4-BE49-F238E27FC236}">
                <a16:creationId xmlns:a16="http://schemas.microsoft.com/office/drawing/2014/main" id="{651A537B-9BF8-507F-10FD-849E59C2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8850" y="23398956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CuadroTexto 21">
            <a:extLst xmlns:a="http://schemas.openxmlformats.org/drawingml/2006/main">
              <a:ext uri="{FF2B5EF4-FFF2-40B4-BE49-F238E27FC236}">
                <a16:creationId xmlns:a16="http://schemas.microsoft.com/office/drawing/2014/main" id="{57B01137-9338-D708-A712-9371BAAE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87" y="44253245"/>
            <a:ext cx="30392942" cy="2529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2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7. FUENTES CITADAS.</a:t>
            </a:r>
          </a:p>
          <a:p xmlns:a="http://schemas.openxmlformats.org/drawingml/2006/main">
            <a:pPr>
              <a:buNone/>
            </a:pPr>
            <a:r>
              <a:rPr sz="3200">
                <a:solidFill>
                  <a:schemeClr val="tx1"/>
                </a:solidFill>
                <a:latin typeface="Arial"/>
                <a:ea typeface="Arial"/>
                <a:cs typeface="Arial"/>
              </a:rPr>
              <a:t>[1] Raissi, M., Perdikaris, P. &amp; Karniadakis, G. (2019). Physics-informed neural networks. Journal of Computational Physics.</a:t>
            </a:r>
          </a:p>
          <a:p xmlns:a="http://schemas.openxmlformats.org/drawingml/2006/main">
            <a:pPr>
              <a:buNone/>
            </a:pPr>
            <a:r>
              <a:rPr sz="3200">
                <a:solidFill>
                  <a:schemeClr val="tx1"/>
                </a:solidFill>
                <a:latin typeface="Arial"/>
                <a:ea typeface="Arial"/>
                <a:cs typeface="Arial"/>
              </a:rPr>
              <a:t>[2] Sitzmann, V. et al. (2020). Implicit neural representations with periodic activation functions. NeurIPS.</a:t>
            </a:r>
          </a:p>
          <a:p xmlns:a="http://schemas.openxmlformats.org/drawingml/2006/main">
            <a:pPr>
              <a:buNone/>
            </a:pPr>
            <a:r>
              <a:rPr sz="3200">
                <a:solidFill>
                  <a:schemeClr val="tx1"/>
                </a:solidFill>
                <a:latin typeface="Arial"/>
                <a:ea typeface="Arial"/>
                <a:cs typeface="Arial"/>
              </a:rPr>
              <a:t>[3] Goodman, J. W. (2007). Speckle Phenomena in Optics: Theory and Applications.</a:t>
            </a:r>
          </a:p>
          <a:p xmlns:a="http://schemas.openxmlformats.org/drawingml/2006/main">
            <a:pPr>
              <a:buNone/>
            </a:pPr>
            <a:r>
              <a:rPr sz="3200">
                <a:solidFill>
                  <a:schemeClr val="tx1"/>
                </a:solidFill>
                <a:latin typeface="Arial"/>
                <a:ea typeface="Arial"/>
                <a:cs typeface="Arial"/>
              </a:rPr>
              <a:t>[4] McKay, M. D., Beckman, R. J. &amp; Conover, W. J. (1979). Latin hypercube sampling. Technometrics.</a:t>
            </a:r>
          </a:p>
        </p:txBody>
      </p:sp>
      <p:sp>
        <p:nvSpPr>
          <p:cNvPr id="7" name="CuadroTexto 6">
            <a:extLst xmlns:a="http://schemas.openxmlformats.org/drawingml/2006/main">
              <a:ext uri="{FF2B5EF4-FFF2-40B4-BE49-F238E27FC236}">
                <a16:creationId xmlns:a16="http://schemas.microsoft.com/office/drawing/2014/main" id="{039E41CE-2B9A-EB31-C82A-02B5B5DD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19" y="13049250"/>
            <a:ext cx="9547193" cy="2682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2. OBJETIVO.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Construir y validar un modelo PINN-SIREN que resuelva la ecuación de Helmholtz 2D con campo complejo y reproduzca patrones de speckle óptico con alta precisión.</a:t>
            </a:r>
          </a:p>
        </p:txBody>
      </p:sp>
      <p:sp>
        <p:nvSpPr>
          <p:cNvPr id="4" name="CuadroTexto 3">
            <a:extLst xmlns:a="http://schemas.openxmlformats.org/drawingml/2006/main">
              <a:ext uri="{FF2B5EF4-FFF2-40B4-BE49-F238E27FC236}">
                <a16:creationId xmlns:a16="http://schemas.microsoft.com/office/drawing/2014/main" id="{C663530F-9B89-3E78-7D39-A42DCBAF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0962" y="15240000"/>
            <a:ext cx="9454896" cy="7429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4. RESULTADOS.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El modelo reproduce la solución analítica con alta precisión en 1D y en ambas componentes del campo complejo 2D.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NB01 | εL² = 0.006% | R² = 1.000000.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NB02 | εL² promedio = 0.171% | R² &gt; 0.9999.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La arquitectura 5 × 128 reduce el error 2.5× frente a 5 × 64; la variación entre semillas es 0.155 ± 0.020%.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Speckle 2D: contraste C = 1.0253, consistente con speckle completamente desarrollado.</a:t>
            </a:r>
          </a:p>
        </p:txBody>
      </p:sp>
      <p:sp>
        <p:nvSpPr>
          <p:cNvPr id="8" name="CuadroTexto 7">
            <a:extLst xmlns:a="http://schemas.openxmlformats.org/drawingml/2006/main">
              <a:ext uri="{FF2B5EF4-FFF2-40B4-BE49-F238E27FC236}">
                <a16:creationId xmlns:a16="http://schemas.microsoft.com/office/drawing/2014/main" id="{29C69117-B6EA-8074-3F79-D230F177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22" y="6039421"/>
            <a:ext cx="9637586" cy="6667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>
              <a:lumMod val="75000"/>
            </a:schemeClr>
          </a:solidFill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2">
            <a:schemeClr val="dk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dk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1. RESUMEN.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bg1"/>
                </a:solidFill>
                <a:latin typeface="Arial"/>
                <a:ea typeface="Arial"/>
                <a:cs typeface="Arial"/>
              </a:rPr>
              <a:t>Se propone un modelo PINN-SIREN para resolver la ecuación de Helmholtz y acelerar la simulación de speckle óptico en dominios 2D.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bg1"/>
                </a:solidFill>
                <a:latin typeface="Arial"/>
                <a:ea typeface="Arial"/>
                <a:cs typeface="Arial"/>
              </a:rPr>
              <a:t>El campo eléctrico complejo se aprende directamente desde la EDP y sus condiciones de frontera, sin construir una malla de elementos finitos.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bg1"/>
                </a:solidFill>
                <a:latin typeface="Arial"/>
                <a:ea typeface="Arial"/>
                <a:cs typeface="Arial"/>
              </a:rPr>
              <a:t>El modelo alcanza εL² = 0.006% en 1D y 0.171% en 2D, ambos por debajo del umbral de tesis (&lt; 5%).</a:t>
            </a:r>
          </a:p>
        </p:txBody>
      </p:sp>
      <p:sp>
        <p:nvSpPr>
          <p:cNvPr id="16" name="CuadroTexto 15">
            <a:extLst xmlns:a="http://schemas.openxmlformats.org/drawingml/2006/main">
              <a:ext uri="{FF2B5EF4-FFF2-40B4-BE49-F238E27FC236}">
                <a16:creationId xmlns:a16="http://schemas.microsoft.com/office/drawing/2014/main" id="{A03E13D9-BF07-B852-EF14-2366F34C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953" y="8763000"/>
            <a:ext cx="9689021" cy="723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3. METODOLOGÍA.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1. NB01 — Validación 1D: SIREN 5 × 64 contra E(x) = cos(kx).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2. NB02 — Validación 2D: SIREN 5 × 128, salida (Ereal, Eimag), LHS con Nc = 3,000 y Nb = 300 por borde.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3. NB03 — Speckle 2D: frontera E(x,0) = e^{iψ(x)}, ψ ~ U(0, 2π), con bordes libres.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Optimización bifásica Adam + L-BFGS; λfis = 0.1; evaluación en malla 100 × 100.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Las figuras muestran la validación analítica 1D y la aplicación 2D al patrón de speckle.</a:t>
            </a:r>
          </a:p>
        </p:txBody>
      </p:sp>
      <p:pic>
        <p:nvPicPr>
          <p:cNvPr id="70" name="Imagen 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55f8ade6604a7a"/>
          <a:stretch xmlns:a="http://schemas.openxmlformats.org/drawingml/2006/main"/>
        </p:blipFill>
        <p:spPr>
          <a:xfrm xmlns:a="http://schemas.openxmlformats.org/drawingml/2006/main" rot="0" flipH="0" flipV="0">
            <a:off x="12517771" y="17240250"/>
            <a:ext cx="7397082" cy="4667250"/>
          </a:xfrm>
          <a:prstGeom xmlns:a="http://schemas.openxmlformats.org/drawingml/2006/main" prst="rect">
            <a:avLst/>
          </a:prstGeom>
        </p:spPr>
      </p:pic>
      <p:sp>
        <p:nvSpPr>
          <p:cNvPr id="18" name="CuadroTexto 17">
            <a:extLst xmlns:a="http://schemas.openxmlformats.org/drawingml/2006/main">
              <a:ext uri="{FF2B5EF4-FFF2-40B4-BE49-F238E27FC236}">
                <a16:creationId xmlns:a16="http://schemas.microsoft.com/office/drawing/2014/main" id="{0C537126-1334-0E11-8C9E-9ED6FE3A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22" y="16287750"/>
            <a:ext cx="9547193" cy="7334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PROBLEMA FÍSICO.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El speckle óptico surge por la interferencia de luz coherente dispersada. Su simulación exige resolver campos oscilatorios con gran resolución espacial.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Los métodos basados en malla pueden ser costosos para estudios con muchas realizaciones. Las PINNs imponen la EDP en puntos de colocación y SIREN representa mejor las oscilaciones.</a:t>
            </a:r>
          </a:p>
        </p:txBody>
      </p:sp>
      <p:pic>
        <p:nvPicPr>
          <p:cNvPr id="72" name="Imagen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6be8c23734474"/>
          <a:stretch xmlns:a="http://schemas.openxmlformats.org/drawingml/2006/main"/>
        </p:blipFill>
        <p:spPr>
          <a:xfrm xmlns:a="http://schemas.openxmlformats.org/drawingml/2006/main" rot="0" flipH="0" flipV="0">
            <a:off x="857250" y="24496992"/>
            <a:ext cx="9334500" cy="2631515"/>
          </a:xfrm>
          <a:prstGeom xmlns:a="http://schemas.openxmlformats.org/drawingml/2006/main" prst="rect">
            <a:avLst/>
          </a:prstGeom>
        </p:spPr>
      </p:pic>
      <p:sp>
        <p:nvSpPr>
          <p:cNvPr id="10" name="AutoShape 2">
            <a:extLst xmlns:a="http://schemas.openxmlformats.org/drawingml/2006/main">
              <a:ext uri="{FF2B5EF4-FFF2-40B4-BE49-F238E27FC236}">
                <a16:creationId xmlns:a16="http://schemas.microsoft.com/office/drawing/2014/main" id="{EB72079C-1686-5ACD-1D84-22B09994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1250" y="235521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CuadroTexto 22">
            <a:extLst xmlns:a="http://schemas.openxmlformats.org/drawingml/2006/main">
              <a:ext uri="{FF2B5EF4-FFF2-40B4-BE49-F238E27FC236}">
                <a16:creationId xmlns:a16="http://schemas.microsoft.com/office/drawing/2014/main" id="{02C324C7-DAE6-C556-204D-4B4895F9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3141" y="5998178"/>
            <a:ext cx="9734550" cy="2381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VALIDACIÓN 2D.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Onda plana compleja en Ω = [0,1]²; se comparan Ereal y Eimag con la solución analítica. La diferencia visual es mínima.</a:t>
            </a:r>
          </a:p>
        </p:txBody>
      </p:sp>
      <p:sp>
        <p:nvSpPr>
          <p:cNvPr id="17" name="AutoShape 4">
            <a:extLst xmlns:a="http://schemas.openxmlformats.org/drawingml/2006/main">
              <a:ext uri="{FF2B5EF4-FFF2-40B4-BE49-F238E27FC236}">
                <a16:creationId xmlns:a16="http://schemas.microsoft.com/office/drawing/2014/main" id="{C91B6DA9-255F-EDC0-F529-D9B8D5F0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3650" y="237045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76" name="Imagen 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b4aa270d6c4fbd"/>
          <a:stretch xmlns:a="http://schemas.openxmlformats.org/drawingml/2006/main"/>
        </p:blipFill>
        <p:spPr>
          <a:xfrm xmlns:a="http://schemas.openxmlformats.org/drawingml/2006/main" rot="0" flipH="0" flipV="0">
            <a:off x="23301452" y="8763000"/>
            <a:ext cx="7308595" cy="5810250"/>
          </a:xfrm>
          <a:prstGeom xmlns:a="http://schemas.openxmlformats.org/drawingml/2006/main" prst="rect">
            <a:avLst/>
          </a:prstGeom>
        </p:spPr>
      </p:pic>
      <p:pic>
        <p:nvPicPr>
          <p:cNvPr id="77" name="Imagen 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5715c223d345d9"/>
          <a:stretch xmlns:a="http://schemas.openxmlformats.org/drawingml/2006/main"/>
        </p:blipFill>
        <p:spPr>
          <a:xfrm xmlns:a="http://schemas.openxmlformats.org/drawingml/2006/main" rot="0" flipH="0" flipV="0">
            <a:off x="22612273" y="30003750"/>
            <a:ext cx="8686954" cy="4953000"/>
          </a:xfrm>
          <a:prstGeom xmlns:a="http://schemas.openxmlformats.org/drawingml/2006/main" prst="rect">
            <a:avLst/>
          </a:prstGeom>
        </p:spPr>
      </p:pic>
      <p:sp>
        <p:nvSpPr>
          <p:cNvPr id="12" name="CuadroTexto 11">
            <a:extLst xmlns:a="http://schemas.openxmlformats.org/drawingml/2006/main">
              <a:ext uri="{FF2B5EF4-FFF2-40B4-BE49-F238E27FC236}">
                <a16:creationId xmlns:a16="http://schemas.microsoft.com/office/drawing/2014/main" id="{D2201B3C-48C5-A591-0B02-8BEEF753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1156" y="41148000"/>
            <a:ext cx="9193911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6. AGRADECIMIENTOS.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Agradecemos al Dr. José Adán Hernández Nolasco por la dirección de este trabajo y a la UJAT por el apoyo académico.</a:t>
            </a:r>
          </a:p>
        </p:txBody>
      </p:sp>
      <p:sp>
        <p:nvSpPr>
          <p:cNvPr id="26" name="CuadroTexto 25">
            <a:extLst xmlns:a="http://schemas.openxmlformats.org/drawingml/2006/main">
              <a:ext uri="{FF2B5EF4-FFF2-40B4-BE49-F238E27FC236}">
                <a16:creationId xmlns:a16="http://schemas.microsoft.com/office/drawing/2014/main" id="{A3489B49-08AF-B377-36A8-D0A6884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22" y="28575000"/>
            <a:ext cx="9639014" cy="68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ALCANCE DEL ESTUDIO.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• Casos 1D y 2D; el desarrollo 3D queda fuera del alcance.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• Dominio normalizado Ω = [0,1]², k = 2π y campo complejo en 2D.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• Validación analítica mediante error L² y evaluación estadística del speckle.</a:t>
            </a:r>
          </a:p>
        </p:txBody>
      </p:sp>
      <p:sp>
        <p:nvSpPr>
          <p:cNvPr id="29" name="CuadroTexto 28">
            <a:extLst xmlns:a="http://schemas.openxmlformats.org/drawingml/2006/main">
              <a:ext uri="{FF2B5EF4-FFF2-40B4-BE49-F238E27FC236}">
                <a16:creationId xmlns:a16="http://schemas.microsoft.com/office/drawing/2014/main" id="{3FDABAB0-D307-2F38-BE52-93030150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953" y="6040088"/>
            <a:ext cx="9689021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400" b="1">
                <a:solidFill>
                  <a:schemeClr val="tx1"/>
                </a:solidFill>
                <a:latin typeface="Arial"/>
                <a:ea typeface="Arial"/>
                <a:cs typeface="Arial"/>
              </a:rPr>
              <a:t>FORMULACIÓN.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Helmholtz: ∇²E + k²E = 0.</a:t>
            </a:r>
          </a:p>
          <a:p xmlns:a="http://schemas.openxmlformats.org/drawingml/2006/main">
            <a:pPr>
              <a:buNone/>
            </a:pPr>
            <a:r>
              <a:rPr sz="3400">
                <a:solidFill>
                  <a:schemeClr val="tx1"/>
                </a:solidFill>
                <a:latin typeface="Arial"/>
                <a:ea typeface="Arial"/>
                <a:cs typeface="Arial"/>
              </a:rPr>
              <a:t>1D: E(x) = cos(kx).  2D: E(x,y) = e^{i(kₓx + kᵧy)}.</a:t>
            </a:r>
          </a:p>
        </p:txBody>
      </p:sp>
      <p:pic>
        <p:nvPicPr>
          <p:cNvPr id="81" name="Imagen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aaedcc5604bf2"/>
          <a:stretch xmlns:a="http://schemas.openxmlformats.org/drawingml/2006/main"/>
        </p:blipFill>
        <p:spPr>
          <a:xfrm xmlns:a="http://schemas.openxmlformats.org/drawingml/2006/main" rot="0" flipH="0" flipV="0">
            <a:off x="13232750" y="28575000"/>
            <a:ext cx="5967126" cy="4667250"/>
          </a:xfrm>
          <a:prstGeom xmlns:a="http://schemas.openxmlformats.org/drawingml/2006/main" prst="rect">
            <a:avLst/>
          </a:prstGeom>
        </p:spPr>
      </p:pic>
      <p:pic>
        <p:nvPicPr>
          <p:cNvPr id="82" name="Imagen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8bdedad444bec"/>
          <a:stretch xmlns:a="http://schemas.openxmlformats.org/drawingml/2006/main"/>
        </p:blipFill>
        <p:spPr>
          <a:xfrm xmlns:a="http://schemas.openxmlformats.org/drawingml/2006/main" rot="0" flipH="0" flipV="0">
            <a:off x="22288500" y="23866225"/>
            <a:ext cx="9334500" cy="513130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03153"/>
      </p:ext>
    </p:extLst>
  </p:cSld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2026-08-31T21:34:26.1500000Z</dcterms:created>
  <dcterms:modified xsi:type="dcterms:W3CDTF">2026-08-31T21:34:26.1500000Z</dcterms:modified>
</coreProperties>
</file>