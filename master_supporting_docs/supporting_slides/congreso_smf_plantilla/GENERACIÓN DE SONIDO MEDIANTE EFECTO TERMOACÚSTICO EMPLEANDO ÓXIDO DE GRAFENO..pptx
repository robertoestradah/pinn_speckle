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Lst>
  <p:sldSz cx="32399288" cy="46799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740" userDrawn="1">
          <p15:clr>
            <a:srgbClr val="A4A3A4"/>
          </p15:clr>
        </p15:guide>
        <p15:guide id="2" pos="102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28" d="100"/>
          <a:sy n="28" d="100"/>
        </p:scale>
        <p:origin x="654" y="-3048"/>
      </p:cViewPr>
      <p:guideLst>
        <p:guide orient="horz" pos="14740"/>
        <p:guide pos="102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659088"/>
            <a:ext cx="27539395" cy="16293159"/>
          </a:xfrm>
        </p:spPr>
        <p:txBody>
          <a:bodyPr anchor="b"/>
          <a:lstStyle>
            <a:lvl1pPr algn="ctr">
              <a:defRPr sz="21259"/>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4049911" y="24580574"/>
            <a:ext cx="24299466" cy="11299043"/>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859D279-7FFD-4108-AAC5-6DD8152157B1}" type="datetimeFigureOut">
              <a:rPr lang="es-MX" smtClean="0"/>
              <a:t>05/10/2023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264259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59D279-7FFD-4108-AAC5-6DD8152157B1}" type="datetimeFigureOut">
              <a:rPr lang="es-MX" smtClean="0"/>
              <a:t>05/10/2023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2550014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210578" y="11667389"/>
            <a:ext cx="27944386" cy="19467289"/>
          </a:xfrm>
        </p:spPr>
        <p:txBody>
          <a:bodyPr anchor="b"/>
          <a:lstStyle>
            <a:lvl1pPr>
              <a:defRPr sz="21259"/>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210578" y="31318846"/>
            <a:ext cx="27944386" cy="10237387"/>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59D279-7FFD-4108-AAC5-6DD8152157B1}" type="datetimeFigureOut">
              <a:rPr lang="es-MX" smtClean="0"/>
              <a:t>05/10/2023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2151862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227451" y="12458200"/>
            <a:ext cx="13769697" cy="2969385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6402140" y="12458200"/>
            <a:ext cx="13769697" cy="2969385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859D279-7FFD-4108-AAC5-6DD8152157B1}" type="datetimeFigureOut">
              <a:rPr lang="es-MX" smtClean="0"/>
              <a:t>05/10/2023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19491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231671" y="2491650"/>
            <a:ext cx="27944386" cy="90457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675" y="11472381"/>
            <a:ext cx="13706415" cy="5622437"/>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4" name="Content Placeholder 3"/>
          <p:cNvSpPr>
            <a:spLocks noGrp="1"/>
          </p:cNvSpPr>
          <p:nvPr>
            <p:ph sz="half" idx="2"/>
          </p:nvPr>
        </p:nvSpPr>
        <p:spPr>
          <a:xfrm>
            <a:off x="2231675" y="17094818"/>
            <a:ext cx="13706415" cy="251439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6402142" y="11472381"/>
            <a:ext cx="13773917" cy="5622437"/>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6" name="Content Placeholder 5"/>
          <p:cNvSpPr>
            <a:spLocks noGrp="1"/>
          </p:cNvSpPr>
          <p:nvPr>
            <p:ph sz="quarter" idx="4"/>
          </p:nvPr>
        </p:nvSpPr>
        <p:spPr>
          <a:xfrm>
            <a:off x="16402142" y="17094818"/>
            <a:ext cx="13773917" cy="251439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859D279-7FFD-4108-AAC5-6DD8152157B1}" type="datetimeFigureOut">
              <a:rPr lang="es-MX" smtClean="0"/>
              <a:t>05/10/2023</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3596318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859D279-7FFD-4108-AAC5-6DD8152157B1}" type="datetimeFigureOut">
              <a:rPr lang="es-MX" smtClean="0"/>
              <a:t>05/10/2023</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100365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59D279-7FFD-4108-AAC5-6DD8152157B1}" type="datetimeFigureOut">
              <a:rPr lang="es-MX" smtClean="0"/>
              <a:t>05/10/2023</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3911155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3119967"/>
            <a:ext cx="10449614" cy="10919883"/>
          </a:xfrm>
        </p:spPr>
        <p:txBody>
          <a:bodyPr anchor="b"/>
          <a:lstStyle>
            <a:lvl1pPr>
              <a:defRPr sz="11338"/>
            </a:lvl1pPr>
          </a:lstStyle>
          <a:p>
            <a:r>
              <a:rPr lang="es-ES"/>
              <a:t>Haga clic para modificar el estilo de título del patrón</a:t>
            </a:r>
            <a:endParaRPr lang="en-US" dirty="0"/>
          </a:p>
        </p:txBody>
      </p:sp>
      <p:sp>
        <p:nvSpPr>
          <p:cNvPr id="3" name="Content Placeholder 2"/>
          <p:cNvSpPr>
            <a:spLocks noGrp="1"/>
          </p:cNvSpPr>
          <p:nvPr>
            <p:ph idx="1"/>
          </p:nvPr>
        </p:nvSpPr>
        <p:spPr>
          <a:xfrm>
            <a:off x="13773917" y="6738272"/>
            <a:ext cx="16402140" cy="33257978"/>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231671" y="14039850"/>
            <a:ext cx="10449614" cy="26010559"/>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59D279-7FFD-4108-AAC5-6DD8152157B1}" type="datetimeFigureOut">
              <a:rPr lang="es-MX" smtClean="0"/>
              <a:t>05/10/2023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2733750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3119967"/>
            <a:ext cx="10449614" cy="10919883"/>
          </a:xfrm>
        </p:spPr>
        <p:txBody>
          <a:bodyPr anchor="b"/>
          <a:lstStyle>
            <a:lvl1pPr>
              <a:defRPr sz="11338"/>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73917" y="6738272"/>
            <a:ext cx="16402140" cy="33257978"/>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1671" y="14039850"/>
            <a:ext cx="10449614" cy="26010559"/>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59D279-7FFD-4108-AAC5-6DD8152157B1}" type="datetimeFigureOut">
              <a:rPr lang="es-MX" smtClean="0"/>
              <a:t>05/10/2023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1861037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59D279-7FFD-4108-AAC5-6DD8152157B1}" type="datetimeFigureOut">
              <a:rPr lang="es-MX" smtClean="0"/>
              <a:t>05/10/2023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1178340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491640"/>
            <a:ext cx="6986096" cy="3966041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27453" y="2491640"/>
            <a:ext cx="20553298" cy="3966041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59D279-7FFD-4108-AAC5-6DD8152157B1}" type="datetimeFigureOut">
              <a:rPr lang="es-MX" smtClean="0"/>
              <a:t>05/10/2023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E107B50-42F2-442C-8A9B-03B1021A57A2}" type="slidenum">
              <a:rPr lang="es-MX" smtClean="0"/>
              <a:t>‹Nº›</a:t>
            </a:fld>
            <a:endParaRPr lang="es-MX"/>
          </a:p>
        </p:txBody>
      </p:sp>
    </p:spTree>
    <p:extLst>
      <p:ext uri="{BB962C8B-B14F-4D97-AF65-F5344CB8AC3E}">
        <p14:creationId xmlns:p14="http://schemas.microsoft.com/office/powerpoint/2010/main" val="4161323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491650"/>
            <a:ext cx="27944386" cy="904574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27451" y="12458200"/>
            <a:ext cx="27944386" cy="2969385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227451" y="43376214"/>
            <a:ext cx="7289840" cy="2491640"/>
          </a:xfrm>
          <a:prstGeom prst="rect">
            <a:avLst/>
          </a:prstGeom>
        </p:spPr>
        <p:txBody>
          <a:bodyPr vert="horz" lIns="91440" tIns="45720" rIns="91440" bIns="45720" rtlCol="0" anchor="ctr"/>
          <a:lstStyle>
            <a:lvl1pPr algn="l">
              <a:defRPr sz="4252">
                <a:solidFill>
                  <a:schemeClr val="tx1">
                    <a:tint val="75000"/>
                  </a:schemeClr>
                </a:solidFill>
              </a:defRPr>
            </a:lvl1pPr>
          </a:lstStyle>
          <a:p>
            <a:fld id="{2859D279-7FFD-4108-AAC5-6DD8152157B1}" type="datetimeFigureOut">
              <a:rPr lang="es-MX" smtClean="0"/>
              <a:t>05/10/2023</a:t>
            </a:fld>
            <a:endParaRPr lang="es-MX"/>
          </a:p>
        </p:txBody>
      </p:sp>
      <p:sp>
        <p:nvSpPr>
          <p:cNvPr id="5" name="Footer Placeholder 4"/>
          <p:cNvSpPr>
            <a:spLocks noGrp="1"/>
          </p:cNvSpPr>
          <p:nvPr>
            <p:ph type="ftr" sz="quarter" idx="3"/>
          </p:nvPr>
        </p:nvSpPr>
        <p:spPr>
          <a:xfrm>
            <a:off x="10732264" y="43376214"/>
            <a:ext cx="10934760" cy="2491640"/>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22881997" y="43376214"/>
            <a:ext cx="7289840" cy="2491640"/>
          </a:xfrm>
          <a:prstGeom prst="rect">
            <a:avLst/>
          </a:prstGeom>
        </p:spPr>
        <p:txBody>
          <a:bodyPr vert="horz" lIns="91440" tIns="45720" rIns="91440" bIns="45720" rtlCol="0" anchor="ctr"/>
          <a:lstStyle>
            <a:lvl1pPr algn="r">
              <a:defRPr sz="4252">
                <a:solidFill>
                  <a:schemeClr val="tx1">
                    <a:tint val="75000"/>
                  </a:schemeClr>
                </a:solidFill>
              </a:defRPr>
            </a:lvl1pPr>
          </a:lstStyle>
          <a:p>
            <a:fld id="{9E107B50-42F2-442C-8A9B-03B1021A57A2}" type="slidenum">
              <a:rPr lang="es-MX" smtClean="0"/>
              <a:t>‹Nº›</a:t>
            </a:fld>
            <a:endParaRPr lang="es-MX"/>
          </a:p>
        </p:txBody>
      </p:sp>
    </p:spTree>
    <p:extLst>
      <p:ext uri="{BB962C8B-B14F-4D97-AF65-F5344CB8AC3E}">
        <p14:creationId xmlns:p14="http://schemas.microsoft.com/office/powerpoint/2010/main" val="529775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A422E3A7-1767-D4B3-844B-B6FF22A04F7A}"/>
              </a:ext>
            </a:extLst>
          </p:cNvPr>
          <p:cNvSpPr/>
          <p:nvPr/>
        </p:nvSpPr>
        <p:spPr>
          <a:xfrm>
            <a:off x="0" y="-223732"/>
            <a:ext cx="32399288" cy="5277809"/>
          </a:xfrm>
          <a:prstGeom prst="rect">
            <a:avLst/>
          </a:prstGeom>
          <a:solidFill>
            <a:schemeClr val="accent1">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3A9CE18A-15C1-D8DD-8A76-84C6D1781719}"/>
              </a:ext>
            </a:extLst>
          </p:cNvPr>
          <p:cNvSpPr>
            <a:spLocks noGrp="1"/>
          </p:cNvSpPr>
          <p:nvPr>
            <p:ph type="ctrTitle" idx="4294967295"/>
          </p:nvPr>
        </p:nvSpPr>
        <p:spPr>
          <a:xfrm>
            <a:off x="151606" y="294647"/>
            <a:ext cx="32247682" cy="4830762"/>
          </a:xfrm>
        </p:spPr>
        <p:txBody>
          <a:bodyPr>
            <a:normAutofit fontScale="90000"/>
          </a:bodyPr>
          <a:lstStyle/>
          <a:p>
            <a:pPr algn="ctr"/>
            <a:r>
              <a:rPr lang="es-MX" sz="5600" b="1" dirty="0">
                <a:latin typeface="Arial" panose="020B0604020202020204" pitchFamily="34" charset="0"/>
                <a:cs typeface="Arial" panose="020B0604020202020204" pitchFamily="34" charset="0"/>
              </a:rPr>
              <a:t>GENERACIÓN DE SONIDO MEDIANTE EFECTO TERMOACÚSTICO </a:t>
            </a:r>
            <a:br>
              <a:rPr lang="es-MX" sz="5600" b="1" dirty="0">
                <a:latin typeface="Arial" panose="020B0604020202020204" pitchFamily="34" charset="0"/>
                <a:cs typeface="Arial" panose="020B0604020202020204" pitchFamily="34" charset="0"/>
              </a:rPr>
            </a:br>
            <a:r>
              <a:rPr lang="es-MX" sz="5600" b="1" dirty="0">
                <a:latin typeface="Arial" panose="020B0604020202020204" pitchFamily="34" charset="0"/>
                <a:cs typeface="Arial" panose="020B0604020202020204" pitchFamily="34" charset="0"/>
              </a:rPr>
              <a:t>EMPLEANDO ÓXIDO DE GRAFENO.</a:t>
            </a:r>
            <a:br>
              <a:rPr lang="es-MX" sz="5600" b="1" dirty="0">
                <a:latin typeface="Arial" panose="020B0604020202020204" pitchFamily="34" charset="0"/>
                <a:cs typeface="Arial" panose="020B0604020202020204" pitchFamily="34" charset="0"/>
              </a:rPr>
            </a:br>
            <a:br>
              <a:rPr lang="es-MX" sz="4000" b="1" dirty="0">
                <a:latin typeface="Arial" panose="020B0604020202020204" pitchFamily="34" charset="0"/>
                <a:cs typeface="Arial" panose="020B0604020202020204" pitchFamily="34" charset="0"/>
              </a:rPr>
            </a:br>
            <a:r>
              <a:rPr lang="es-MX" sz="4000" b="1" dirty="0">
                <a:latin typeface="Arial" panose="020B0604020202020204" pitchFamily="34" charset="0"/>
                <a:cs typeface="Arial" panose="020B0604020202020204" pitchFamily="34" charset="0"/>
              </a:rPr>
              <a:t>Hernández Estrada Roberto, Feria Rodríguez Yuritzi </a:t>
            </a:r>
            <a:r>
              <a:rPr lang="es-MX" sz="4000" b="1" dirty="0" err="1">
                <a:latin typeface="Arial" panose="020B0604020202020204" pitchFamily="34" charset="0"/>
                <a:cs typeface="Arial" panose="020B0604020202020204" pitchFamily="34" charset="0"/>
              </a:rPr>
              <a:t>Azarel</a:t>
            </a:r>
            <a:r>
              <a:rPr lang="es-MX" sz="4000" b="1" dirty="0">
                <a:latin typeface="Arial" panose="020B0604020202020204" pitchFamily="34" charset="0"/>
                <a:cs typeface="Arial" panose="020B0604020202020204" pitchFamily="34" charset="0"/>
              </a:rPr>
              <a:t>, </a:t>
            </a:r>
            <a:r>
              <a:rPr lang="es-MX" sz="4000" b="1" dirty="0">
                <a:solidFill>
                  <a:srgbClr val="000000"/>
                </a:solidFill>
                <a:latin typeface="Arial" panose="020B0604020202020204" pitchFamily="34" charset="0"/>
                <a:cs typeface="Arial" panose="020B0604020202020204" pitchFamily="34" charset="0"/>
              </a:rPr>
              <a:t>Ramón Frías Abraham, </a:t>
            </a:r>
            <a:br>
              <a:rPr lang="es-MX" sz="4000" b="1" dirty="0">
                <a:solidFill>
                  <a:srgbClr val="000000"/>
                </a:solidFill>
                <a:latin typeface="Arial" panose="020B0604020202020204" pitchFamily="34" charset="0"/>
                <a:cs typeface="Arial" panose="020B0604020202020204" pitchFamily="34" charset="0"/>
              </a:rPr>
            </a:br>
            <a:r>
              <a:rPr lang="es-MX" sz="4000" b="1" dirty="0">
                <a:solidFill>
                  <a:srgbClr val="000000"/>
                </a:solidFill>
                <a:latin typeface="Arial" panose="020B0604020202020204" pitchFamily="34" charset="0"/>
                <a:cs typeface="Arial" panose="020B0604020202020204" pitchFamily="34" charset="0"/>
              </a:rPr>
              <a:t>Hernández García Kevin, R. Falconi y J.L. Benítez.</a:t>
            </a:r>
            <a:br>
              <a:rPr lang="es-MX" sz="4000" b="1" dirty="0">
                <a:latin typeface="Arial" panose="020B0604020202020204" pitchFamily="34" charset="0"/>
                <a:cs typeface="Arial" panose="020B0604020202020204" pitchFamily="34" charset="0"/>
              </a:rPr>
            </a:br>
            <a:r>
              <a:rPr lang="es-MX" sz="4000" dirty="0">
                <a:latin typeface="Arial" panose="020B0604020202020204" pitchFamily="34" charset="0"/>
                <a:cs typeface="Arial" panose="020B0604020202020204" pitchFamily="34" charset="0"/>
              </a:rPr>
              <a:t>División Académica de Ciencias Básicas, Universidad Juárez Autónoma de Tabasco, </a:t>
            </a:r>
            <a:br>
              <a:rPr lang="es-MX" sz="4000" dirty="0">
                <a:latin typeface="Arial" panose="020B0604020202020204" pitchFamily="34" charset="0"/>
                <a:cs typeface="Arial" panose="020B0604020202020204" pitchFamily="34" charset="0"/>
              </a:rPr>
            </a:br>
            <a:r>
              <a:rPr lang="es-MX" sz="4000" dirty="0">
                <a:latin typeface="Arial" panose="020B0604020202020204" pitchFamily="34" charset="0"/>
                <a:cs typeface="Arial" panose="020B0604020202020204" pitchFamily="34" charset="0"/>
              </a:rPr>
              <a:t>Km 1 Ctra. Cunduacán-Jalpa, Apartado Postal 24, 86690 Cunduacán, Tabasco, México</a:t>
            </a:r>
            <a:br>
              <a:rPr lang="es-MX" sz="3600" dirty="0">
                <a:latin typeface="Arial" panose="020B0604020202020204" pitchFamily="34" charset="0"/>
                <a:cs typeface="Arial" panose="020B0604020202020204" pitchFamily="34" charset="0"/>
              </a:rPr>
            </a:br>
            <a:r>
              <a:rPr lang="es-MX" sz="3600" dirty="0">
                <a:latin typeface="Arial" panose="020B0604020202020204" pitchFamily="34" charset="0"/>
                <a:cs typeface="Arial" panose="020B0604020202020204" pitchFamily="34" charset="0"/>
              </a:rPr>
              <a:t>robehdzestrada@gmail.com</a:t>
            </a:r>
          </a:p>
        </p:txBody>
      </p:sp>
      <p:pic>
        <p:nvPicPr>
          <p:cNvPr id="5" name="Imagen 4">
            <a:extLst>
              <a:ext uri="{FF2B5EF4-FFF2-40B4-BE49-F238E27FC236}">
                <a16:creationId xmlns:a16="http://schemas.microsoft.com/office/drawing/2014/main" id="{817B37AE-5D78-7183-9530-0FCC4D933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2434" y="280106"/>
            <a:ext cx="3324835" cy="4270131"/>
          </a:xfrm>
          <a:prstGeom prst="rect">
            <a:avLst/>
          </a:prstGeom>
        </p:spPr>
      </p:pic>
      <p:pic>
        <p:nvPicPr>
          <p:cNvPr id="11" name="Imagen 10">
            <a:extLst>
              <a:ext uri="{FF2B5EF4-FFF2-40B4-BE49-F238E27FC236}">
                <a16:creationId xmlns:a16="http://schemas.microsoft.com/office/drawing/2014/main" id="{90A88BD3-8101-28CF-A00D-B7CABF42DD1B}"/>
              </a:ext>
            </a:extLst>
          </p:cNvPr>
          <p:cNvPicPr>
            <a:picLocks noChangeAspect="1"/>
          </p:cNvPicPr>
          <p:nvPr/>
        </p:nvPicPr>
        <p:blipFill rotWithShape="1">
          <a:blip r:embed="rId3"/>
          <a:srcRect l="27243" r="25987" b="37906"/>
          <a:stretch/>
        </p:blipFill>
        <p:spPr>
          <a:xfrm>
            <a:off x="801756" y="591290"/>
            <a:ext cx="2855844" cy="3774783"/>
          </a:xfrm>
          <a:prstGeom prst="rect">
            <a:avLst/>
          </a:prstGeom>
        </p:spPr>
      </p:pic>
      <p:sp>
        <p:nvSpPr>
          <p:cNvPr id="46" name="Rectángulo 45">
            <a:extLst>
              <a:ext uri="{FF2B5EF4-FFF2-40B4-BE49-F238E27FC236}">
                <a16:creationId xmlns:a16="http://schemas.microsoft.com/office/drawing/2014/main" id="{892B14FF-9930-BF36-FC1F-8BD9159D9782}"/>
              </a:ext>
            </a:extLst>
          </p:cNvPr>
          <p:cNvSpPr/>
          <p:nvPr/>
        </p:nvSpPr>
        <p:spPr>
          <a:xfrm>
            <a:off x="0" y="4911756"/>
            <a:ext cx="32399288" cy="58199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CuadroTexto 46">
            <a:extLst>
              <a:ext uri="{FF2B5EF4-FFF2-40B4-BE49-F238E27FC236}">
                <a16:creationId xmlns:a16="http://schemas.microsoft.com/office/drawing/2014/main" id="{873F68A6-0A1E-48C9-3F15-78C7CE186FDD}"/>
              </a:ext>
            </a:extLst>
          </p:cNvPr>
          <p:cNvSpPr txBox="1"/>
          <p:nvPr/>
        </p:nvSpPr>
        <p:spPr>
          <a:xfrm>
            <a:off x="22142633" y="35021256"/>
            <a:ext cx="9304636" cy="5786199"/>
          </a:xfrm>
          <a:prstGeom prst="rect">
            <a:avLst/>
          </a:prstGeom>
          <a:solidFill>
            <a:schemeClr val="accent1">
              <a:lumMod val="75000"/>
            </a:schemeClr>
          </a:solidFill>
          <a:ln>
            <a:solidFill>
              <a:schemeClr val="accent6">
                <a:lumMod val="20000"/>
                <a:lumOff val="80000"/>
              </a:schemeClr>
            </a:solidFill>
          </a:ln>
        </p:spPr>
        <p:txBody>
          <a:bodyPr wrap="square" rtlCol="0">
            <a:spAutoFit/>
          </a:bodyPr>
          <a:lstStyle/>
          <a:p>
            <a:pPr algn="ctr"/>
            <a:r>
              <a:rPr lang="es-MX" sz="3200" b="1" dirty="0">
                <a:solidFill>
                  <a:schemeClr val="bg1"/>
                </a:solidFill>
                <a:latin typeface="Arial" panose="020B0604020202020204" pitchFamily="34" charset="0"/>
                <a:cs typeface="Arial" panose="020B0604020202020204" pitchFamily="34" charset="0"/>
              </a:rPr>
              <a:t>5. CONCLUSIONES.</a:t>
            </a:r>
          </a:p>
          <a:p>
            <a:pPr algn="just"/>
            <a:endParaRPr lang="es-MX" sz="3200" b="1" dirty="0">
              <a:solidFill>
                <a:schemeClr val="bg1"/>
              </a:solidFill>
              <a:latin typeface="Arial" panose="020B0604020202020204" pitchFamily="34" charset="0"/>
              <a:cs typeface="Arial" panose="020B0604020202020204" pitchFamily="34" charset="0"/>
            </a:endParaRPr>
          </a:p>
          <a:p>
            <a:pPr algn="just"/>
            <a:r>
              <a:rPr lang="es-MX" sz="3400" dirty="0">
                <a:solidFill>
                  <a:schemeClr val="bg1"/>
                </a:solidFill>
                <a:latin typeface="Arial" panose="020B0604020202020204" pitchFamily="34" charset="0"/>
                <a:cs typeface="Arial" panose="020B0604020202020204" pitchFamily="34" charset="0"/>
              </a:rPr>
              <a:t>Se pudo observar como el efecto termoacústico actuó en la bocina empleada de óxido de grafeno, ya que si se aplicaba una frecuencia de la corriente alterna se obtenía una frecuencia acústica de aproximadamente el doble. </a:t>
            </a:r>
          </a:p>
          <a:p>
            <a:pPr algn="just"/>
            <a:r>
              <a:rPr lang="es-MX" sz="3400" dirty="0">
                <a:solidFill>
                  <a:schemeClr val="bg1"/>
                </a:solidFill>
                <a:latin typeface="Arial" panose="020B0604020202020204" pitchFamily="34" charset="0"/>
                <a:cs typeface="Arial" panose="020B0604020202020204" pitchFamily="34" charset="0"/>
              </a:rPr>
              <a:t>L</a:t>
            </a:r>
            <a:r>
              <a:rPr lang="es-MX" sz="3400" i="0" dirty="0">
                <a:solidFill>
                  <a:schemeClr val="bg1"/>
                </a:solidFill>
                <a:effectLst/>
                <a:latin typeface="Arial" panose="020B0604020202020204" pitchFamily="34" charset="0"/>
                <a:cs typeface="Arial" panose="020B0604020202020204" pitchFamily="34" charset="0"/>
              </a:rPr>
              <a:t>as ondas termoacústicas tienen una amplia gama de aplicaciones en diversos campos de la ciencia y la tecnología.</a:t>
            </a:r>
            <a:endParaRPr lang="es-MX" sz="3400"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14" name="AutoShape 2">
            <a:extLst>
              <a:ext uri="{FF2B5EF4-FFF2-40B4-BE49-F238E27FC236}">
                <a16:creationId xmlns:a16="http://schemas.microsoft.com/office/drawing/2014/main" id="{BAF848EE-9FA9-475F-D7D6-E7C59CE42076}"/>
              </a:ext>
            </a:extLst>
          </p:cNvPr>
          <p:cNvSpPr>
            <a:spLocks noChangeAspect="1" noChangeArrowheads="1"/>
          </p:cNvSpPr>
          <p:nvPr/>
        </p:nvSpPr>
        <p:spPr bwMode="auto">
          <a:xfrm>
            <a:off x="16046450" y="232465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15" name="AutoShape 4">
            <a:extLst>
              <a:ext uri="{FF2B5EF4-FFF2-40B4-BE49-F238E27FC236}">
                <a16:creationId xmlns:a16="http://schemas.microsoft.com/office/drawing/2014/main" id="{651A537B-9BF8-507F-10FD-849E59C2D3B3}"/>
              </a:ext>
            </a:extLst>
          </p:cNvPr>
          <p:cNvSpPr>
            <a:spLocks noChangeAspect="1" noChangeArrowheads="1"/>
          </p:cNvSpPr>
          <p:nvPr/>
        </p:nvSpPr>
        <p:spPr bwMode="auto">
          <a:xfrm>
            <a:off x="16198850" y="233989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22" name="CuadroTexto 21">
            <a:extLst>
              <a:ext uri="{FF2B5EF4-FFF2-40B4-BE49-F238E27FC236}">
                <a16:creationId xmlns:a16="http://schemas.microsoft.com/office/drawing/2014/main" id="{57B01137-9338-D708-A712-9371BAAEDAF1}"/>
              </a:ext>
            </a:extLst>
          </p:cNvPr>
          <p:cNvSpPr txBox="1"/>
          <p:nvPr/>
        </p:nvSpPr>
        <p:spPr>
          <a:xfrm>
            <a:off x="694086" y="44253211"/>
            <a:ext cx="30392967" cy="2062103"/>
          </a:xfrm>
          <a:prstGeom prst="rect">
            <a:avLst/>
          </a:prstGeom>
          <a:noFill/>
        </p:spPr>
        <p:txBody>
          <a:bodyPr wrap="square" rtlCol="0">
            <a:spAutoFit/>
          </a:bodyPr>
          <a:lstStyle/>
          <a:p>
            <a:r>
              <a:rPr lang="es-MX" sz="3200" b="1" dirty="0">
                <a:latin typeface="Arial" panose="020B0604020202020204" pitchFamily="34" charset="0"/>
                <a:cs typeface="Arial" panose="020B0604020202020204" pitchFamily="34" charset="0"/>
              </a:rPr>
              <a:t>7. FUENTES CITADAS.</a:t>
            </a:r>
          </a:p>
          <a:p>
            <a:pPr algn="just"/>
            <a:r>
              <a:rPr lang="es-MX" sz="3200" dirty="0">
                <a:effectLst/>
                <a:latin typeface="Arial" panose="020B0604020202020204" pitchFamily="34" charset="0"/>
                <a:cs typeface="Arial" panose="020B0604020202020204" pitchFamily="34" charset="0"/>
              </a:rPr>
              <a:t>[1] </a:t>
            </a:r>
            <a:r>
              <a:rPr lang="es-MX" sz="3200" dirty="0" err="1">
                <a:effectLst/>
                <a:latin typeface="Arial" panose="020B0604020202020204" pitchFamily="34" charset="0"/>
                <a:cs typeface="Arial" panose="020B0604020202020204" pitchFamily="34" charset="0"/>
              </a:rPr>
              <a:t>Huelsz</a:t>
            </a:r>
            <a:r>
              <a:rPr lang="es-MX" sz="3200" dirty="0">
                <a:effectLst/>
                <a:latin typeface="Arial" panose="020B0604020202020204" pitchFamily="34" charset="0"/>
                <a:cs typeface="Arial" panose="020B0604020202020204" pitchFamily="34" charset="0"/>
              </a:rPr>
              <a:t>, G. (s/f). </a:t>
            </a:r>
            <a:r>
              <a:rPr lang="es-MX" sz="3200" i="1" dirty="0">
                <a:effectLst/>
                <a:latin typeface="Arial" panose="020B0604020202020204" pitchFamily="34" charset="0"/>
                <a:cs typeface="Arial" panose="020B0604020202020204" pitchFamily="34" charset="0"/>
              </a:rPr>
              <a:t>Efecto termoacústico y sus aplicaciones</a:t>
            </a:r>
            <a:r>
              <a:rPr lang="es-MX" sz="3200" dirty="0">
                <a:effectLst/>
                <a:latin typeface="Arial" panose="020B0604020202020204" pitchFamily="34" charset="0"/>
                <a:cs typeface="Arial" panose="020B0604020202020204" pitchFamily="34" charset="0"/>
              </a:rPr>
              <a:t>. Unam.mx. </a:t>
            </a:r>
          </a:p>
          <a:p>
            <a:r>
              <a:rPr lang="en-US" sz="3200" dirty="0">
                <a:effectLst/>
                <a:latin typeface="Arial" panose="020B0604020202020204" pitchFamily="34" charset="0"/>
                <a:cs typeface="Arial" panose="020B0604020202020204" pitchFamily="34" charset="0"/>
              </a:rPr>
              <a:t>[2] Arnold, H. D., &amp; Crandall., I. B. (1917). The thermophone as a precision source of sound. </a:t>
            </a:r>
            <a:r>
              <a:rPr lang="en-US" sz="3200" i="1" dirty="0">
                <a:effectLst/>
                <a:latin typeface="Arial" panose="020B0604020202020204" pitchFamily="34" charset="0"/>
                <a:cs typeface="Arial" panose="020B0604020202020204" pitchFamily="34" charset="0"/>
              </a:rPr>
              <a:t>The Physical Review</a:t>
            </a:r>
            <a:r>
              <a:rPr lang="en-US" sz="3200" dirty="0">
                <a:effectLst/>
                <a:latin typeface="Arial" panose="020B0604020202020204" pitchFamily="34" charset="0"/>
                <a:cs typeface="Arial" panose="020B0604020202020204" pitchFamily="34" charset="0"/>
              </a:rPr>
              <a:t>, </a:t>
            </a:r>
            <a:r>
              <a:rPr lang="en-US" sz="3200" i="1" dirty="0">
                <a:effectLst/>
                <a:latin typeface="Arial" panose="020B0604020202020204" pitchFamily="34" charset="0"/>
                <a:cs typeface="Arial" panose="020B0604020202020204" pitchFamily="34" charset="0"/>
              </a:rPr>
              <a:t>10</a:t>
            </a:r>
            <a:r>
              <a:rPr lang="en-US" sz="3200" dirty="0">
                <a:effectLst/>
                <a:latin typeface="Arial" panose="020B0604020202020204" pitchFamily="34" charset="0"/>
                <a:cs typeface="Arial" panose="020B0604020202020204" pitchFamily="34" charset="0"/>
              </a:rPr>
              <a:t>(1), 22–38. </a:t>
            </a:r>
          </a:p>
          <a:p>
            <a:r>
              <a:rPr lang="es-MX" sz="3200" dirty="0">
                <a:latin typeface="Arial" panose="020B0604020202020204" pitchFamily="34" charset="0"/>
                <a:cs typeface="Arial" panose="020B0604020202020204" pitchFamily="34" charset="0"/>
              </a:rPr>
              <a:t>[3] H. </a:t>
            </a:r>
            <a:r>
              <a:rPr lang="es-MX" sz="3200" dirty="0" err="1">
                <a:latin typeface="Arial" panose="020B0604020202020204" pitchFamily="34" charset="0"/>
                <a:cs typeface="Arial" panose="020B0604020202020204" pitchFamily="34" charset="0"/>
              </a:rPr>
              <a:t>Tian</a:t>
            </a:r>
            <a:r>
              <a:rPr lang="es-MX" sz="3200" dirty="0">
                <a:latin typeface="Arial" panose="020B0604020202020204" pitchFamily="34" charset="0"/>
                <a:cs typeface="Arial" panose="020B0604020202020204" pitchFamily="34" charset="0"/>
              </a:rPr>
              <a:t>, T.L. Ren, D. </a:t>
            </a:r>
            <a:r>
              <a:rPr lang="es-MX" sz="3200" dirty="0" err="1">
                <a:latin typeface="Arial" panose="020B0604020202020204" pitchFamily="34" charset="0"/>
                <a:cs typeface="Arial" panose="020B0604020202020204" pitchFamily="34" charset="0"/>
              </a:rPr>
              <a:t>Xie</a:t>
            </a:r>
            <a:r>
              <a:rPr lang="es-MX" sz="3200" dirty="0">
                <a:latin typeface="Arial" panose="020B0604020202020204" pitchFamily="34" charset="0"/>
                <a:cs typeface="Arial" panose="020B0604020202020204" pitchFamily="34" charset="0"/>
              </a:rPr>
              <a:t>, Y.F. Wang, C.J. Zhou, T.T. Feng, D. Fu, Y. Yang, P.G. </a:t>
            </a:r>
            <a:r>
              <a:rPr lang="es-MX" sz="3200" dirty="0" err="1">
                <a:latin typeface="Arial" panose="020B0604020202020204" pitchFamily="34" charset="0"/>
                <a:cs typeface="Arial" panose="020B0604020202020204" pitchFamily="34" charset="0"/>
              </a:rPr>
              <a:t>Peng</a:t>
            </a:r>
            <a:r>
              <a:rPr lang="es-MX" sz="3200" dirty="0">
                <a:latin typeface="Arial" panose="020B0604020202020204" pitchFamily="34" charset="0"/>
                <a:cs typeface="Arial" panose="020B0604020202020204" pitchFamily="34" charset="0"/>
              </a:rPr>
              <a:t>, L.G. Wang, Graphene-</a:t>
            </a:r>
            <a:r>
              <a:rPr lang="es-MX" sz="3200" dirty="0" err="1">
                <a:latin typeface="Arial" panose="020B0604020202020204" pitchFamily="34" charset="0"/>
                <a:cs typeface="Arial" panose="020B0604020202020204" pitchFamily="34" charset="0"/>
              </a:rPr>
              <a:t>on</a:t>
            </a:r>
            <a:r>
              <a:rPr lang="es-MX" sz="3200" dirty="0">
                <a:latin typeface="Arial" panose="020B0604020202020204" pitchFamily="34" charset="0"/>
                <a:cs typeface="Arial" panose="020B0604020202020204" pitchFamily="34" charset="0"/>
              </a:rPr>
              <a:t>-</a:t>
            </a:r>
            <a:r>
              <a:rPr lang="es-MX" sz="3200" dirty="0" err="1">
                <a:latin typeface="Arial" panose="020B0604020202020204" pitchFamily="34" charset="0"/>
                <a:cs typeface="Arial" panose="020B0604020202020204" pitchFamily="34" charset="0"/>
              </a:rPr>
              <a:t>paper</a:t>
            </a:r>
            <a:r>
              <a:rPr lang="es-MX" sz="3200" dirty="0">
                <a:latin typeface="Arial" panose="020B0604020202020204" pitchFamily="34" charset="0"/>
                <a:cs typeface="Arial" panose="020B0604020202020204" pitchFamily="34" charset="0"/>
              </a:rPr>
              <a:t> </a:t>
            </a:r>
            <a:r>
              <a:rPr lang="es-MX" sz="3200" dirty="0" err="1">
                <a:latin typeface="Arial" panose="020B0604020202020204" pitchFamily="34" charset="0"/>
                <a:cs typeface="Arial" panose="020B0604020202020204" pitchFamily="34" charset="0"/>
              </a:rPr>
              <a:t>sound</a:t>
            </a:r>
            <a:r>
              <a:rPr lang="es-MX" sz="3200" dirty="0">
                <a:latin typeface="Arial" panose="020B0604020202020204" pitchFamily="34" charset="0"/>
                <a:cs typeface="Arial" panose="020B0604020202020204" pitchFamily="34" charset="0"/>
              </a:rPr>
              <a:t> </a:t>
            </a:r>
            <a:r>
              <a:rPr lang="es-MX" sz="3200" dirty="0" err="1">
                <a:latin typeface="Arial" panose="020B0604020202020204" pitchFamily="34" charset="0"/>
                <a:cs typeface="Arial" panose="020B0604020202020204" pitchFamily="34" charset="0"/>
              </a:rPr>
              <a:t>source</a:t>
            </a:r>
            <a:r>
              <a:rPr lang="es-MX" sz="3200" dirty="0">
                <a:latin typeface="Arial" panose="020B0604020202020204" pitchFamily="34" charset="0"/>
                <a:cs typeface="Arial" panose="020B0604020202020204" pitchFamily="34" charset="0"/>
              </a:rPr>
              <a:t> </a:t>
            </a:r>
            <a:r>
              <a:rPr lang="es-MX" sz="3200" dirty="0" err="1">
                <a:latin typeface="Arial" panose="020B0604020202020204" pitchFamily="34" charset="0"/>
                <a:cs typeface="Arial" panose="020B0604020202020204" pitchFamily="34" charset="0"/>
              </a:rPr>
              <a:t>devices</a:t>
            </a:r>
            <a:r>
              <a:rPr lang="es-MX" sz="3200" dirty="0">
                <a:latin typeface="Arial" panose="020B0604020202020204" pitchFamily="34" charset="0"/>
                <a:cs typeface="Arial" panose="020B0604020202020204" pitchFamily="34" charset="0"/>
              </a:rPr>
              <a:t>, ACS Nano 5 (2011)</a:t>
            </a:r>
            <a:endParaRPr lang="es-MX" sz="3200" b="1"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039E41CE-2B9A-EB31-C82A-02B5B5DD60BF}"/>
              </a:ext>
            </a:extLst>
          </p:cNvPr>
          <p:cNvSpPr txBox="1"/>
          <p:nvPr/>
        </p:nvSpPr>
        <p:spPr>
          <a:xfrm>
            <a:off x="801756" y="13727505"/>
            <a:ext cx="9547221" cy="2287806"/>
          </a:xfrm>
          <a:prstGeom prst="rect">
            <a:avLst/>
          </a:prstGeom>
          <a:noFill/>
        </p:spPr>
        <p:txBody>
          <a:bodyPr wrap="square">
            <a:spAutoFit/>
          </a:bodyPr>
          <a:lstStyle/>
          <a:p>
            <a:pPr algn="ctr">
              <a:spcAft>
                <a:spcPts val="800"/>
              </a:spcAft>
            </a:pPr>
            <a:r>
              <a:rPr lang="es-MX" sz="3400" b="1" kern="100" dirty="0">
                <a:latin typeface="Arial" panose="020B0604020202020204" pitchFamily="34" charset="0"/>
                <a:ea typeface="Calibri" panose="020F0502020204030204" pitchFamily="34" charset="0"/>
                <a:cs typeface="Arial" panose="020B0604020202020204" pitchFamily="34" charset="0"/>
              </a:rPr>
              <a:t>2. OBJETIVO.</a:t>
            </a:r>
          </a:p>
          <a:p>
            <a:pPr algn="just">
              <a:spcAft>
                <a:spcPts val="800"/>
              </a:spcAft>
            </a:pPr>
            <a:r>
              <a:rPr lang="es-MX" sz="3400" kern="100" dirty="0">
                <a:effectLst/>
                <a:latin typeface="Arial" panose="020B0604020202020204" pitchFamily="34" charset="0"/>
                <a:ea typeface="Calibri" panose="020F0502020204030204" pitchFamily="34" charset="0"/>
                <a:cs typeface="Arial" panose="020B0604020202020204" pitchFamily="34" charset="0"/>
              </a:rPr>
              <a:t>Explorar y demostrar el potencial del efecto termoacústico del óxido de grafeno para la generación de sonido.</a:t>
            </a:r>
          </a:p>
        </p:txBody>
      </p:sp>
      <p:sp>
        <p:nvSpPr>
          <p:cNvPr id="4" name="CuadroTexto 3">
            <a:extLst>
              <a:ext uri="{FF2B5EF4-FFF2-40B4-BE49-F238E27FC236}">
                <a16:creationId xmlns:a16="http://schemas.microsoft.com/office/drawing/2014/main" id="{C663530F-9B89-3E78-7D39-A42DCBAF6EC2}"/>
              </a:ext>
            </a:extLst>
          </p:cNvPr>
          <p:cNvSpPr txBox="1"/>
          <p:nvPr/>
        </p:nvSpPr>
        <p:spPr>
          <a:xfrm>
            <a:off x="22171005" y="14270705"/>
            <a:ext cx="9454899" cy="20664568"/>
          </a:xfrm>
          <a:prstGeom prst="rect">
            <a:avLst/>
          </a:prstGeom>
          <a:noFill/>
        </p:spPr>
        <p:txBody>
          <a:bodyPr wrap="square">
            <a:spAutoFit/>
          </a:bodyPr>
          <a:lstStyle/>
          <a:p>
            <a:pPr algn="ctr">
              <a:lnSpc>
                <a:spcPct val="107000"/>
              </a:lnSpc>
              <a:spcAft>
                <a:spcPts val="800"/>
              </a:spcAft>
            </a:pPr>
            <a:r>
              <a:rPr lang="es-MX" sz="3400" b="1" dirty="0">
                <a:latin typeface="Arial" panose="020B0604020202020204" pitchFamily="34" charset="0"/>
                <a:ea typeface="Calibri" panose="020F0502020204030204" pitchFamily="34" charset="0"/>
                <a:cs typeface="Arial" panose="020B0604020202020204" pitchFamily="34" charset="0"/>
              </a:rPr>
              <a:t>4. RESULTADOS.</a:t>
            </a:r>
          </a:p>
          <a:p>
            <a:pPr algn="ctr">
              <a:lnSpc>
                <a:spcPct val="107000"/>
              </a:lnSpc>
              <a:spcAft>
                <a:spcPts val="800"/>
              </a:spcAft>
            </a:pPr>
            <a:endParaRPr lang="es-MX" sz="3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s-MX" sz="3400" dirty="0">
                <a:latin typeface="Arial" panose="020B0604020202020204" pitchFamily="34" charset="0"/>
                <a:ea typeface="Calibri" panose="020F0502020204030204" pitchFamily="34" charset="0"/>
                <a:cs typeface="Arial" panose="020B0604020202020204" pitchFamily="34" charset="0"/>
              </a:rPr>
              <a:t>En esta gráfica se muestra los resultados obtenidos de los diferentes resultados obtenidos de la bocina termoacústica empleando el óxido de grafeno [figura 7 y 8].</a:t>
            </a: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3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s-MX" sz="2400" b="1" dirty="0">
                <a:latin typeface="Arial" panose="020B0604020202020204" pitchFamily="34" charset="0"/>
                <a:ea typeface="Calibri" panose="020F0502020204030204" pitchFamily="34" charset="0"/>
                <a:cs typeface="Arial" panose="020B0604020202020204" pitchFamily="34" charset="0"/>
              </a:rPr>
              <a:t>FIGURA 7. SEÑALES DE SONIDO MEDIDO MEDIANTE UN ELECTRETE.</a:t>
            </a: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endParaRPr lang="es-MX" sz="2400" b="1"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s-MX" sz="2400" b="1" dirty="0">
                <a:latin typeface="Arial" panose="020B0604020202020204" pitchFamily="34" charset="0"/>
                <a:ea typeface="Calibri" panose="020F0502020204030204" pitchFamily="34" charset="0"/>
                <a:cs typeface="Arial" panose="020B0604020202020204" pitchFamily="34" charset="0"/>
              </a:rPr>
              <a:t>FIGURA 8. GRÁFICA DE LA FRECUENCIA DEL EFECTO TERMOACÚSTICO.</a:t>
            </a:r>
            <a:endParaRPr lang="es-MX" sz="3400" b="1" dirty="0">
              <a:latin typeface="Arial" panose="020B0604020202020204" pitchFamily="34" charset="0"/>
              <a:ea typeface="Calibri" panose="020F050202020403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29C69117-B6EA-8074-3F79-D230F177C65B}"/>
              </a:ext>
            </a:extLst>
          </p:cNvPr>
          <p:cNvSpPr txBox="1"/>
          <p:nvPr/>
        </p:nvSpPr>
        <p:spPr>
          <a:xfrm>
            <a:off x="711392" y="6039431"/>
            <a:ext cx="9637585" cy="7355860"/>
          </a:xfrm>
          <a:prstGeom prst="rect">
            <a:avLst/>
          </a:prstGeom>
          <a:solidFill>
            <a:schemeClr val="accent1">
              <a:lumMod val="7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514350" indent="-514350" algn="ctr">
              <a:buAutoNum type="arabicPeriod"/>
            </a:pPr>
            <a:r>
              <a:rPr lang="es-MX" sz="3200" b="1" dirty="0">
                <a:solidFill>
                  <a:schemeClr val="bg1"/>
                </a:solidFill>
                <a:latin typeface="Arial" panose="020B0604020202020204" pitchFamily="34" charset="0"/>
                <a:cs typeface="Arial" panose="020B0604020202020204" pitchFamily="34" charset="0"/>
              </a:rPr>
              <a:t>RESUMEN.</a:t>
            </a:r>
          </a:p>
          <a:p>
            <a:pPr marL="514350" indent="-514350" algn="ctr">
              <a:buAutoNum type="arabicPeriod"/>
            </a:pPr>
            <a:endParaRPr lang="es-MX" sz="3200" b="1" dirty="0">
              <a:solidFill>
                <a:schemeClr val="bg1"/>
              </a:solidFill>
              <a:latin typeface="Arial" panose="020B0604020202020204" pitchFamily="34" charset="0"/>
              <a:cs typeface="Arial" panose="020B0604020202020204" pitchFamily="34" charset="0"/>
            </a:endParaRPr>
          </a:p>
          <a:p>
            <a:pPr algn="just"/>
            <a:r>
              <a:rPr lang="es-MX" sz="3400" dirty="0">
                <a:solidFill>
                  <a:schemeClr val="bg1"/>
                </a:solidFill>
                <a:effectLst/>
                <a:latin typeface="Arial" panose="020B0604020202020204" pitchFamily="34" charset="0"/>
                <a:ea typeface="Arial" panose="020B0604020202020204" pitchFamily="34" charset="0"/>
                <a:cs typeface="Arial" panose="020B0604020202020204" pitchFamily="34" charset="0"/>
              </a:rPr>
              <a:t>Se presenta el uso de óxido de grafeno para generar sonido, empleando el fenómeno termoacústico, </a:t>
            </a:r>
            <a:r>
              <a:rPr lang="es-MX" sz="3400" dirty="0">
                <a:solidFill>
                  <a:schemeClr val="bg1"/>
                </a:solidFill>
                <a:latin typeface="Arial" panose="020B0604020202020204" pitchFamily="34" charset="0"/>
                <a:ea typeface="Arial" panose="020B0604020202020204" pitchFamily="34" charset="0"/>
                <a:cs typeface="Arial" panose="020B0604020202020204" pitchFamily="34" charset="0"/>
              </a:rPr>
              <a:t> aplicando un voltaje de polarización  entre dos electrodos </a:t>
            </a:r>
            <a:r>
              <a:rPr lang="es-MX" sz="3400" dirty="0">
                <a:solidFill>
                  <a:schemeClr val="bg1"/>
                </a:solidFill>
                <a:effectLst/>
                <a:latin typeface="Arial" panose="020B0604020202020204" pitchFamily="34" charset="0"/>
                <a:ea typeface="Arial" panose="020B0604020202020204" pitchFamily="34" charset="0"/>
                <a:cs typeface="Arial" panose="020B0604020202020204" pitchFamily="34" charset="0"/>
              </a:rPr>
              <a:t> coplanares.</a:t>
            </a:r>
            <a:endParaRPr lang="es-MX" sz="3400" dirty="0">
              <a:solidFill>
                <a:schemeClr val="bg1"/>
              </a:solidFill>
              <a:latin typeface="Arial" panose="020B0604020202020204" pitchFamily="34" charset="0"/>
              <a:cs typeface="Arial" panose="020B0604020202020204" pitchFamily="34" charset="0"/>
            </a:endParaRPr>
          </a:p>
          <a:p>
            <a:pPr algn="just"/>
            <a:r>
              <a:rPr lang="es-MX" sz="3400" b="0" i="0" dirty="0">
                <a:solidFill>
                  <a:schemeClr val="bg1"/>
                </a:solidFill>
                <a:effectLst/>
                <a:latin typeface="Arial" panose="020B0604020202020204" pitchFamily="34" charset="0"/>
                <a:cs typeface="Arial" panose="020B0604020202020204" pitchFamily="34" charset="0"/>
              </a:rPr>
              <a:t>Las variaciones de temperaturas son generadas por el calentamiento debido al efecto joule. Estas variaciones de la temperatura provocan cambios locales en la densidad del aire cercano al óxido de grafeno, generando ondas acústicas. Las frecuencias características del sonido  de este fenómeno siempre son el doble de la frecuencia de excitación. </a:t>
            </a:r>
            <a:endParaRPr lang="es-MX" sz="3400" dirty="0">
              <a:solidFill>
                <a:schemeClr val="bg1"/>
              </a:solidFill>
              <a:latin typeface="Arial" panose="020B0604020202020204" pitchFamily="34" charset="0"/>
              <a:cs typeface="Arial" panose="020B0604020202020204" pitchFamily="34" charset="0"/>
            </a:endParaRPr>
          </a:p>
        </p:txBody>
      </p:sp>
      <p:sp>
        <p:nvSpPr>
          <p:cNvPr id="16" name="CuadroTexto 15">
            <a:extLst>
              <a:ext uri="{FF2B5EF4-FFF2-40B4-BE49-F238E27FC236}">
                <a16:creationId xmlns:a16="http://schemas.microsoft.com/office/drawing/2014/main" id="{A03E13D9-BF07-B852-EF14-2366F34C9B29}"/>
              </a:ext>
            </a:extLst>
          </p:cNvPr>
          <p:cNvSpPr txBox="1"/>
          <p:nvPr/>
        </p:nvSpPr>
        <p:spPr>
          <a:xfrm>
            <a:off x="11430953" y="9340563"/>
            <a:ext cx="9688987" cy="34470975"/>
          </a:xfrm>
          <a:prstGeom prst="rect">
            <a:avLst/>
          </a:prstGeom>
          <a:noFill/>
        </p:spPr>
        <p:txBody>
          <a:bodyPr wrap="square">
            <a:spAutoFit/>
          </a:bodyPr>
          <a:lstStyle/>
          <a:p>
            <a:pPr algn="ctr"/>
            <a:r>
              <a:rPr lang="es-MX" sz="3400" b="1" dirty="0">
                <a:latin typeface="Arial" panose="020B0604020202020204" pitchFamily="34" charset="0"/>
                <a:cs typeface="Arial" panose="020B0604020202020204" pitchFamily="34" charset="0"/>
              </a:rPr>
              <a:t>3. DESARROLLO EXPERIMENTAL.</a:t>
            </a:r>
          </a:p>
          <a:p>
            <a:pPr algn="just"/>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Para fabricar las bocinas, se utilizó oxido de grafeno sintetizado mediante el método de </a:t>
            </a:r>
            <a:r>
              <a:rPr lang="es-MX" sz="3400" dirty="0" err="1">
                <a:latin typeface="Arial" panose="020B0604020202020204" pitchFamily="34" charset="0"/>
                <a:cs typeface="Arial" panose="020B0604020202020204" pitchFamily="34" charset="0"/>
              </a:rPr>
              <a:t>Hummers</a:t>
            </a:r>
            <a:r>
              <a:rPr lang="es-MX" sz="3400" dirty="0">
                <a:latin typeface="Arial" panose="020B0604020202020204" pitchFamily="34" charset="0"/>
                <a:cs typeface="Arial" panose="020B0604020202020204" pitchFamily="34" charset="0"/>
              </a:rPr>
              <a:t> [figura 2].</a:t>
            </a: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FIGURA 2. OXIDO DE GRAFENO USADO.</a:t>
            </a:r>
          </a:p>
          <a:p>
            <a:pPr algn="just"/>
            <a:endParaRPr lang="es-MX" sz="2400" b="1"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Estas fueron aplicadas en el portaobjetos para así generar una bocina termoacústica [figura 3].</a:t>
            </a: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kern="100" dirty="0">
              <a:latin typeface="Arial" panose="020B0604020202020204" pitchFamily="34" charset="0"/>
              <a:ea typeface="Calibri" panose="020F0502020204030204" pitchFamily="34" charset="0"/>
              <a:cs typeface="Arial" panose="020B0604020202020204" pitchFamily="34" charset="0"/>
            </a:endParaRPr>
          </a:p>
          <a:p>
            <a:pPr algn="just"/>
            <a:r>
              <a:rPr lang="es-MX" sz="2400" b="1" kern="100" dirty="0">
                <a:latin typeface="Arial" panose="020B0604020202020204" pitchFamily="34" charset="0"/>
                <a:ea typeface="Calibri" panose="020F0502020204030204" pitchFamily="34" charset="0"/>
                <a:cs typeface="Arial" panose="020B0604020202020204" pitchFamily="34" charset="0"/>
              </a:rPr>
              <a:t>FIGURA 3. DIAGRAMA DEL ARMADO DEL CAPACITOR.</a:t>
            </a:r>
            <a:endParaRPr lang="es-MX" sz="2400" b="1"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r>
              <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rPr>
              <a:t>Por consiguiente, se emplearon </a:t>
            </a:r>
            <a:r>
              <a:rPr lang="es-MX" sz="3400" kern="100" dirty="0">
                <a:latin typeface="Arial" panose="020B0604020202020204" pitchFamily="34" charset="0"/>
                <a:ea typeface="Calibri" panose="020F0502020204030204" pitchFamily="34" charset="0"/>
                <a:cs typeface="Arial" panose="020B0604020202020204" pitchFamily="34" charset="0"/>
              </a:rPr>
              <a:t>d</a:t>
            </a:r>
            <a:r>
              <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rPr>
              <a:t>os electrodos coplanares para así emplear un</a:t>
            </a:r>
            <a:r>
              <a:rPr lang="es-MX" sz="3400" kern="100" dirty="0">
                <a:latin typeface="Arial" panose="020B0604020202020204" pitchFamily="34" charset="0"/>
                <a:ea typeface="Calibri" panose="020F0502020204030204" pitchFamily="34" charset="0"/>
                <a:cs typeface="Arial" panose="020B0604020202020204" pitchFamily="34" charset="0"/>
              </a:rPr>
              <a:t> </a:t>
            </a:r>
            <a:r>
              <a:rPr lang="es-MX" sz="3400" kern="100" dirty="0" err="1">
                <a:solidFill>
                  <a:schemeClr val="tx1"/>
                </a:solidFill>
                <a:latin typeface="Arial" panose="020B0604020202020204" pitchFamily="34" charset="0"/>
                <a:ea typeface="Calibri" panose="020F0502020204030204" pitchFamily="34" charset="0"/>
                <a:cs typeface="Arial" panose="020B0604020202020204" pitchFamily="34" charset="0"/>
              </a:rPr>
              <a:t>electrete</a:t>
            </a:r>
            <a:r>
              <a:rPr lang="es-MX" sz="3400" kern="100" dirty="0">
                <a:latin typeface="Arial" panose="020B0604020202020204" pitchFamily="34" charset="0"/>
                <a:ea typeface="Calibri" panose="020F0502020204030204" pitchFamily="34" charset="0"/>
                <a:cs typeface="Arial" panose="020B0604020202020204" pitchFamily="34" charset="0"/>
              </a:rPr>
              <a:t>. </a:t>
            </a:r>
            <a:r>
              <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rPr>
              <a:t>Adicionalmente se elaboró el siguiente circuito eléctrico [figura 4].</a:t>
            </a:r>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r>
              <a:rPr lang="es-MX" sz="2400" b="1" kern="100" dirty="0">
                <a:latin typeface="Arial" panose="020B0604020202020204" pitchFamily="34" charset="0"/>
                <a:ea typeface="Calibri" panose="020F0502020204030204" pitchFamily="34" charset="0"/>
                <a:cs typeface="Arial" panose="020B0604020202020204" pitchFamily="34" charset="0"/>
              </a:rPr>
              <a:t>FIGURA 4</a:t>
            </a:r>
            <a:r>
              <a:rPr lang="es-MX" sz="2400" b="1" kern="100" dirty="0">
                <a:solidFill>
                  <a:schemeClr val="tx1"/>
                </a:solidFill>
                <a:latin typeface="Arial" panose="020B0604020202020204" pitchFamily="34" charset="0"/>
                <a:ea typeface="Calibri" panose="020F0502020204030204" pitchFamily="34" charset="0"/>
                <a:cs typeface="Arial" panose="020B0604020202020204" pitchFamily="34" charset="0"/>
              </a:rPr>
              <a:t>. DIAGRAMA DEL CIRCUITO DE POLARIZACIÓN DE LA PELÍCULA DE GO.</a:t>
            </a: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r>
              <a:rPr lang="es-MX" sz="3400" kern="100" dirty="0">
                <a:latin typeface="Arial" panose="020B0604020202020204" pitchFamily="34" charset="0"/>
                <a:ea typeface="Calibri" panose="020F0502020204030204" pitchFamily="34" charset="0"/>
                <a:cs typeface="Arial" panose="020B0604020202020204" pitchFamily="34" charset="0"/>
              </a:rPr>
              <a:t>De esta manera se visualizaba el portaobjetos empleando el óxido de grafeno [figura 5].</a:t>
            </a: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latin typeface="Arial" panose="020B0604020202020204" pitchFamily="34" charset="0"/>
              <a:ea typeface="Calibri" panose="020F0502020204030204" pitchFamily="34" charset="0"/>
              <a:cs typeface="Arial" panose="020B0604020202020204" pitchFamily="34" charset="0"/>
            </a:endParaRPr>
          </a:p>
          <a:p>
            <a:pPr algn="just"/>
            <a:r>
              <a:rPr lang="es-MX" sz="2400" b="1" kern="100" dirty="0">
                <a:latin typeface="Arial" panose="020B0604020202020204" pitchFamily="34" charset="0"/>
                <a:ea typeface="Calibri" panose="020F0502020204030204" pitchFamily="34" charset="0"/>
                <a:cs typeface="Arial" panose="020B0604020202020204" pitchFamily="34" charset="0"/>
              </a:rPr>
              <a:t>FIGURA 5. PELÍCULA DE ÓXIDO DE GRAFENO SOBRE VIDRIO PORTAOBJETOS.</a:t>
            </a:r>
            <a:endParaRPr lang="es-MX" sz="2400" b="1"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pic>
        <p:nvPicPr>
          <p:cNvPr id="28" name="Imagen 27">
            <a:extLst>
              <a:ext uri="{FF2B5EF4-FFF2-40B4-BE49-F238E27FC236}">
                <a16:creationId xmlns:a16="http://schemas.microsoft.com/office/drawing/2014/main" id="{01A63FE1-0CCA-6586-335C-AC1B25FA50F4}"/>
              </a:ext>
            </a:extLst>
          </p:cNvPr>
          <p:cNvPicPr>
            <a:picLocks noChangeAspect="1"/>
          </p:cNvPicPr>
          <p:nvPr/>
        </p:nvPicPr>
        <p:blipFill rotWithShape="1">
          <a:blip r:embed="rId4"/>
          <a:srcRect t="8114" b="8776"/>
          <a:stretch/>
        </p:blipFill>
        <p:spPr>
          <a:xfrm>
            <a:off x="11281305" y="21561825"/>
            <a:ext cx="9924168" cy="4772056"/>
          </a:xfrm>
          <a:prstGeom prst="rect">
            <a:avLst/>
          </a:prstGeom>
        </p:spPr>
      </p:pic>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0C537126-1334-0E11-8C9E-9ED6FE3A2E6E}"/>
                  </a:ext>
                </a:extLst>
              </p:cNvPr>
              <p:cNvSpPr txBox="1"/>
              <p:nvPr/>
            </p:nvSpPr>
            <p:spPr>
              <a:xfrm>
                <a:off x="711392" y="16436222"/>
                <a:ext cx="9547220" cy="17710105"/>
              </a:xfrm>
              <a:prstGeom prst="rect">
                <a:avLst/>
              </a:prstGeom>
              <a:noFill/>
            </p:spPr>
            <p:txBody>
              <a:bodyPr wrap="square" rtlCol="0">
                <a:spAutoFit/>
              </a:bodyPr>
              <a:lstStyle/>
              <a:p>
                <a:pPr algn="ctr"/>
                <a:r>
                  <a:rPr lang="es-MX" sz="3400" b="1" dirty="0">
                    <a:latin typeface="Arial" panose="020B0604020202020204" pitchFamily="34" charset="0"/>
                    <a:cs typeface="Arial" panose="020B0604020202020204" pitchFamily="34" charset="0"/>
                  </a:rPr>
                  <a:t>EL EFECTO TERMOACÚSTICO.</a:t>
                </a:r>
              </a:p>
              <a:p>
                <a:pPr algn="just"/>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El efecto termoacústico se puede generar empleando un conductor muy delgado con capacidad calorífica muy pequeña, cuando se aplica corriente alterna</a:t>
                </a:r>
                <a:r>
                  <a:rPr lang="en-US" sz="3400" dirty="0">
                    <a:latin typeface="Arial" panose="020B0604020202020204" pitchFamily="34" charset="0"/>
                    <a:cs typeface="Arial" panose="020B0604020202020204" pitchFamily="34" charset="0"/>
                  </a:rPr>
                  <a:t>. El paso de la coriente </a:t>
                </a:r>
                <a:r>
                  <a:rPr lang="en-US" sz="3400" dirty="0" err="1">
                    <a:latin typeface="Arial" panose="020B0604020202020204" pitchFamily="34" charset="0"/>
                    <a:cs typeface="Arial" panose="020B0604020202020204" pitchFamily="34" charset="0"/>
                  </a:rPr>
                  <a:t>por</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el</a:t>
                </a:r>
                <a:r>
                  <a:rPr lang="en-US" sz="3400" dirty="0">
                    <a:latin typeface="Arial" panose="020B0604020202020204" pitchFamily="34" charset="0"/>
                    <a:cs typeface="Arial" panose="020B0604020202020204" pitchFamily="34" charset="0"/>
                  </a:rPr>
                  <a:t> conductor lo calienta debido al </a:t>
                </a:r>
                <a:r>
                  <a:rPr lang="en-US" sz="3400" dirty="0" err="1">
                    <a:latin typeface="Arial" panose="020B0604020202020204" pitchFamily="34" charset="0"/>
                    <a:cs typeface="Arial" panose="020B0604020202020204" pitchFamily="34" charset="0"/>
                  </a:rPr>
                  <a:t>efecto</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Juole</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provocando</a:t>
                </a:r>
                <a:r>
                  <a:rPr lang="en-US" sz="3400" dirty="0">
                    <a:latin typeface="Arial" panose="020B0604020202020204" pitchFamily="34" charset="0"/>
                    <a:cs typeface="Arial" panose="020B0604020202020204" pitchFamily="34" charset="0"/>
                  </a:rPr>
                  <a:t> cambios de temperatura </a:t>
                </a:r>
                <a:r>
                  <a:rPr lang="en-US" sz="3400" dirty="0" err="1">
                    <a:latin typeface="Arial" panose="020B0604020202020204" pitchFamily="34" charset="0"/>
                    <a:cs typeface="Arial" panose="020B0604020202020204" pitchFamily="34" charset="0"/>
                  </a:rPr>
                  <a:t>en</a:t>
                </a:r>
                <a:r>
                  <a:rPr lang="en-US" sz="3400" dirty="0">
                    <a:latin typeface="Arial" panose="020B0604020202020204" pitchFamily="34" charset="0"/>
                    <a:cs typeface="Arial" panose="020B0604020202020204" pitchFamily="34" charset="0"/>
                  </a:rPr>
                  <a:t> sus </a:t>
                </a:r>
                <a:r>
                  <a:rPr lang="en-US" sz="3400">
                    <a:latin typeface="Arial" panose="020B0604020202020204" pitchFamily="34" charset="0"/>
                    <a:cs typeface="Arial" panose="020B0604020202020204" pitchFamily="34" charset="0"/>
                  </a:rPr>
                  <a:t>vecindades, </a:t>
                </a:r>
                <a:r>
                  <a:rPr lang="en-US" sz="3400" dirty="0">
                    <a:latin typeface="Arial" panose="020B0604020202020204" pitchFamily="34" charset="0"/>
                    <a:cs typeface="Arial" panose="020B0604020202020204" pitchFamily="34" charset="0"/>
                  </a:rPr>
                  <a:t>generando </a:t>
                </a:r>
                <a:r>
                  <a:rPr lang="en-US" sz="3400" dirty="0" err="1">
                    <a:latin typeface="Arial" panose="020B0604020202020204" pitchFamily="34" charset="0"/>
                    <a:cs typeface="Arial" panose="020B0604020202020204" pitchFamily="34" charset="0"/>
                  </a:rPr>
                  <a:t>variaciones</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en</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densidad</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aire</a:t>
                </a:r>
                <a:r>
                  <a:rPr lang="en-US" sz="3400" dirty="0">
                    <a:latin typeface="Arial" panose="020B0604020202020204" pitchFamily="34" charset="0"/>
                    <a:cs typeface="Arial" panose="020B0604020202020204" pitchFamily="34" charset="0"/>
                  </a:rPr>
                  <a:t> </a:t>
                </a:r>
                <a:r>
                  <a:rPr lang="en-US" sz="3400" dirty="0" err="1">
                    <a:latin typeface="Arial" panose="020B0604020202020204" pitchFamily="34" charset="0"/>
                    <a:cs typeface="Arial" panose="020B0604020202020204" pitchFamily="34" charset="0"/>
                  </a:rPr>
                  <a:t>circundante</a:t>
                </a:r>
                <a:r>
                  <a:rPr lang="en-US" sz="3400" dirty="0">
                    <a:latin typeface="Arial" panose="020B0604020202020204" pitchFamily="34" charset="0"/>
                    <a:cs typeface="Arial" panose="020B0604020202020204" pitchFamily="34" charset="0"/>
                  </a:rPr>
                  <a:t>, generando </a:t>
                </a:r>
                <a:r>
                  <a:rPr lang="en-US" sz="3400" dirty="0" err="1">
                    <a:latin typeface="Arial" panose="020B0604020202020204" pitchFamily="34" charset="0"/>
                    <a:cs typeface="Arial" panose="020B0604020202020204" pitchFamily="34" charset="0"/>
                  </a:rPr>
                  <a:t>sonido</a:t>
                </a:r>
                <a:r>
                  <a:rPr lang="en-US" sz="3400" dirty="0">
                    <a:latin typeface="Arial" panose="020B0604020202020204" pitchFamily="34" charset="0"/>
                    <a:cs typeface="Arial" panose="020B0604020202020204" pitchFamily="34" charset="0"/>
                  </a:rPr>
                  <a:t>. </a:t>
                </a:r>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De acuerdo con la dirección de la conversión de energía, los efectos termoacústicos se dividen en dos sentidos: producción de sonido en un fluido por gradientes térmicos en la pared sólida en contacto y producción de gradientes térmicos en la pared por el sonido en el fluido [1,2].</a:t>
                </a: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3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a:p>
                <a:pPr algn="just"/>
                <a:r>
                  <a:rPr lang="es-MX" sz="2400" b="1" dirty="0">
                    <a:latin typeface="Arial" panose="020B0604020202020204" pitchFamily="34" charset="0"/>
                    <a:cs typeface="Arial" panose="020B0604020202020204" pitchFamily="34" charset="0"/>
                  </a:rPr>
                  <a:t>FIGURA 1. DIAGRAMA ACERCA DEL FUNCIONAMIENTO DEL EFECTO TERMOACÚSTICO.</a:t>
                </a:r>
              </a:p>
              <a:p>
                <a:pPr algn="just"/>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Cuando se suministra una corriente alterna de la forma </a:t>
                </a:r>
                <a14:m>
                  <m:oMath xmlns:m="http://schemas.openxmlformats.org/officeDocument/2006/math">
                    <m:r>
                      <a:rPr lang="es-MX" sz="3400" i="1">
                        <a:latin typeface="Cambria Math" panose="02040503050406030204" pitchFamily="18" charset="0"/>
                        <a:cs typeface="Arial" panose="020B0604020202020204" pitchFamily="34" charset="0"/>
                      </a:rPr>
                      <m:t>𝐼</m:t>
                    </m:r>
                    <m:r>
                      <a:rPr lang="es-MX" sz="3400" i="1">
                        <a:latin typeface="Cambria Math" panose="02040503050406030204" pitchFamily="18" charset="0"/>
                        <a:cs typeface="Arial" panose="020B0604020202020204" pitchFamily="34" charset="0"/>
                      </a:rPr>
                      <m:t> </m:t>
                    </m:r>
                    <m:r>
                      <a:rPr lang="es-MX" sz="3400" i="1">
                        <a:latin typeface="Cambria Math" panose="02040503050406030204" pitchFamily="18" charset="0"/>
                        <a:cs typeface="Arial" panose="020B0604020202020204" pitchFamily="34" charset="0"/>
                      </a:rPr>
                      <m:t>𝑠𝑒𝑛</m:t>
                    </m:r>
                    <m:r>
                      <a:rPr lang="es-MX" sz="3400" i="1">
                        <a:latin typeface="Cambria Math" panose="02040503050406030204" pitchFamily="18" charset="0"/>
                        <a:cs typeface="Arial" panose="020B0604020202020204" pitchFamily="34" charset="0"/>
                      </a:rPr>
                      <m:t> </m:t>
                    </m:r>
                    <m:r>
                      <a:rPr lang="es-MX" sz="3400" i="1">
                        <a:latin typeface="Cambria Math" panose="02040503050406030204" pitchFamily="18" charset="0"/>
                        <a:cs typeface="Arial" panose="020B0604020202020204" pitchFamily="34" charset="0"/>
                      </a:rPr>
                      <m:t>𝑤𝑡</m:t>
                    </m:r>
                  </m:oMath>
                </a14:m>
                <a:r>
                  <a:rPr lang="es-MX" sz="3400" dirty="0">
                    <a:latin typeface="Arial" panose="020B0604020202020204" pitchFamily="34" charset="0"/>
                    <a:cs typeface="Arial" panose="020B0604020202020204" pitchFamily="34" charset="0"/>
                  </a:rPr>
                  <a:t>, el efecto de calentamiento es proporcional a la potencia eléctrica (ecuación 1) a, </a:t>
                </a:r>
              </a:p>
              <a:p>
                <a:pPr algn="r"/>
                <a14:m>
                  <m:oMath xmlns:m="http://schemas.openxmlformats.org/officeDocument/2006/math">
                    <m:r>
                      <a:rPr lang="es-MX" sz="3400" b="0" i="1" smtClean="0">
                        <a:latin typeface="Cambria Math" panose="02040503050406030204" pitchFamily="18" charset="0"/>
                        <a:cs typeface="Arial" panose="020B0604020202020204" pitchFamily="34" charset="0"/>
                      </a:rPr>
                      <m:t>𝑅</m:t>
                    </m:r>
                    <m:sSup>
                      <m:sSupPr>
                        <m:ctrlPr>
                          <a:rPr lang="es-MX" sz="3400" b="0" i="1" smtClean="0">
                            <a:latin typeface="Cambria Math" panose="02040503050406030204" pitchFamily="18" charset="0"/>
                            <a:cs typeface="Arial" panose="020B0604020202020204" pitchFamily="34" charset="0"/>
                          </a:rPr>
                        </m:ctrlPr>
                      </m:sSupPr>
                      <m:e>
                        <m:r>
                          <a:rPr lang="es-MX" sz="3400" b="0" i="1" smtClean="0">
                            <a:latin typeface="Cambria Math" panose="02040503050406030204" pitchFamily="18" charset="0"/>
                            <a:cs typeface="Arial" panose="020B0604020202020204" pitchFamily="34" charset="0"/>
                          </a:rPr>
                          <m:t>𝐼</m:t>
                        </m:r>
                      </m:e>
                      <m:sup>
                        <m:r>
                          <a:rPr lang="es-MX" sz="3400" b="0" i="1" smtClean="0">
                            <a:latin typeface="Cambria Math" panose="02040503050406030204" pitchFamily="18" charset="0"/>
                            <a:cs typeface="Arial" panose="020B0604020202020204" pitchFamily="34" charset="0"/>
                          </a:rPr>
                          <m:t>2</m:t>
                        </m:r>
                      </m:sup>
                    </m:sSup>
                    <m:r>
                      <a:rPr lang="es-MX" sz="3400" b="0" i="1" smtClean="0">
                        <a:latin typeface="Cambria Math" panose="02040503050406030204" pitchFamily="18" charset="0"/>
                        <a:cs typeface="Arial" panose="020B0604020202020204" pitchFamily="34" charset="0"/>
                      </a:rPr>
                      <m:t>𝑠𝑒</m:t>
                    </m:r>
                    <m:sSup>
                      <m:sSupPr>
                        <m:ctrlPr>
                          <a:rPr lang="es-MX" sz="3400" b="0" i="1" smtClean="0">
                            <a:latin typeface="Cambria Math" panose="02040503050406030204" pitchFamily="18" charset="0"/>
                            <a:cs typeface="Arial" panose="020B0604020202020204" pitchFamily="34" charset="0"/>
                          </a:rPr>
                        </m:ctrlPr>
                      </m:sSupPr>
                      <m:e>
                        <m:r>
                          <a:rPr lang="es-MX" sz="3400" b="0" i="1" smtClean="0">
                            <a:latin typeface="Cambria Math" panose="02040503050406030204" pitchFamily="18" charset="0"/>
                            <a:cs typeface="Arial" panose="020B0604020202020204" pitchFamily="34" charset="0"/>
                          </a:rPr>
                          <m:t>𝑛</m:t>
                        </m:r>
                      </m:e>
                      <m:sup>
                        <m:r>
                          <a:rPr lang="es-MX" sz="3400" b="0" i="1" smtClean="0">
                            <a:latin typeface="Cambria Math" panose="02040503050406030204" pitchFamily="18" charset="0"/>
                            <a:cs typeface="Arial" panose="020B0604020202020204" pitchFamily="34" charset="0"/>
                          </a:rPr>
                          <m:t>2</m:t>
                        </m:r>
                      </m:sup>
                    </m:sSup>
                    <m:r>
                      <a:rPr lang="es-MX" sz="3400" b="0" i="1" smtClean="0">
                        <a:latin typeface="Cambria Math" panose="02040503050406030204" pitchFamily="18" charset="0"/>
                        <a:cs typeface="Arial" panose="020B0604020202020204" pitchFamily="34" charset="0"/>
                      </a:rPr>
                      <m:t>𝑤𝑡</m:t>
                    </m:r>
                    <m:r>
                      <a:rPr lang="es-MX" sz="3400" b="0" i="1" smtClean="0">
                        <a:latin typeface="Cambria Math" panose="02040503050406030204" pitchFamily="18" charset="0"/>
                        <a:cs typeface="Arial" panose="020B0604020202020204" pitchFamily="34" charset="0"/>
                      </a:rPr>
                      <m:t>=</m:t>
                    </m:r>
                    <m:f>
                      <m:fPr>
                        <m:ctrlPr>
                          <a:rPr lang="es-MX" sz="3400" b="0" i="1" smtClean="0">
                            <a:latin typeface="Cambria Math" panose="02040503050406030204" pitchFamily="18" charset="0"/>
                            <a:cs typeface="Arial" panose="020B0604020202020204" pitchFamily="34" charset="0"/>
                          </a:rPr>
                        </m:ctrlPr>
                      </m:fPr>
                      <m:num>
                        <m:r>
                          <a:rPr lang="es-MX" sz="3400" i="1">
                            <a:latin typeface="Cambria Math" panose="02040503050406030204" pitchFamily="18" charset="0"/>
                            <a:cs typeface="Arial" panose="020B0604020202020204" pitchFamily="34" charset="0"/>
                          </a:rPr>
                          <m:t>𝑅</m:t>
                        </m:r>
                        <m:sSup>
                          <m:sSupPr>
                            <m:ctrlPr>
                              <a:rPr lang="es-MX" sz="3400" i="1">
                                <a:latin typeface="Cambria Math" panose="02040503050406030204" pitchFamily="18" charset="0"/>
                                <a:cs typeface="Arial" panose="020B0604020202020204" pitchFamily="34" charset="0"/>
                              </a:rPr>
                            </m:ctrlPr>
                          </m:sSupPr>
                          <m:e>
                            <m:r>
                              <a:rPr lang="es-MX" sz="3400" i="1">
                                <a:latin typeface="Cambria Math" panose="02040503050406030204" pitchFamily="18" charset="0"/>
                                <a:cs typeface="Arial" panose="020B0604020202020204" pitchFamily="34" charset="0"/>
                              </a:rPr>
                              <m:t>𝐼</m:t>
                            </m:r>
                          </m:e>
                          <m:sup>
                            <m:r>
                              <a:rPr lang="es-MX" sz="3400" i="1">
                                <a:latin typeface="Cambria Math" panose="02040503050406030204" pitchFamily="18" charset="0"/>
                                <a:cs typeface="Arial" panose="020B0604020202020204" pitchFamily="34" charset="0"/>
                              </a:rPr>
                              <m:t>2</m:t>
                            </m:r>
                          </m:sup>
                        </m:sSup>
                      </m:num>
                      <m:den>
                        <m:r>
                          <a:rPr lang="es-MX" sz="3400" b="0" i="1" smtClean="0">
                            <a:latin typeface="Cambria Math" panose="02040503050406030204" pitchFamily="18" charset="0"/>
                            <a:cs typeface="Arial" panose="020B0604020202020204" pitchFamily="34" charset="0"/>
                          </a:rPr>
                          <m:t>2</m:t>
                        </m:r>
                      </m:den>
                    </m:f>
                    <m:r>
                      <a:rPr lang="es-MX" sz="3400" b="0" i="0" smtClean="0">
                        <a:latin typeface="Cambria Math" panose="02040503050406030204" pitchFamily="18" charset="0"/>
                        <a:cs typeface="Arial" panose="020B0604020202020204" pitchFamily="34" charset="0"/>
                      </a:rPr>
                      <m:t>(</m:t>
                    </m:r>
                    <m:r>
                      <m:rPr>
                        <m:sty m:val="p"/>
                      </m:rPr>
                      <a:rPr lang="es-MX" sz="3400" b="0" i="0" smtClean="0">
                        <a:latin typeface="Cambria Math" panose="02040503050406030204" pitchFamily="18" charset="0"/>
                        <a:cs typeface="Arial" panose="020B0604020202020204" pitchFamily="34" charset="0"/>
                      </a:rPr>
                      <m:t>I</m:t>
                    </m:r>
                    <m:r>
                      <a:rPr lang="es-MX" sz="3400" b="0" i="0" smtClean="0">
                        <a:latin typeface="Cambria Math" panose="02040503050406030204" pitchFamily="18" charset="0"/>
                        <a:cs typeface="Arial" panose="020B0604020202020204" pitchFamily="34" charset="0"/>
                      </a:rPr>
                      <m:t>−</m:t>
                    </m:r>
                    <m:r>
                      <m:rPr>
                        <m:sty m:val="p"/>
                      </m:rPr>
                      <a:rPr lang="es-MX" sz="3400" b="0" i="0" smtClean="0">
                        <a:latin typeface="Cambria Math" panose="02040503050406030204" pitchFamily="18" charset="0"/>
                        <a:cs typeface="Arial" panose="020B0604020202020204" pitchFamily="34" charset="0"/>
                      </a:rPr>
                      <m:t>cos</m:t>
                    </m:r>
                    <m:r>
                      <a:rPr lang="es-MX" sz="3400" b="0" i="0" smtClean="0">
                        <a:latin typeface="Cambria Math" panose="02040503050406030204" pitchFamily="18" charset="0"/>
                        <a:cs typeface="Arial" panose="020B0604020202020204" pitchFamily="34" charset="0"/>
                      </a:rPr>
                      <m:t> 2</m:t>
                    </m:r>
                    <m:r>
                      <m:rPr>
                        <m:sty m:val="p"/>
                      </m:rPr>
                      <a:rPr lang="es-MX" sz="3400" b="0" i="0" smtClean="0">
                        <a:latin typeface="Cambria Math" panose="02040503050406030204" pitchFamily="18" charset="0"/>
                        <a:cs typeface="Arial" panose="020B0604020202020204" pitchFamily="34" charset="0"/>
                      </a:rPr>
                      <m:t>wt</m:t>
                    </m:r>
                    <m:r>
                      <a:rPr lang="es-MX" sz="3400" b="0" i="0" smtClean="0">
                        <a:latin typeface="Cambria Math" panose="02040503050406030204" pitchFamily="18" charset="0"/>
                        <a:cs typeface="Arial" panose="020B0604020202020204" pitchFamily="34" charset="0"/>
                      </a:rPr>
                      <m:t>)</m:t>
                    </m:r>
                  </m:oMath>
                </a14:m>
                <a:r>
                  <a:rPr lang="es-MX" sz="3400" dirty="0">
                    <a:latin typeface="Arial" panose="020B0604020202020204" pitchFamily="34" charset="0"/>
                    <a:cs typeface="Arial" panose="020B0604020202020204" pitchFamily="34" charset="0"/>
                  </a:rPr>
                  <a:t>          (1)</a:t>
                </a:r>
              </a:p>
            </p:txBody>
          </p:sp>
        </mc:Choice>
        <mc:Fallback>
          <p:sp>
            <p:nvSpPr>
              <p:cNvPr id="18" name="CuadroTexto 17">
                <a:extLst>
                  <a:ext uri="{FF2B5EF4-FFF2-40B4-BE49-F238E27FC236}">
                    <a16:creationId xmlns:a16="http://schemas.microsoft.com/office/drawing/2014/main" id="{0C537126-1334-0E11-8C9E-9ED6FE3A2E6E}"/>
                  </a:ext>
                </a:extLst>
              </p:cNvPr>
              <p:cNvSpPr txBox="1">
                <a:spLocks noRot="1" noChangeAspect="1" noMove="1" noResize="1" noEditPoints="1" noAdjustHandles="1" noChangeArrowheads="1" noChangeShapeType="1" noTextEdit="1"/>
              </p:cNvSpPr>
              <p:nvPr/>
            </p:nvSpPr>
            <p:spPr>
              <a:xfrm>
                <a:off x="711392" y="16436222"/>
                <a:ext cx="9547220" cy="17710105"/>
              </a:xfrm>
              <a:prstGeom prst="rect">
                <a:avLst/>
              </a:prstGeom>
              <a:blipFill>
                <a:blip r:embed="rId5"/>
                <a:stretch>
                  <a:fillRect l="-1788" t="-482" r="-1788"/>
                </a:stretch>
              </a:blipFill>
            </p:spPr>
            <p:txBody>
              <a:bodyPr/>
              <a:lstStyle/>
              <a:p>
                <a:r>
                  <a:rPr lang="es-MX">
                    <a:noFill/>
                  </a:rPr>
                  <a:t> </a:t>
                </a:r>
              </a:p>
            </p:txBody>
          </p:sp>
        </mc:Fallback>
      </mc:AlternateContent>
      <p:pic>
        <p:nvPicPr>
          <p:cNvPr id="9" name="Imagen 8">
            <a:extLst>
              <a:ext uri="{FF2B5EF4-FFF2-40B4-BE49-F238E27FC236}">
                <a16:creationId xmlns:a16="http://schemas.microsoft.com/office/drawing/2014/main" id="{EA75A6D7-C1A0-F984-1942-78FBE0D20F9D}"/>
              </a:ext>
            </a:extLst>
          </p:cNvPr>
          <p:cNvPicPr>
            <a:picLocks noChangeAspect="1"/>
          </p:cNvPicPr>
          <p:nvPr/>
        </p:nvPicPr>
        <p:blipFill>
          <a:blip r:embed="rId6"/>
          <a:stretch>
            <a:fillRect/>
          </a:stretch>
        </p:blipFill>
        <p:spPr>
          <a:xfrm>
            <a:off x="892121" y="25884622"/>
            <a:ext cx="9456856" cy="3885093"/>
          </a:xfrm>
          <a:prstGeom prst="rect">
            <a:avLst/>
          </a:prstGeom>
        </p:spPr>
      </p:pic>
      <p:sp>
        <p:nvSpPr>
          <p:cNvPr id="10" name="AutoShape 2">
            <a:extLst>
              <a:ext uri="{FF2B5EF4-FFF2-40B4-BE49-F238E27FC236}">
                <a16:creationId xmlns:a16="http://schemas.microsoft.com/office/drawing/2014/main" id="{EB72079C-1686-5ACD-1D84-22B09994E359}"/>
              </a:ext>
            </a:extLst>
          </p:cNvPr>
          <p:cNvSpPr>
            <a:spLocks noChangeAspect="1" noChangeArrowheads="1"/>
          </p:cNvSpPr>
          <p:nvPr/>
        </p:nvSpPr>
        <p:spPr bwMode="auto">
          <a:xfrm>
            <a:off x="16351250" y="23552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23" name="CuadroTexto 22">
            <a:extLst>
              <a:ext uri="{FF2B5EF4-FFF2-40B4-BE49-F238E27FC236}">
                <a16:creationId xmlns:a16="http://schemas.microsoft.com/office/drawing/2014/main" id="{02C324C7-DAE6-C556-204D-4B4895F903E7}"/>
              </a:ext>
            </a:extLst>
          </p:cNvPr>
          <p:cNvSpPr txBox="1"/>
          <p:nvPr/>
        </p:nvSpPr>
        <p:spPr>
          <a:xfrm>
            <a:off x="22083129" y="5998191"/>
            <a:ext cx="9734590" cy="8002191"/>
          </a:xfrm>
          <a:prstGeom prst="rect">
            <a:avLst/>
          </a:prstGeom>
          <a:noFill/>
        </p:spPr>
        <p:txBody>
          <a:bodyPr wrap="square">
            <a:spAutoFit/>
          </a:bodyPr>
          <a:lstStyle/>
          <a:p>
            <a:pPr algn="just"/>
            <a:r>
              <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rPr>
              <a:t>Con ayuda del osciloscopio se obtuvieron los datos siguientes</a:t>
            </a:r>
            <a:r>
              <a:rPr lang="es-MX" sz="3400" kern="100" dirty="0">
                <a:latin typeface="Arial" panose="020B0604020202020204" pitchFamily="34" charset="0"/>
                <a:ea typeface="Calibri" panose="020F0502020204030204" pitchFamily="34" charset="0"/>
                <a:cs typeface="Arial" panose="020B0604020202020204" pitchFamily="34" charset="0"/>
              </a:rPr>
              <a:t> [figura 6].</a:t>
            </a: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3400" kern="100" dirty="0">
              <a:latin typeface="Arial" panose="020B0604020202020204" pitchFamily="34" charset="0"/>
              <a:ea typeface="Calibri" panose="020F0502020204030204" pitchFamily="34" charset="0"/>
              <a:cs typeface="Arial" panose="020B0604020202020204" pitchFamily="34" charset="0"/>
            </a:endParaRPr>
          </a:p>
          <a:p>
            <a:pPr algn="just"/>
            <a:endParaRPr lang="es-MX" sz="2400" b="1" kern="1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algn="just"/>
            <a:r>
              <a:rPr lang="es-MX" sz="2400" b="1" kern="100" dirty="0">
                <a:latin typeface="Arial" panose="020B0604020202020204" pitchFamily="34" charset="0"/>
                <a:ea typeface="Calibri" panose="020F0502020204030204" pitchFamily="34" charset="0"/>
                <a:cs typeface="Arial" panose="020B0604020202020204" pitchFamily="34" charset="0"/>
              </a:rPr>
              <a:t>FIGURA 6. IMAGEN DE LA CAPTURA DEL OSCILOSCOPIO DEL CAPACITOR.</a:t>
            </a:r>
          </a:p>
        </p:txBody>
      </p:sp>
      <p:sp>
        <p:nvSpPr>
          <p:cNvPr id="17" name="AutoShape 4">
            <a:extLst>
              <a:ext uri="{FF2B5EF4-FFF2-40B4-BE49-F238E27FC236}">
                <a16:creationId xmlns:a16="http://schemas.microsoft.com/office/drawing/2014/main" id="{C91B6DA9-255F-EDC0-F529-D9B8D5F0C75D}"/>
              </a:ext>
            </a:extLst>
          </p:cNvPr>
          <p:cNvSpPr>
            <a:spLocks noChangeAspect="1" noChangeArrowheads="1"/>
          </p:cNvSpPr>
          <p:nvPr/>
        </p:nvSpPr>
        <p:spPr bwMode="auto">
          <a:xfrm>
            <a:off x="16503650" y="23704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21" name="Imagen 20">
            <a:extLst>
              <a:ext uri="{FF2B5EF4-FFF2-40B4-BE49-F238E27FC236}">
                <a16:creationId xmlns:a16="http://schemas.microsoft.com/office/drawing/2014/main" id="{E4B7D835-1031-9C65-2DD8-8611EDB82A6D}"/>
              </a:ext>
            </a:extLst>
          </p:cNvPr>
          <p:cNvPicPr>
            <a:picLocks noChangeAspect="1"/>
          </p:cNvPicPr>
          <p:nvPr/>
        </p:nvPicPr>
        <p:blipFill rotWithShape="1">
          <a:blip r:embed="rId7">
            <a:extLst>
              <a:ext uri="{BEBA8EAE-BF5A-486C-A8C5-ECC9F3942E4B}">
                <a14:imgProps xmlns:a14="http://schemas.microsoft.com/office/drawing/2010/main">
                  <a14:imgLayer r:embed="rId8">
                    <a14:imgEffect>
                      <a14:backgroundRemoval t="10000" b="90000" l="10000" r="90000"/>
                    </a14:imgEffect>
                  </a14:imgLayer>
                </a14:imgProps>
              </a:ext>
            </a:extLst>
          </a:blip>
          <a:srcRect l="10102" t="26197" r="13377" b="27223"/>
          <a:stretch/>
        </p:blipFill>
        <p:spPr>
          <a:xfrm>
            <a:off x="22412998" y="7369553"/>
            <a:ext cx="9049718" cy="5231745"/>
          </a:xfrm>
          <a:prstGeom prst="rect">
            <a:avLst/>
          </a:prstGeom>
        </p:spPr>
      </p:pic>
      <p:pic>
        <p:nvPicPr>
          <p:cNvPr id="6" name="Imagen 5">
            <a:extLst>
              <a:ext uri="{FF2B5EF4-FFF2-40B4-BE49-F238E27FC236}">
                <a16:creationId xmlns:a16="http://schemas.microsoft.com/office/drawing/2014/main" id="{70F91382-BBD6-906F-2594-647FCE86E2A1}"/>
              </a:ext>
            </a:extLst>
          </p:cNvPr>
          <p:cNvPicPr>
            <a:picLocks noChangeAspect="1"/>
          </p:cNvPicPr>
          <p:nvPr/>
        </p:nvPicPr>
        <p:blipFill rotWithShape="1">
          <a:blip r:embed="rId9"/>
          <a:srcRect l="3892" t="9508" r="2626" b="2773"/>
          <a:stretch/>
        </p:blipFill>
        <p:spPr>
          <a:xfrm>
            <a:off x="22302920" y="26949253"/>
            <a:ext cx="8931920" cy="6474562"/>
          </a:xfrm>
          <a:prstGeom prst="rect">
            <a:avLst/>
          </a:prstGeom>
        </p:spPr>
      </p:pic>
      <p:sp>
        <p:nvSpPr>
          <p:cNvPr id="12" name="CuadroTexto 11">
            <a:extLst>
              <a:ext uri="{FF2B5EF4-FFF2-40B4-BE49-F238E27FC236}">
                <a16:creationId xmlns:a16="http://schemas.microsoft.com/office/drawing/2014/main" id="{D2201B3C-48C5-A591-0B02-8BEEF753F0C1}"/>
              </a:ext>
            </a:extLst>
          </p:cNvPr>
          <p:cNvSpPr txBox="1"/>
          <p:nvPr/>
        </p:nvSpPr>
        <p:spPr>
          <a:xfrm>
            <a:off x="22201200" y="41176438"/>
            <a:ext cx="9193928" cy="3231654"/>
          </a:xfrm>
          <a:prstGeom prst="rect">
            <a:avLst/>
          </a:prstGeom>
          <a:solidFill>
            <a:schemeClr val="bg1"/>
          </a:solidFill>
          <a:ln>
            <a:noFill/>
          </a:ln>
        </p:spPr>
        <p:txBody>
          <a:bodyPr wrap="square" rtlCol="0">
            <a:spAutoFit/>
          </a:bodyPr>
          <a:lstStyle/>
          <a:p>
            <a:pPr algn="ctr"/>
            <a:r>
              <a:rPr lang="es-MX" sz="3400" b="1" dirty="0">
                <a:latin typeface="Arial" panose="020B0604020202020204" pitchFamily="34" charset="0"/>
                <a:cs typeface="Arial" panose="020B0604020202020204" pitchFamily="34" charset="0"/>
              </a:rPr>
              <a:t>6. AGRADECIMIENTOS.</a:t>
            </a:r>
          </a:p>
          <a:p>
            <a:pPr algn="ctr"/>
            <a:endParaRPr lang="es-MX" sz="3400" dirty="0">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Damos agradecimientos a los profesores Dr. José Luis Benítez </a:t>
            </a:r>
            <a:r>
              <a:rPr lang="es-MX" sz="3400" dirty="0" err="1">
                <a:latin typeface="Arial" panose="020B0604020202020204" pitchFamily="34" charset="0"/>
                <a:cs typeface="Arial" panose="020B0604020202020204" pitchFamily="34" charset="0"/>
              </a:rPr>
              <a:t>Benítez</a:t>
            </a:r>
            <a:r>
              <a:rPr lang="es-MX" sz="3400" dirty="0">
                <a:latin typeface="Arial" panose="020B0604020202020204" pitchFamily="34" charset="0"/>
                <a:cs typeface="Arial" panose="020B0604020202020204" pitchFamily="34" charset="0"/>
              </a:rPr>
              <a:t> y Dr. </a:t>
            </a:r>
            <a:r>
              <a:rPr lang="es-MX" sz="3400" dirty="0" err="1">
                <a:latin typeface="Arial" panose="020B0604020202020204" pitchFamily="34" charset="0"/>
                <a:cs typeface="Arial" panose="020B0604020202020204" pitchFamily="34" charset="0"/>
              </a:rPr>
              <a:t>Richart</a:t>
            </a:r>
            <a:r>
              <a:rPr lang="es-MX" sz="3400" dirty="0">
                <a:latin typeface="Arial" panose="020B0604020202020204" pitchFamily="34" charset="0"/>
                <a:cs typeface="Arial" panose="020B0604020202020204" pitchFamily="34" charset="0"/>
              </a:rPr>
              <a:t> Falconi Calderón por su asesoramiento y colaboración.</a:t>
            </a:r>
          </a:p>
        </p:txBody>
      </p:sp>
      <p:sp>
        <p:nvSpPr>
          <p:cNvPr id="26" name="CuadroTexto 25">
            <a:extLst>
              <a:ext uri="{FF2B5EF4-FFF2-40B4-BE49-F238E27FC236}">
                <a16:creationId xmlns:a16="http://schemas.microsoft.com/office/drawing/2014/main" id="{A3489B49-08AF-B377-36A8-D0A688417E05}"/>
              </a:ext>
            </a:extLst>
          </p:cNvPr>
          <p:cNvSpPr txBox="1"/>
          <p:nvPr/>
        </p:nvSpPr>
        <p:spPr>
          <a:xfrm>
            <a:off x="711391" y="34849117"/>
            <a:ext cx="9639019" cy="8987076"/>
          </a:xfrm>
          <a:prstGeom prst="rect">
            <a:avLst/>
          </a:prstGeom>
          <a:noFill/>
        </p:spPr>
        <p:txBody>
          <a:bodyPr wrap="square">
            <a:spAutoFit/>
          </a:bodyPr>
          <a:lstStyle/>
          <a:p>
            <a:pPr algn="ctr"/>
            <a:r>
              <a:rPr lang="es-MX" sz="3400" b="1" i="0" dirty="0">
                <a:solidFill>
                  <a:srgbClr val="1A1A1A"/>
                </a:solidFill>
                <a:effectLst/>
                <a:latin typeface="Arial" panose="020B0604020202020204" pitchFamily="34" charset="0"/>
                <a:cs typeface="Arial" panose="020B0604020202020204" pitchFamily="34" charset="0"/>
              </a:rPr>
              <a:t>BOCINAS TERMOACÚSTICAS.</a:t>
            </a:r>
          </a:p>
          <a:p>
            <a:pPr algn="just"/>
            <a:endParaRPr lang="es-MX" sz="3400" b="1" i="0" dirty="0">
              <a:solidFill>
                <a:srgbClr val="1A1A1A"/>
              </a:solidFill>
              <a:effectLst/>
              <a:latin typeface="Arial" panose="020B0604020202020204" pitchFamily="34" charset="0"/>
              <a:cs typeface="Arial" panose="020B0604020202020204" pitchFamily="34" charset="0"/>
            </a:endParaRPr>
          </a:p>
          <a:p>
            <a:pPr algn="just"/>
            <a:r>
              <a:rPr lang="es-MX" sz="3400" dirty="0">
                <a:latin typeface="Arial" panose="020B0604020202020204" pitchFamily="34" charset="0"/>
                <a:cs typeface="Arial" panose="020B0604020202020204" pitchFamily="34" charset="0"/>
              </a:rPr>
              <a:t>Las primeras observaciones de la producción de sonido a través del calentamiento adecuado en un sistema datan de mediados del siglo XVIII. </a:t>
            </a:r>
          </a:p>
          <a:p>
            <a:pPr algn="just"/>
            <a:r>
              <a:rPr lang="es-MX" sz="3400" i="0" dirty="0">
                <a:effectLst/>
                <a:latin typeface="Arial" panose="020B0604020202020204" pitchFamily="34" charset="0"/>
                <a:cs typeface="Arial" panose="020B0604020202020204" pitchFamily="34" charset="0"/>
              </a:rPr>
              <a:t>Donde </a:t>
            </a:r>
            <a:r>
              <a:rPr lang="es-MX" sz="3400" dirty="0">
                <a:latin typeface="Arial" panose="020B0604020202020204" pitchFamily="34" charset="0"/>
                <a:cs typeface="Arial" panose="020B0604020202020204" pitchFamily="34" charset="0"/>
              </a:rPr>
              <a:t>Rayleigh (1896) fue el primero en dar una explicación a este fenómeno.[3]</a:t>
            </a:r>
          </a:p>
          <a:p>
            <a:pPr algn="just"/>
            <a:r>
              <a:rPr lang="es-MX" sz="3400" dirty="0">
                <a:latin typeface="Arial" panose="020B0604020202020204" pitchFamily="34" charset="0"/>
                <a:cs typeface="Arial" panose="020B0604020202020204" pitchFamily="34" charset="0"/>
              </a:rPr>
              <a:t>Rayleigh explicó en términos de la fase relativa de la oscilación de presión y la entrada de calor al fluido. Mencionó lo siguiente: </a:t>
            </a:r>
            <a:r>
              <a:rPr lang="es-MX" sz="3400" i="1" dirty="0">
                <a:latin typeface="Arial" panose="020B0604020202020204" pitchFamily="34" charset="0"/>
                <a:cs typeface="Arial" panose="020B0604020202020204" pitchFamily="34" charset="0"/>
              </a:rPr>
              <a:t>“Si se transfiere calor al fluido en el momento de máxima presión aumentará aún más la presión y si se extrae calor en el momento de mínima presión, se disminuirá aún más la presión”</a:t>
            </a:r>
            <a:r>
              <a:rPr lang="es-MX" sz="3400" dirty="0">
                <a:latin typeface="Arial" panose="020B0604020202020204" pitchFamily="34" charset="0"/>
                <a:cs typeface="Arial" panose="020B0604020202020204" pitchFamily="34" charset="0"/>
              </a:rPr>
              <a:t>, por lo que se estará aumentando la amplitud de la perturbación de presión original, es decir la onda acústica será excitada.</a:t>
            </a:r>
          </a:p>
        </p:txBody>
      </p:sp>
      <p:sp>
        <p:nvSpPr>
          <p:cNvPr id="29" name="CuadroTexto 28">
            <a:extLst>
              <a:ext uri="{FF2B5EF4-FFF2-40B4-BE49-F238E27FC236}">
                <a16:creationId xmlns:a16="http://schemas.microsoft.com/office/drawing/2014/main" id="{3FDABAB0-D307-2F38-BE52-9303015051B3}"/>
              </a:ext>
            </a:extLst>
          </p:cNvPr>
          <p:cNvSpPr txBox="1"/>
          <p:nvPr/>
        </p:nvSpPr>
        <p:spPr>
          <a:xfrm>
            <a:off x="11430953" y="6040102"/>
            <a:ext cx="9688987" cy="2185214"/>
          </a:xfrm>
          <a:prstGeom prst="rect">
            <a:avLst/>
          </a:prstGeom>
          <a:noFill/>
        </p:spPr>
        <p:txBody>
          <a:bodyPr wrap="square">
            <a:spAutoFit/>
          </a:bodyPr>
          <a:lstStyle/>
          <a:p>
            <a:pPr algn="just"/>
            <a:r>
              <a:rPr lang="es-MX" sz="3400" b="0" i="0" dirty="0">
                <a:effectLst/>
                <a:latin typeface="Arial" panose="020B0604020202020204" pitchFamily="34" charset="0"/>
                <a:cs typeface="Arial" panose="020B0604020202020204" pitchFamily="34" charset="0"/>
              </a:rPr>
              <a:t>El trabajo adicional de </a:t>
            </a:r>
            <a:r>
              <a:rPr lang="es-MX" sz="3400" b="0" i="0" dirty="0" err="1">
                <a:effectLst/>
                <a:latin typeface="Arial" panose="020B0604020202020204" pitchFamily="34" charset="0"/>
                <a:cs typeface="Arial" panose="020B0604020202020204" pitchFamily="34" charset="0"/>
              </a:rPr>
              <a:t>Langle</a:t>
            </a:r>
            <a:r>
              <a:rPr lang="es-MX" sz="3400" b="0" i="0" dirty="0">
                <a:effectLst/>
                <a:latin typeface="Arial" panose="020B0604020202020204" pitchFamily="34" charset="0"/>
                <a:cs typeface="Arial" panose="020B0604020202020204" pitchFamily="34" charset="0"/>
              </a:rPr>
              <a:t> en 1915 introdujo el concepto de un termófono. En lo que se considera la primera exploración teórica exhaustiva del termófono [2].</a:t>
            </a:r>
          </a:p>
        </p:txBody>
      </p:sp>
      <p:pic>
        <p:nvPicPr>
          <p:cNvPr id="24" name="Imagen 23">
            <a:extLst>
              <a:ext uri="{FF2B5EF4-FFF2-40B4-BE49-F238E27FC236}">
                <a16:creationId xmlns:a16="http://schemas.microsoft.com/office/drawing/2014/main" id="{B8481E4D-B789-A6C2-6C5E-C34AA9B4613F}"/>
              </a:ext>
            </a:extLst>
          </p:cNvPr>
          <p:cNvPicPr>
            <a:picLocks noChangeAspect="1"/>
          </p:cNvPicPr>
          <p:nvPr/>
        </p:nvPicPr>
        <p:blipFill>
          <a:blip r:embed="rId10"/>
          <a:stretch>
            <a:fillRect/>
          </a:stretch>
        </p:blipFill>
        <p:spPr>
          <a:xfrm>
            <a:off x="11344881" y="30748467"/>
            <a:ext cx="9946661" cy="4772056"/>
          </a:xfrm>
          <a:prstGeom prst="rect">
            <a:avLst/>
          </a:prstGeom>
        </p:spPr>
      </p:pic>
      <p:pic>
        <p:nvPicPr>
          <p:cNvPr id="31" name="Imagen 30">
            <a:extLst>
              <a:ext uri="{FF2B5EF4-FFF2-40B4-BE49-F238E27FC236}">
                <a16:creationId xmlns:a16="http://schemas.microsoft.com/office/drawing/2014/main" id="{CF54DB04-BD65-29DD-B2E5-E9D8548D1E70}"/>
              </a:ext>
            </a:extLst>
          </p:cNvPr>
          <p:cNvPicPr>
            <a:picLocks noChangeAspect="1"/>
          </p:cNvPicPr>
          <p:nvPr/>
        </p:nvPicPr>
        <p:blipFill rotWithShape="1">
          <a:blip r:embed="rId11"/>
          <a:srcRect l="21461" t="9278" r="16720" b="5983"/>
          <a:stretch/>
        </p:blipFill>
        <p:spPr>
          <a:xfrm rot="16200000" flipV="1">
            <a:off x="14664488" y="35686086"/>
            <a:ext cx="3307449" cy="9774520"/>
          </a:xfrm>
          <a:prstGeom prst="rect">
            <a:avLst/>
          </a:prstGeom>
        </p:spPr>
      </p:pic>
      <p:pic>
        <p:nvPicPr>
          <p:cNvPr id="34" name="Imagen 33">
            <a:extLst>
              <a:ext uri="{FF2B5EF4-FFF2-40B4-BE49-F238E27FC236}">
                <a16:creationId xmlns:a16="http://schemas.microsoft.com/office/drawing/2014/main" id="{0B459530-BC03-665E-31E2-0ACDEF8DCE8C}"/>
              </a:ext>
            </a:extLst>
          </p:cNvPr>
          <p:cNvPicPr>
            <a:picLocks noChangeAspect="1"/>
          </p:cNvPicPr>
          <p:nvPr/>
        </p:nvPicPr>
        <p:blipFill>
          <a:blip r:embed="rId12"/>
          <a:stretch>
            <a:fillRect/>
          </a:stretch>
        </p:blipFill>
        <p:spPr>
          <a:xfrm>
            <a:off x="22142633" y="18129449"/>
            <a:ext cx="9252495" cy="6864753"/>
          </a:xfrm>
          <a:prstGeom prst="rect">
            <a:avLst/>
          </a:prstGeom>
        </p:spPr>
      </p:pic>
      <p:pic>
        <p:nvPicPr>
          <p:cNvPr id="3" name="Imagen 2">
            <a:extLst>
              <a:ext uri="{FF2B5EF4-FFF2-40B4-BE49-F238E27FC236}">
                <a16:creationId xmlns:a16="http://schemas.microsoft.com/office/drawing/2014/main" id="{5F6FC4F2-157F-06A0-2E69-B7A77E0B232C}"/>
              </a:ext>
            </a:extLst>
          </p:cNvPr>
          <p:cNvPicPr>
            <a:picLocks noChangeAspect="1"/>
          </p:cNvPicPr>
          <p:nvPr/>
        </p:nvPicPr>
        <p:blipFill rotWithShape="1">
          <a:blip r:embed="rId13"/>
          <a:srcRect l="8043" t="21676" r="6160" b="22074"/>
          <a:stretch/>
        </p:blipFill>
        <p:spPr>
          <a:xfrm>
            <a:off x="14027840" y="12737424"/>
            <a:ext cx="5561220" cy="5166843"/>
          </a:xfrm>
          <a:prstGeom prst="rect">
            <a:avLst/>
          </a:prstGeom>
        </p:spPr>
      </p:pic>
    </p:spTree>
    <p:extLst>
      <p:ext uri="{BB962C8B-B14F-4D97-AF65-F5344CB8AC3E}">
        <p14:creationId xmlns:p14="http://schemas.microsoft.com/office/powerpoint/2010/main" val="26800315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1472</TotalTime>
  <Words>931</Words>
  <Application>Microsoft Office PowerPoint</Application>
  <PresentationFormat>Personalizado</PresentationFormat>
  <Paragraphs>149</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Cambria Math</vt:lpstr>
      <vt:lpstr>Tema de Office</vt:lpstr>
      <vt:lpstr>GENERACIÓN DE SONIDO MEDIANTE EFECTO TERMOACÚSTICO  EMPLEANDO ÓXIDO DE GRAFENO.  Hernández Estrada Roberto, Feria Rodríguez Yuritzi Azarel, Ramón Frías Abraham,  Hernández García Kevin, R. Falconi y J.L. Benítez. División Académica de Ciencias Básicas, Universidad Juárez Autónoma de Tabasco,  Km 1 Ctra. Cunduacán-Jalpa, Apartado Postal 24, 86690 Cunduacán, Tabasco, México robehdzestrada@gmail.com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GENERACIÓN DE SONIDO MEDIANTE EFECTO TERMOACÚSTICO  EMPLEANDO ÓXIDO DE GRAFENO.  Benítez Benítez Jose Luis, Falconi Calderón Richart, Hernández Estrada Roberto,  Feria Rodríguez Yuritzi Azarel, Ramón Frías Abraham, Hernández García Kevin. Universidad Juárez Autónoma de Tabasco.</dc:title>
  <dc:creator>192A12018 ROBERTO HERNÁNDEZ ESTRADA</dc:creator>
  <cp:lastModifiedBy>192A12018 ROBERTO HERNÁNDEZ ESTRADA</cp:lastModifiedBy>
  <cp:revision>17</cp:revision>
  <dcterms:created xsi:type="dcterms:W3CDTF">2023-09-26T16:21:22Z</dcterms:created>
  <dcterms:modified xsi:type="dcterms:W3CDTF">2023-10-05T21:43:13Z</dcterms:modified>
</cp:coreProperties>
</file>