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80" r:id="rId4"/>
    <p:sldId id="268" r:id="rId5"/>
    <p:sldId id="269" r:id="rId6"/>
    <p:sldId id="259" r:id="rId7"/>
    <p:sldId id="260" r:id="rId8"/>
    <p:sldId id="266" r:id="rId9"/>
    <p:sldId id="270" r:id="rId10"/>
    <p:sldId id="267" r:id="rId11"/>
    <p:sldId id="265" r:id="rId12"/>
    <p:sldId id="263" r:id="rId13"/>
    <p:sldId id="262" r:id="rId14"/>
    <p:sldId id="261" r:id="rId15"/>
    <p:sldId id="257" r:id="rId16"/>
    <p:sldId id="272" r:id="rId17"/>
    <p:sldId id="273" r:id="rId18"/>
    <p:sldId id="274" r:id="rId19"/>
    <p:sldId id="275" r:id="rId20"/>
    <p:sldId id="276" r:id="rId21"/>
    <p:sldId id="278" r:id="rId22"/>
    <p:sldId id="277" r:id="rId23"/>
    <p:sldId id="279" r:id="rId24"/>
    <p:sldId id="281" r:id="rId2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0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60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4C078D-0682-4811-B7FC-06C79FF01A2D}" type="datetimeFigureOut">
              <a:rPr lang="es-MX" smtClean="0"/>
              <a:t>03/12/2025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3D8392-A26B-4A35-B3B2-E9D66A77A7F2}" type="slidenum">
              <a:rPr lang="es-MX" smtClean="0"/>
              <a:t>‹Nº›</a:t>
            </a:fld>
            <a:endParaRPr lang="es-MX"/>
          </a:p>
        </p:txBody>
      </p:sp>
    </p:spTree>
    <p:extLst>
      <p:ext uri="{BB962C8B-B14F-4D97-AF65-F5344CB8AC3E}">
        <p14:creationId xmlns:p14="http://schemas.microsoft.com/office/powerpoint/2010/main" val="1081726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183D8392-A26B-4A35-B3B2-E9D66A77A7F2}" type="slidenum">
              <a:rPr lang="es-MX" smtClean="0"/>
              <a:t>6</a:t>
            </a:fld>
            <a:endParaRPr lang="es-MX"/>
          </a:p>
        </p:txBody>
      </p:sp>
    </p:spTree>
    <p:extLst>
      <p:ext uri="{BB962C8B-B14F-4D97-AF65-F5344CB8AC3E}">
        <p14:creationId xmlns:p14="http://schemas.microsoft.com/office/powerpoint/2010/main" val="2854190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847B6C-3359-FB7F-0CDF-FF967E4A5A1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D402AED-6755-4E1D-CA6F-54A83BD4D5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D95F20F-9225-7A04-4DF1-BFC4D7A5324A}"/>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5" name="Marcador de pie de página 4">
            <a:extLst>
              <a:ext uri="{FF2B5EF4-FFF2-40B4-BE49-F238E27FC236}">
                <a16:creationId xmlns:a16="http://schemas.microsoft.com/office/drawing/2014/main" id="{B53A5190-D114-58DF-B7BF-7EA06F22AB2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3602DE4-EED8-716F-C07D-926763B6898A}"/>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3015688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E1A4E-2F65-E673-C5CC-366C17FBE58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1168C9B-85FE-456F-32F3-C8657031B50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6D9A73D-61A5-734E-09A5-615851420C11}"/>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5" name="Marcador de pie de página 4">
            <a:extLst>
              <a:ext uri="{FF2B5EF4-FFF2-40B4-BE49-F238E27FC236}">
                <a16:creationId xmlns:a16="http://schemas.microsoft.com/office/drawing/2014/main" id="{F9D6A962-86E1-A53F-44DE-CBDEF01A0B1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E0A0EA1-5143-D507-9AE1-A42554E99A04}"/>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1717030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9A9768-BCF6-0F6C-98B8-80D9D2E226E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46E2F6E-EB59-6789-6781-4274C2EA5B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5B12D69-7775-32CC-B50E-28598D17E42D}"/>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5" name="Marcador de pie de página 4">
            <a:extLst>
              <a:ext uri="{FF2B5EF4-FFF2-40B4-BE49-F238E27FC236}">
                <a16:creationId xmlns:a16="http://schemas.microsoft.com/office/drawing/2014/main" id="{78D66223-D71E-8A65-1FD6-9C075B9766C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CAAFAFB-9BD2-77C1-5432-C21956634977}"/>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1661385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5E1C51-CFFA-9F35-B56E-E4D3E2E7D12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6F7906F-9444-37DC-9528-532322F6193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8E2AC2E8-EB06-0C9A-ED75-FAB1FD91B23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0A2A781-0230-9367-C6AE-45B17BBB8341}"/>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6" name="Marcador de pie de página 5">
            <a:extLst>
              <a:ext uri="{FF2B5EF4-FFF2-40B4-BE49-F238E27FC236}">
                <a16:creationId xmlns:a16="http://schemas.microsoft.com/office/drawing/2014/main" id="{63FB4AA1-5B6D-84A3-E00C-A3428EE99D7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163643B-C431-94D1-AD05-2C0ADBB1F206}"/>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4123747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47D02-8AC9-52D6-7E00-48BA0EC24D7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E19160D-A862-AEEF-9495-DCF9528908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750D8CA-2F1A-4042-28DA-88D7480A882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0F8BA60A-4C93-2015-21B7-CCD98CE3AD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8FA18E3-BD2F-705B-3738-FBE2023EFC3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E8438A2-22F0-E1AC-0B84-26553A72E50B}"/>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8" name="Marcador de pie de página 7">
            <a:extLst>
              <a:ext uri="{FF2B5EF4-FFF2-40B4-BE49-F238E27FC236}">
                <a16:creationId xmlns:a16="http://schemas.microsoft.com/office/drawing/2014/main" id="{9B1861FA-9FA0-1D4A-31B6-60FEDA3F63A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8F4E3C5-8994-B41B-36D1-F812671B9CAC}"/>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3829782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4AD78-25EA-5776-F0E1-DCA74AEDFA6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22DACE3-4EB9-EA3D-6D75-FE741E0631C0}"/>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4" name="Marcador de pie de página 3">
            <a:extLst>
              <a:ext uri="{FF2B5EF4-FFF2-40B4-BE49-F238E27FC236}">
                <a16:creationId xmlns:a16="http://schemas.microsoft.com/office/drawing/2014/main" id="{C8840587-98B4-0BBD-DF79-0A3983A6FFC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B6883FA6-235A-F920-5FFD-83D2505FD682}"/>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3967692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2969478-EFE6-F6A2-9069-5868EF2E64D8}"/>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3" name="Marcador de pie de página 2">
            <a:extLst>
              <a:ext uri="{FF2B5EF4-FFF2-40B4-BE49-F238E27FC236}">
                <a16:creationId xmlns:a16="http://schemas.microsoft.com/office/drawing/2014/main" id="{6C767ECD-9C2E-F041-925B-FF7A8C30C4F5}"/>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0209127-31F4-CDC5-D3BC-9D90E1D50250}"/>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3339546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0714C9-D5C0-7C11-FAF7-263C246C85A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D204885-3C9E-49CF-1F13-FD52C526E8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F3AC9B18-1F7E-D3E0-8949-C719D53C8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93068D5-77CB-AAD6-DDA3-F7A59A20BC3C}"/>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6" name="Marcador de pie de página 5">
            <a:extLst>
              <a:ext uri="{FF2B5EF4-FFF2-40B4-BE49-F238E27FC236}">
                <a16:creationId xmlns:a16="http://schemas.microsoft.com/office/drawing/2014/main" id="{2BAA242E-B191-7549-95F5-8EDCA9C18A4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B113B13-AA0F-EA4B-AF52-761FC9EAC3A9}"/>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2903393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398A79-F95A-2CAE-0CCB-2BF2488376E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5B4EE318-4850-AAED-65C2-3064FAD717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A2CE05D-922F-17FF-4823-B5D8ECC425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FC0C0B6-BB16-FBD7-A7C0-BA51E9BB7F2C}"/>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6" name="Marcador de pie de página 5">
            <a:extLst>
              <a:ext uri="{FF2B5EF4-FFF2-40B4-BE49-F238E27FC236}">
                <a16:creationId xmlns:a16="http://schemas.microsoft.com/office/drawing/2014/main" id="{D4A50D44-DED8-CA4D-1DC5-54BFE0E43B1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C3CC743-5EF8-EB8A-27D2-3AA480890D1D}"/>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2738220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B7F03-9650-9EFF-7464-3F427B12C67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7B99504-E7E6-174A-2FE5-5C5F02CFF5A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77AE2D4-EDF3-97EC-6639-202DD07A5D74}"/>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5" name="Marcador de pie de página 4">
            <a:extLst>
              <a:ext uri="{FF2B5EF4-FFF2-40B4-BE49-F238E27FC236}">
                <a16:creationId xmlns:a16="http://schemas.microsoft.com/office/drawing/2014/main" id="{7902B5BE-FB64-3962-BB78-456DB94C44B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DC3EED0-862A-52DB-F811-31BE9D3AEB5F}"/>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479901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6AE0C3E-5CE5-D6CA-A5D7-3D4100929DE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0EB0EF8-FC27-054D-1C42-6644165D702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73913A3-5F97-EC8C-EE08-F23C65E26899}"/>
              </a:ext>
            </a:extLst>
          </p:cNvPr>
          <p:cNvSpPr>
            <a:spLocks noGrp="1"/>
          </p:cNvSpPr>
          <p:nvPr>
            <p:ph type="dt" sz="half" idx="10"/>
          </p:nvPr>
        </p:nvSpPr>
        <p:spPr/>
        <p:txBody>
          <a:bodyPr/>
          <a:lstStyle/>
          <a:p>
            <a:fld id="{14679807-DAE3-43F9-9867-3105B86FC352}" type="datetimeFigureOut">
              <a:rPr lang="es-MX" smtClean="0"/>
              <a:t>03/12/2025</a:t>
            </a:fld>
            <a:endParaRPr lang="es-MX"/>
          </a:p>
        </p:txBody>
      </p:sp>
      <p:sp>
        <p:nvSpPr>
          <p:cNvPr id="5" name="Marcador de pie de página 4">
            <a:extLst>
              <a:ext uri="{FF2B5EF4-FFF2-40B4-BE49-F238E27FC236}">
                <a16:creationId xmlns:a16="http://schemas.microsoft.com/office/drawing/2014/main" id="{81F67282-FC1B-404F-CA56-C83CFBB454C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36E8FC9-023E-B012-EF07-A09D8CD68D12}"/>
              </a:ext>
            </a:extLst>
          </p:cNvPr>
          <p:cNvSpPr>
            <a:spLocks noGrp="1"/>
          </p:cNvSpPr>
          <p:nvPr>
            <p:ph type="sldNum" sz="quarter" idx="12"/>
          </p:nvPr>
        </p:nvSpPr>
        <p:spPr/>
        <p:txBody>
          <a:bodyPr/>
          <a:lstStyle/>
          <a:p>
            <a:fld id="{3FE17712-3D4E-46FC-B889-B53AA44B57D4}" type="slidenum">
              <a:rPr lang="es-MX" smtClean="0"/>
              <a:t>‹Nº›</a:t>
            </a:fld>
            <a:endParaRPr lang="es-MX"/>
          </a:p>
        </p:txBody>
      </p:sp>
    </p:spTree>
    <p:extLst>
      <p:ext uri="{BB962C8B-B14F-4D97-AF65-F5344CB8AC3E}">
        <p14:creationId xmlns:p14="http://schemas.microsoft.com/office/powerpoint/2010/main" val="3388998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C99C57E-29FA-7246-5A10-25E297309F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EC263AD-EF2A-56A5-3CAD-EED79D8A0D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A17E85B-5D74-1D51-52E9-97544C8F94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679807-DAE3-43F9-9867-3105B86FC352}" type="datetimeFigureOut">
              <a:rPr lang="es-MX" smtClean="0"/>
              <a:t>03/12/2025</a:t>
            </a:fld>
            <a:endParaRPr lang="es-MX"/>
          </a:p>
        </p:txBody>
      </p:sp>
      <p:sp>
        <p:nvSpPr>
          <p:cNvPr id="5" name="Marcador de pie de página 4">
            <a:extLst>
              <a:ext uri="{FF2B5EF4-FFF2-40B4-BE49-F238E27FC236}">
                <a16:creationId xmlns:a16="http://schemas.microsoft.com/office/drawing/2014/main" id="{06A4CA93-E912-2BDD-93E8-82F789A6A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CA1BEC1A-0D58-6593-6D9E-F967DBE67B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17712-3D4E-46FC-B889-B53AA44B57D4}" type="slidenum">
              <a:rPr lang="es-MX" smtClean="0"/>
              <a:t>‹Nº›</a:t>
            </a:fld>
            <a:endParaRPr lang="es-MX"/>
          </a:p>
        </p:txBody>
      </p:sp>
    </p:spTree>
    <p:extLst>
      <p:ext uri="{BB962C8B-B14F-4D97-AF65-F5344CB8AC3E}">
        <p14:creationId xmlns:p14="http://schemas.microsoft.com/office/powerpoint/2010/main" val="71600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google.com/search?q=https://doi.org/10.48550/arXiv.2403.06623" TargetMode="External"/><Relationship Id="rId3" Type="http://schemas.openxmlformats.org/officeDocument/2006/relationships/hyperlink" Target="https://doi.org/10.1109/ACCESS.2019.2963390" TargetMode="External"/><Relationship Id="rId7" Type="http://schemas.openxmlformats.org/officeDocument/2006/relationships/hyperlink" Target="https://doi.org/10.1016/j.jcp.2018.10.045" TargetMode="External"/><Relationship Id="rId2" Type="http://schemas.openxmlformats.org/officeDocument/2006/relationships/hyperlink" Target="https://www.google.com/search?q=https://doi.org/10.1016/j.jocs.2022.101709" TargetMode="External"/><Relationship Id="rId1" Type="http://schemas.openxmlformats.org/officeDocument/2006/relationships/slideLayout" Target="../slideLayouts/slideLayout2.xml"/><Relationship Id="rId6" Type="http://schemas.openxmlformats.org/officeDocument/2006/relationships/hyperlink" Target="https://www.google.com/search?q=https://doi.org/10.64117/simposioscea.v1i2.88" TargetMode="External"/><Relationship Id="rId5" Type="http://schemas.openxmlformats.org/officeDocument/2006/relationships/hyperlink" Target="https://doi.org/10.1137/19M1274067" TargetMode="External"/><Relationship Id="rId4" Type="http://schemas.openxmlformats.org/officeDocument/2006/relationships/hyperlink" Target="https://doi.org/10.1038/s42254-021-00314-5" TargetMode="External"/><Relationship Id="rId9" Type="http://schemas.openxmlformats.org/officeDocument/2006/relationships/hyperlink" Target="https://physicsbaseddeeplearning.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BDFE62C-94C3-0FEC-39DA-F3FF5E22B747}"/>
              </a:ext>
            </a:extLst>
          </p:cNvPr>
          <p:cNvPicPr>
            <a:picLocks noChangeAspect="1"/>
          </p:cNvPicPr>
          <p:nvPr/>
        </p:nvPicPr>
        <p:blipFill>
          <a:blip r:embed="rId2"/>
          <a:srcRect b="44803"/>
          <a:stretch>
            <a:fillRect/>
          </a:stretch>
        </p:blipFill>
        <p:spPr>
          <a:xfrm>
            <a:off x="0" y="4552729"/>
            <a:ext cx="12192000" cy="3785419"/>
          </a:xfrm>
          <a:prstGeom prst="rect">
            <a:avLst/>
          </a:prstGeom>
        </p:spPr>
      </p:pic>
      <p:sp>
        <p:nvSpPr>
          <p:cNvPr id="6" name="CuadroTexto 5">
            <a:extLst>
              <a:ext uri="{FF2B5EF4-FFF2-40B4-BE49-F238E27FC236}">
                <a16:creationId xmlns:a16="http://schemas.microsoft.com/office/drawing/2014/main" id="{52262BFE-9219-5DF9-15D3-E7BC472398DC}"/>
              </a:ext>
            </a:extLst>
          </p:cNvPr>
          <p:cNvSpPr txBox="1"/>
          <p:nvPr/>
        </p:nvSpPr>
        <p:spPr>
          <a:xfrm>
            <a:off x="1120876" y="2416046"/>
            <a:ext cx="10392697" cy="954107"/>
          </a:xfrm>
          <a:prstGeom prst="rect">
            <a:avLst/>
          </a:prstGeom>
          <a:noFill/>
        </p:spPr>
        <p:txBody>
          <a:bodyPr wrap="square" rtlCol="0">
            <a:spAutoFit/>
          </a:bodyPr>
          <a:lstStyle/>
          <a:p>
            <a:pPr algn="ctr"/>
            <a:r>
              <a:rPr lang="es-ES" sz="2800" b="1" dirty="0">
                <a:latin typeface="Times New Roman" panose="02020603050405020304" pitchFamily="18" charset="0"/>
                <a:cs typeface="Times New Roman" panose="02020603050405020304" pitchFamily="18" charset="0"/>
              </a:rPr>
              <a:t>Simulación acelerada de </a:t>
            </a:r>
            <a:r>
              <a:rPr lang="es-ES" sz="2800" b="1" dirty="0" err="1">
                <a:latin typeface="Times New Roman" panose="02020603050405020304" pitchFamily="18" charset="0"/>
                <a:cs typeface="Times New Roman" panose="02020603050405020304" pitchFamily="18" charset="0"/>
              </a:rPr>
              <a:t>speckle</a:t>
            </a:r>
            <a:r>
              <a:rPr lang="es-ES" sz="2800" b="1" dirty="0">
                <a:latin typeface="Times New Roman" panose="02020603050405020304" pitchFamily="18" charset="0"/>
                <a:cs typeface="Times New Roman" panose="02020603050405020304" pitchFamily="18" charset="0"/>
              </a:rPr>
              <a:t> óptico: Un enfoque basado Redes Neuronales Físicamente Informadas (</a:t>
            </a:r>
            <a:r>
              <a:rPr lang="es-ES" sz="2800" b="1" dirty="0" err="1">
                <a:latin typeface="Times New Roman" panose="02020603050405020304" pitchFamily="18" charset="0"/>
                <a:cs typeface="Times New Roman" panose="02020603050405020304" pitchFamily="18" charset="0"/>
              </a:rPr>
              <a:t>PINN's</a:t>
            </a:r>
            <a:r>
              <a:rPr lang="es-ES" sz="2800" b="1" dirty="0">
                <a:latin typeface="Times New Roman" panose="02020603050405020304" pitchFamily="18" charset="0"/>
                <a:cs typeface="Times New Roman" panose="02020603050405020304" pitchFamily="18" charset="0"/>
              </a:rPr>
              <a:t>)</a:t>
            </a:r>
            <a:endParaRPr lang="es-MX" sz="2800" b="1" dirty="0">
              <a:latin typeface="Times New Roman" panose="02020603050405020304" pitchFamily="18" charset="0"/>
              <a:cs typeface="Times New Roman" panose="02020603050405020304" pitchFamily="18" charset="0"/>
            </a:endParaRPr>
          </a:p>
        </p:txBody>
      </p:sp>
      <p:sp>
        <p:nvSpPr>
          <p:cNvPr id="7" name="CuadroTexto 6">
            <a:extLst>
              <a:ext uri="{FF2B5EF4-FFF2-40B4-BE49-F238E27FC236}">
                <a16:creationId xmlns:a16="http://schemas.microsoft.com/office/drawing/2014/main" id="{B3FA11D5-D30A-E133-351A-0320BA2FD6CB}"/>
              </a:ext>
            </a:extLst>
          </p:cNvPr>
          <p:cNvSpPr txBox="1"/>
          <p:nvPr/>
        </p:nvSpPr>
        <p:spPr>
          <a:xfrm>
            <a:off x="3087325" y="3534273"/>
            <a:ext cx="6184491" cy="2893100"/>
          </a:xfrm>
          <a:prstGeom prst="rect">
            <a:avLst/>
          </a:prstGeom>
          <a:noFill/>
        </p:spPr>
        <p:txBody>
          <a:bodyPr wrap="square" rtlCol="0">
            <a:spAutoFit/>
          </a:bodyPr>
          <a:lstStyle/>
          <a:p>
            <a:pPr algn="ctr"/>
            <a:r>
              <a:rPr lang="es-ES" sz="1400" b="1" dirty="0">
                <a:latin typeface="Times New Roman" panose="02020603050405020304" pitchFamily="18" charset="0"/>
                <a:cs typeface="Times New Roman" panose="02020603050405020304" pitchFamily="18" charset="0"/>
              </a:rPr>
              <a:t>PROTOCOLO DE TESIS</a:t>
            </a:r>
          </a:p>
          <a:p>
            <a:pPr algn="ctr"/>
            <a:r>
              <a:rPr lang="es-ES" sz="1400" b="1" dirty="0">
                <a:latin typeface="Times New Roman" panose="02020603050405020304" pitchFamily="18" charset="0"/>
                <a:cs typeface="Times New Roman" panose="02020603050405020304" pitchFamily="18" charset="0"/>
              </a:rPr>
              <a:t>MAESTRÍA EN CIENCIAS DE LA COMPUTACIÓN</a:t>
            </a:r>
          </a:p>
          <a:p>
            <a:pPr algn="ctr"/>
            <a:endParaRPr lang="es-ES" sz="1400" b="1" dirty="0">
              <a:latin typeface="Times New Roman" panose="02020603050405020304" pitchFamily="18" charset="0"/>
              <a:cs typeface="Times New Roman" panose="02020603050405020304" pitchFamily="18" charset="0"/>
            </a:endParaRPr>
          </a:p>
          <a:p>
            <a:pPr algn="ctr"/>
            <a:r>
              <a:rPr lang="es-MX" sz="1400" b="1" dirty="0">
                <a:latin typeface="Times New Roman" panose="02020603050405020304" pitchFamily="18" charset="0"/>
                <a:cs typeface="Times New Roman" panose="02020603050405020304" pitchFamily="18" charset="0"/>
              </a:rPr>
              <a:t>RESENTA:</a:t>
            </a:r>
          </a:p>
          <a:p>
            <a:pPr algn="ctr"/>
            <a:r>
              <a:rPr lang="es-MX" sz="1400" b="1" dirty="0">
                <a:latin typeface="Times New Roman" panose="02020603050405020304" pitchFamily="18" charset="0"/>
                <a:cs typeface="Times New Roman" panose="02020603050405020304" pitchFamily="18" charset="0"/>
              </a:rPr>
              <a:t>ROBERTO HERNÁNDEZ ESTRADA</a:t>
            </a:r>
          </a:p>
          <a:p>
            <a:pPr algn="ctr"/>
            <a:endParaRPr lang="es-MX" sz="1400" b="1" dirty="0">
              <a:latin typeface="Times New Roman" panose="02020603050405020304" pitchFamily="18" charset="0"/>
              <a:cs typeface="Times New Roman" panose="02020603050405020304" pitchFamily="18" charset="0"/>
            </a:endParaRPr>
          </a:p>
          <a:p>
            <a:pPr algn="ctr"/>
            <a:r>
              <a:rPr lang="es-MX" sz="1400" b="1" dirty="0">
                <a:latin typeface="Times New Roman" panose="02020603050405020304" pitchFamily="18" charset="0"/>
                <a:cs typeface="Times New Roman" panose="02020603050405020304" pitchFamily="18" charset="0"/>
              </a:rPr>
              <a:t>BAJO LA DIRECCIÓN DE:</a:t>
            </a:r>
          </a:p>
          <a:p>
            <a:pPr algn="ctr"/>
            <a:r>
              <a:rPr lang="es-MX" sz="1400" b="1" dirty="0">
                <a:latin typeface="Times New Roman" panose="02020603050405020304" pitchFamily="18" charset="0"/>
                <a:cs typeface="Times New Roman" panose="02020603050405020304" pitchFamily="18" charset="0"/>
              </a:rPr>
              <a:t>DR. JOSÉ ADÁN HERNÁNDEZ NOLASCO</a:t>
            </a:r>
          </a:p>
          <a:p>
            <a:pPr algn="ctr"/>
            <a:endParaRPr lang="es-MX" sz="1400" b="1" dirty="0">
              <a:latin typeface="Times New Roman" panose="02020603050405020304" pitchFamily="18" charset="0"/>
              <a:cs typeface="Times New Roman" panose="02020603050405020304" pitchFamily="18" charset="0"/>
            </a:endParaRPr>
          </a:p>
          <a:p>
            <a:pPr algn="ctr"/>
            <a:r>
              <a:rPr lang="es-MX" sz="1400" b="1" dirty="0">
                <a:latin typeface="Times New Roman" panose="02020603050405020304" pitchFamily="18" charset="0"/>
                <a:cs typeface="Times New Roman" panose="02020603050405020304" pitchFamily="18" charset="0"/>
              </a:rPr>
              <a:t>JURADO REVISOR:</a:t>
            </a:r>
          </a:p>
          <a:p>
            <a:pPr algn="ctr"/>
            <a:r>
              <a:rPr lang="es-MX" sz="1400" b="1" dirty="0">
                <a:latin typeface="Times New Roman" panose="02020603050405020304" pitchFamily="18" charset="0"/>
                <a:cs typeface="Times New Roman" panose="02020603050405020304" pitchFamily="18" charset="0"/>
              </a:rPr>
              <a:t>DR. PABLO PANCARDO GARCÍA</a:t>
            </a:r>
          </a:p>
          <a:p>
            <a:pPr algn="ctr"/>
            <a:r>
              <a:rPr lang="es-MX" sz="1400" b="1" dirty="0">
                <a:latin typeface="Times New Roman" panose="02020603050405020304" pitchFamily="18" charset="0"/>
                <a:cs typeface="Times New Roman" panose="02020603050405020304" pitchFamily="18" charset="0"/>
              </a:rPr>
              <a:t>DR. MIGUEL ANTONIO WISTER OVANDO</a:t>
            </a:r>
          </a:p>
          <a:p>
            <a:pPr algn="ctr"/>
            <a:r>
              <a:rPr lang="es-MX" sz="1400" b="1" dirty="0">
                <a:latin typeface="Times New Roman" panose="02020603050405020304" pitchFamily="18" charset="0"/>
                <a:cs typeface="Times New Roman" panose="02020603050405020304" pitchFamily="18" charset="0"/>
              </a:rPr>
              <a:t>DR. OSCAR ALBERTO CHÁVEZ BOSQUEZ</a:t>
            </a:r>
          </a:p>
        </p:txBody>
      </p:sp>
      <p:sp>
        <p:nvSpPr>
          <p:cNvPr id="8" name="CuadroTexto 7">
            <a:extLst>
              <a:ext uri="{FF2B5EF4-FFF2-40B4-BE49-F238E27FC236}">
                <a16:creationId xmlns:a16="http://schemas.microsoft.com/office/drawing/2014/main" id="{55EC208F-D2BD-4C44-E795-0C55999E9685}"/>
              </a:ext>
            </a:extLst>
          </p:cNvPr>
          <p:cNvSpPr txBox="1"/>
          <p:nvPr/>
        </p:nvSpPr>
        <p:spPr>
          <a:xfrm>
            <a:off x="2276165" y="1051597"/>
            <a:ext cx="7806813" cy="1200329"/>
          </a:xfrm>
          <a:prstGeom prst="rect">
            <a:avLst/>
          </a:prstGeom>
          <a:noFill/>
        </p:spPr>
        <p:txBody>
          <a:bodyPr wrap="square" rtlCol="0">
            <a:spAutoFit/>
          </a:bodyPr>
          <a:lstStyle/>
          <a:p>
            <a:pPr algn="ctr"/>
            <a:r>
              <a:rPr lang="es-ES" b="1" dirty="0">
                <a:latin typeface="Times New Roman" panose="02020603050405020304" pitchFamily="18" charset="0"/>
                <a:cs typeface="Times New Roman" panose="02020603050405020304" pitchFamily="18" charset="0"/>
              </a:rPr>
              <a:t>UNIVERSIDAD JUÁREZ AUTÓNOMA DE TABASCO</a:t>
            </a:r>
          </a:p>
          <a:p>
            <a:pPr algn="ctr"/>
            <a:endParaRPr lang="es-ES" b="1" dirty="0">
              <a:latin typeface="Times New Roman" panose="02020603050405020304" pitchFamily="18" charset="0"/>
              <a:cs typeface="Times New Roman" panose="02020603050405020304" pitchFamily="18" charset="0"/>
            </a:endParaRPr>
          </a:p>
          <a:p>
            <a:pPr algn="ctr"/>
            <a:r>
              <a:rPr lang="es-ES" b="1" dirty="0">
                <a:latin typeface="Times New Roman" panose="02020603050405020304" pitchFamily="18" charset="0"/>
                <a:cs typeface="Times New Roman" panose="02020603050405020304" pitchFamily="18" charset="0"/>
              </a:rPr>
              <a:t>DIVISIÓN ACADÉMICA DE CIENCIAS Y TECNOLOGÍAS DE LAINFORMACIÓN</a:t>
            </a:r>
            <a:endParaRPr lang="es-MX" b="1" dirty="0">
              <a:latin typeface="Times New Roman" panose="02020603050405020304" pitchFamily="18" charset="0"/>
              <a:cs typeface="Times New Roman" panose="02020603050405020304" pitchFamily="18" charset="0"/>
            </a:endParaRPr>
          </a:p>
        </p:txBody>
      </p:sp>
      <p:sp>
        <p:nvSpPr>
          <p:cNvPr id="9" name="CuadroTexto 8">
            <a:extLst>
              <a:ext uri="{FF2B5EF4-FFF2-40B4-BE49-F238E27FC236}">
                <a16:creationId xmlns:a16="http://schemas.microsoft.com/office/drawing/2014/main" id="{32FE172B-58C7-C1E3-0E6C-5C49AF26E5CB}"/>
              </a:ext>
            </a:extLst>
          </p:cNvPr>
          <p:cNvSpPr txBox="1"/>
          <p:nvPr/>
        </p:nvSpPr>
        <p:spPr>
          <a:xfrm>
            <a:off x="11513573" y="7559141"/>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136455353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793E99-8B3D-DA17-303F-EA72183D3EA4}"/>
              </a:ext>
            </a:extLst>
          </p:cNvPr>
          <p:cNvSpPr>
            <a:spLocks noGrp="1"/>
          </p:cNvSpPr>
          <p:nvPr>
            <p:ph type="title"/>
          </p:nvPr>
        </p:nvSpPr>
        <p:spPr/>
        <p:txBody>
          <a:bodyPr/>
          <a:lstStyle/>
          <a:p>
            <a:pPr algn="ctr"/>
            <a:r>
              <a:rPr lang="es-ES" b="1" dirty="0">
                <a:latin typeface="Times New Roman" panose="02020603050405020304" pitchFamily="18" charset="0"/>
                <a:cs typeface="Times New Roman" panose="02020603050405020304" pitchFamily="18" charset="0"/>
              </a:rPr>
              <a:t>El mundo conocido: El poder y la carga de la simulación tradicional</a:t>
            </a:r>
            <a:endParaRPr lang="es-MX" b="1"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434B09BF-1883-39CD-254C-2CBDAF54D395}"/>
              </a:ext>
            </a:extLst>
          </p:cNvPr>
          <p:cNvSpPr>
            <a:spLocks noGrp="1"/>
          </p:cNvSpPr>
          <p:nvPr>
            <p:ph idx="1"/>
          </p:nvPr>
        </p:nvSpPr>
        <p:spPr>
          <a:xfrm>
            <a:off x="127819" y="1799303"/>
            <a:ext cx="7934633" cy="4377660"/>
          </a:xfrm>
        </p:spPr>
        <p:txBody>
          <a:bodyPr>
            <a:normAutofit/>
          </a:bodyPr>
          <a:lstStyle/>
          <a:p>
            <a:pPr marL="0" indent="0">
              <a:buNone/>
            </a:pPr>
            <a:r>
              <a:rPr lang="es-ES" sz="1800" dirty="0">
                <a:latin typeface="Times New Roman" panose="02020603050405020304" pitchFamily="18" charset="0"/>
                <a:cs typeface="Times New Roman" panose="02020603050405020304" pitchFamily="18" charset="0"/>
              </a:rPr>
              <a:t>La ciencia y la ingeniería modernas se construyen sobre métodos numéricos robustos como el Método de Elementos Finitos (FEM). Estas herramientas nos permiten simular desde la integridad estructural de un avión hasta la dinámica de fluidos complejos, transformando radicalmente el diseño y la innovación.</a:t>
            </a:r>
          </a:p>
          <a:p>
            <a:r>
              <a:rPr lang="es-ES" sz="1800" dirty="0">
                <a:latin typeface="Times New Roman" panose="02020603050405020304" pitchFamily="18" charset="0"/>
                <a:cs typeface="Times New Roman" panose="02020603050405020304" pitchFamily="18" charset="0"/>
              </a:rPr>
              <a:t>Precisión validada: Décadas de desarrollo han convertido al FEM en el estándar de oro para la resolución de Ecuaciones Diferenciales Parciales (EDP).</a:t>
            </a:r>
          </a:p>
          <a:p>
            <a:r>
              <a:rPr lang="es-ES" sz="1800" dirty="0">
                <a:latin typeface="Times New Roman" panose="02020603050405020304" pitchFamily="18" charset="0"/>
                <a:cs typeface="Times New Roman" panose="02020603050405020304" pitchFamily="18" charset="0"/>
              </a:rPr>
              <a:t>Infraestructura madura: Un ecosistema completo de software comercial y de código abierto (</a:t>
            </a:r>
            <a:r>
              <a:rPr lang="es-ES" sz="1800" dirty="0" err="1">
                <a:latin typeface="Times New Roman" panose="02020603050405020304" pitchFamily="18" charset="0"/>
                <a:cs typeface="Times New Roman" panose="02020603050405020304" pitchFamily="18" charset="0"/>
              </a:rPr>
              <a:t>Ansys</a:t>
            </a:r>
            <a:r>
              <a:rPr lang="es-ES" sz="1800" dirty="0">
                <a:latin typeface="Times New Roman" panose="02020603050405020304" pitchFamily="18" charset="0"/>
                <a:cs typeface="Times New Roman" panose="02020603050405020304" pitchFamily="18" charset="0"/>
              </a:rPr>
              <a:t>, </a:t>
            </a:r>
            <a:r>
              <a:rPr lang="es-ES" sz="1800" dirty="0" err="1">
                <a:latin typeface="Times New Roman" panose="02020603050405020304" pitchFamily="18" charset="0"/>
                <a:cs typeface="Times New Roman" panose="02020603050405020304" pitchFamily="18" charset="0"/>
              </a:rPr>
              <a:t>Abaqus</a:t>
            </a:r>
            <a:r>
              <a:rPr lang="es-ES" sz="1800" dirty="0">
                <a:latin typeface="Times New Roman" panose="02020603050405020304" pitchFamily="18" charset="0"/>
                <a:cs typeface="Times New Roman" panose="02020603050405020304" pitchFamily="18" charset="0"/>
              </a:rPr>
              <a:t>, </a:t>
            </a:r>
            <a:r>
              <a:rPr lang="es-ES" sz="1800" dirty="0" err="1">
                <a:latin typeface="Times New Roman" panose="02020603050405020304" pitchFamily="18" charset="0"/>
                <a:cs typeface="Times New Roman" panose="02020603050405020304" pitchFamily="18" charset="0"/>
              </a:rPr>
              <a:t>FEniCS</a:t>
            </a:r>
            <a:r>
              <a:rPr lang="es-ES" sz="1800" dirty="0">
                <a:latin typeface="Times New Roman" panose="02020603050405020304" pitchFamily="18" charset="0"/>
                <a:cs typeface="Times New Roman" panose="02020603050405020304" pitchFamily="18" charset="0"/>
              </a:rPr>
              <a:t>) respalda su aplicación universal.</a:t>
            </a:r>
          </a:p>
          <a:p>
            <a:r>
              <a:rPr lang="es-ES" sz="1800" dirty="0">
                <a:latin typeface="Times New Roman" panose="02020603050405020304" pitchFamily="18" charset="0"/>
                <a:cs typeface="Times New Roman" panose="02020603050405020304" pitchFamily="18" charset="0"/>
              </a:rPr>
              <a:t>Base teórica sólida: Su fiabilidad se fundamenta en una rigurosa base matemática.</a:t>
            </a:r>
            <a:endParaRPr lang="es-MX" sz="1800" dirty="0">
              <a:latin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0C93BC54-914D-616B-6EF9-0CF75892C7E9}"/>
              </a:ext>
            </a:extLst>
          </p:cNvPr>
          <p:cNvPicPr>
            <a:picLocks noChangeAspect="1"/>
          </p:cNvPicPr>
          <p:nvPr/>
        </p:nvPicPr>
        <p:blipFill>
          <a:blip r:embed="rId2"/>
          <a:stretch>
            <a:fillRect/>
          </a:stretch>
        </p:blipFill>
        <p:spPr>
          <a:xfrm>
            <a:off x="8593624" y="1543664"/>
            <a:ext cx="3598375" cy="5355129"/>
          </a:xfrm>
          <a:prstGeom prst="rect">
            <a:avLst/>
          </a:prstGeom>
        </p:spPr>
      </p:pic>
      <p:sp>
        <p:nvSpPr>
          <p:cNvPr id="6" name="CuadroTexto 5">
            <a:extLst>
              <a:ext uri="{FF2B5EF4-FFF2-40B4-BE49-F238E27FC236}">
                <a16:creationId xmlns:a16="http://schemas.microsoft.com/office/drawing/2014/main" id="{524622A1-64C6-6FCB-2624-39250C2366B8}"/>
              </a:ext>
            </a:extLst>
          </p:cNvPr>
          <p:cNvSpPr txBox="1"/>
          <p:nvPr/>
        </p:nvSpPr>
        <p:spPr>
          <a:xfrm>
            <a:off x="1174266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354407076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37942-3F0A-CA09-5979-4E5020C5D9C0}"/>
              </a:ext>
            </a:extLst>
          </p:cNvPr>
          <p:cNvSpPr>
            <a:spLocks noGrp="1"/>
          </p:cNvSpPr>
          <p:nvPr>
            <p:ph type="title"/>
          </p:nvPr>
        </p:nvSpPr>
        <p:spPr/>
        <p:txBody>
          <a:bodyPr/>
          <a:lstStyle/>
          <a:p>
            <a:r>
              <a:rPr lang="es-MX" b="1" dirty="0">
                <a:latin typeface="Times New Roman" panose="02020603050405020304" pitchFamily="18" charset="0"/>
                <a:cs typeface="Times New Roman" panose="02020603050405020304" pitchFamily="18" charset="0"/>
              </a:rPr>
              <a:t>El mundo oculto en la luz coherente: la importancia del </a:t>
            </a:r>
            <a:r>
              <a:rPr lang="es-MX" b="1" dirty="0" err="1">
                <a:latin typeface="Times New Roman" panose="02020603050405020304" pitchFamily="18" charset="0"/>
                <a:cs typeface="Times New Roman" panose="02020603050405020304" pitchFamily="18" charset="0"/>
              </a:rPr>
              <a:t>speckle</a:t>
            </a:r>
            <a:r>
              <a:rPr lang="es-MX" b="1" dirty="0">
                <a:latin typeface="Times New Roman" panose="02020603050405020304" pitchFamily="18" charset="0"/>
                <a:cs typeface="Times New Roman" panose="02020603050405020304" pitchFamily="18" charset="0"/>
              </a:rPr>
              <a:t> óptico.</a:t>
            </a:r>
          </a:p>
        </p:txBody>
      </p:sp>
      <p:sp>
        <p:nvSpPr>
          <p:cNvPr id="3" name="Marcador de contenido 2">
            <a:extLst>
              <a:ext uri="{FF2B5EF4-FFF2-40B4-BE49-F238E27FC236}">
                <a16:creationId xmlns:a16="http://schemas.microsoft.com/office/drawing/2014/main" id="{1BF0B7F9-B2AD-E4C6-C403-5A45D80E9253}"/>
              </a:ext>
            </a:extLst>
          </p:cNvPr>
          <p:cNvSpPr>
            <a:spLocks noGrp="1"/>
          </p:cNvSpPr>
          <p:nvPr>
            <p:ph idx="1"/>
          </p:nvPr>
        </p:nvSpPr>
        <p:spPr>
          <a:xfrm>
            <a:off x="838200" y="1825625"/>
            <a:ext cx="10515600" cy="1222375"/>
          </a:xfrm>
        </p:spPr>
        <p:txBody>
          <a:bodyPr>
            <a:normAutofit/>
          </a:bodyPr>
          <a:lstStyle/>
          <a:p>
            <a:pPr marL="0" indent="0">
              <a:buNone/>
            </a:pPr>
            <a:r>
              <a:rPr lang="es-MX" sz="1800" dirty="0">
                <a:latin typeface="Times New Roman" panose="02020603050405020304" pitchFamily="18" charset="0"/>
                <a:cs typeface="Times New Roman" panose="02020603050405020304" pitchFamily="18" charset="0"/>
              </a:rPr>
              <a:t>El </a:t>
            </a:r>
            <a:r>
              <a:rPr lang="es-MX" sz="1800" dirty="0" err="1">
                <a:latin typeface="Times New Roman" panose="02020603050405020304" pitchFamily="18" charset="0"/>
                <a:cs typeface="Times New Roman" panose="02020603050405020304" pitchFamily="18" charset="0"/>
              </a:rPr>
              <a:t>speckle</a:t>
            </a:r>
            <a:r>
              <a:rPr lang="es-MX" sz="1800" dirty="0">
                <a:latin typeface="Times New Roman" panose="02020603050405020304" pitchFamily="18" charset="0"/>
                <a:cs typeface="Times New Roman" panose="02020603050405020304" pitchFamily="18" charset="0"/>
              </a:rPr>
              <a:t> óptico es un complejo patrón de interferencia que surge cuando la luz coherente, como la de un láser, se dispersa. Lejos de ser un simple ruido, su simulación precisa es fundamental para el avance de tecnologías críticas.</a:t>
            </a:r>
          </a:p>
        </p:txBody>
      </p:sp>
      <p:sp>
        <p:nvSpPr>
          <p:cNvPr id="4" name="CuadroTexto 3">
            <a:extLst>
              <a:ext uri="{FF2B5EF4-FFF2-40B4-BE49-F238E27FC236}">
                <a16:creationId xmlns:a16="http://schemas.microsoft.com/office/drawing/2014/main" id="{AB34047B-2F62-52F5-B6C0-4BB7A4286151}"/>
              </a:ext>
            </a:extLst>
          </p:cNvPr>
          <p:cNvSpPr txBox="1"/>
          <p:nvPr/>
        </p:nvSpPr>
        <p:spPr>
          <a:xfrm>
            <a:off x="946355" y="4815029"/>
            <a:ext cx="3185652" cy="2031325"/>
          </a:xfrm>
          <a:prstGeom prst="rect">
            <a:avLst/>
          </a:prstGeom>
          <a:noFill/>
        </p:spPr>
        <p:txBody>
          <a:bodyPr wrap="square" rtlCol="0">
            <a:spAutoFit/>
          </a:bodyPr>
          <a:lstStyle/>
          <a:p>
            <a:pPr algn="just"/>
            <a:r>
              <a:rPr lang="es-ES" b="1" dirty="0">
                <a:latin typeface="Times New Roman" panose="02020603050405020304" pitchFamily="18" charset="0"/>
                <a:cs typeface="Times New Roman" panose="02020603050405020304" pitchFamily="18" charset="0"/>
              </a:rPr>
              <a:t>Imagenología biomédica</a:t>
            </a:r>
          </a:p>
          <a:p>
            <a:pPr algn="just"/>
            <a:r>
              <a:rPr lang="es-ES" dirty="0">
                <a:latin typeface="Times New Roman" panose="02020603050405020304" pitchFamily="18" charset="0"/>
                <a:cs typeface="Times New Roman" panose="02020603050405020304" pitchFamily="18" charset="0"/>
              </a:rPr>
              <a:t>Fundamental para para técnicas como la Tomografía de Coherencia Óptica (DCT), permitiendo visualizar estructuras biológicas a nivel microscópico.</a:t>
            </a:r>
            <a:endParaRPr lang="es-MX" dirty="0">
              <a:latin typeface="Times New Roman" panose="02020603050405020304" pitchFamily="18" charset="0"/>
              <a:cs typeface="Times New Roman" panose="02020603050405020304" pitchFamily="18" charset="0"/>
            </a:endParaRPr>
          </a:p>
        </p:txBody>
      </p:sp>
      <p:sp>
        <p:nvSpPr>
          <p:cNvPr id="5" name="CuadroTexto 4">
            <a:extLst>
              <a:ext uri="{FF2B5EF4-FFF2-40B4-BE49-F238E27FC236}">
                <a16:creationId xmlns:a16="http://schemas.microsoft.com/office/drawing/2014/main" id="{B9539DE2-3AFA-C132-6D63-047C8BB48C87}"/>
              </a:ext>
            </a:extLst>
          </p:cNvPr>
          <p:cNvSpPr txBox="1"/>
          <p:nvPr/>
        </p:nvSpPr>
        <p:spPr>
          <a:xfrm>
            <a:off x="4503174" y="4826675"/>
            <a:ext cx="3185651" cy="1477328"/>
          </a:xfrm>
          <a:prstGeom prst="rect">
            <a:avLst/>
          </a:prstGeom>
          <a:noFill/>
        </p:spPr>
        <p:txBody>
          <a:bodyPr wrap="square" rtlCol="0">
            <a:spAutoFit/>
          </a:bodyPr>
          <a:lstStyle/>
          <a:p>
            <a:pPr algn="just"/>
            <a:r>
              <a:rPr lang="es-ES" b="1" dirty="0">
                <a:latin typeface="Times New Roman" panose="02020603050405020304" pitchFamily="18" charset="0"/>
                <a:cs typeface="Times New Roman" panose="02020603050405020304" pitchFamily="18" charset="0"/>
              </a:rPr>
              <a:t>Metrología de precisión</a:t>
            </a:r>
          </a:p>
          <a:p>
            <a:pPr algn="just"/>
            <a:r>
              <a:rPr lang="es-ES" dirty="0">
                <a:latin typeface="Times New Roman" panose="02020603050405020304" pitchFamily="18" charset="0"/>
                <a:cs typeface="Times New Roman" panose="02020603050405020304" pitchFamily="18" charset="0"/>
              </a:rPr>
              <a:t>Utilizado para medir vibraciones y deformaciones a escala nanométrica en ingeniería y ciencia de materiales.</a:t>
            </a:r>
            <a:endParaRPr lang="es-MX" dirty="0">
              <a:latin typeface="Times New Roman" panose="02020603050405020304" pitchFamily="18" charset="0"/>
              <a:cs typeface="Times New Roman" panose="02020603050405020304" pitchFamily="18" charset="0"/>
            </a:endParaRPr>
          </a:p>
        </p:txBody>
      </p:sp>
      <p:sp>
        <p:nvSpPr>
          <p:cNvPr id="6" name="CuadroTexto 5">
            <a:extLst>
              <a:ext uri="{FF2B5EF4-FFF2-40B4-BE49-F238E27FC236}">
                <a16:creationId xmlns:a16="http://schemas.microsoft.com/office/drawing/2014/main" id="{E3CC1DF0-1FA1-09D8-7711-322E4D8B92CD}"/>
              </a:ext>
            </a:extLst>
          </p:cNvPr>
          <p:cNvSpPr txBox="1"/>
          <p:nvPr/>
        </p:nvSpPr>
        <p:spPr>
          <a:xfrm>
            <a:off x="8182749" y="4826675"/>
            <a:ext cx="3185651" cy="2031325"/>
          </a:xfrm>
          <a:prstGeom prst="rect">
            <a:avLst/>
          </a:prstGeom>
          <a:noFill/>
        </p:spPr>
        <p:txBody>
          <a:bodyPr wrap="square" rtlCol="0">
            <a:spAutoFit/>
          </a:bodyPr>
          <a:lstStyle/>
          <a:p>
            <a:pPr algn="just"/>
            <a:r>
              <a:rPr lang="es-ES" b="1" dirty="0">
                <a:latin typeface="Times New Roman" panose="02020603050405020304" pitchFamily="18" charset="0"/>
                <a:cs typeface="Times New Roman" panose="02020603050405020304" pitchFamily="18" charset="0"/>
              </a:rPr>
              <a:t>Seguridad y criptografía óptica</a:t>
            </a:r>
          </a:p>
          <a:p>
            <a:pPr algn="just"/>
            <a:r>
              <a:rPr lang="es-ES" dirty="0">
                <a:latin typeface="Times New Roman" panose="02020603050405020304" pitchFamily="18" charset="0"/>
                <a:cs typeface="Times New Roman" panose="02020603050405020304" pitchFamily="18" charset="0"/>
              </a:rPr>
              <a:t>La naturaleza única y aleatoria de los patrones de </a:t>
            </a:r>
            <a:r>
              <a:rPr lang="es-ES" dirty="0" err="1">
                <a:latin typeface="Times New Roman" panose="02020603050405020304" pitchFamily="18" charset="0"/>
                <a:cs typeface="Times New Roman" panose="02020603050405020304" pitchFamily="18" charset="0"/>
              </a:rPr>
              <a:t>speckle</a:t>
            </a:r>
            <a:r>
              <a:rPr lang="es-ES" dirty="0">
                <a:latin typeface="Times New Roman" panose="02020603050405020304" pitchFamily="18" charset="0"/>
                <a:cs typeface="Times New Roman" panose="02020603050405020304" pitchFamily="18" charset="0"/>
              </a:rPr>
              <a:t> se aprovecha para crear sistemas de autenticación física imposibles de clonar</a:t>
            </a:r>
            <a:endParaRPr lang="es-MX" dirty="0">
              <a:latin typeface="Times New Roman" panose="02020603050405020304" pitchFamily="18" charset="0"/>
              <a:cs typeface="Times New Roman" panose="02020603050405020304" pitchFamily="18" charset="0"/>
            </a:endParaRPr>
          </a:p>
        </p:txBody>
      </p:sp>
      <p:pic>
        <p:nvPicPr>
          <p:cNvPr id="8" name="Imagen 7">
            <a:extLst>
              <a:ext uri="{FF2B5EF4-FFF2-40B4-BE49-F238E27FC236}">
                <a16:creationId xmlns:a16="http://schemas.microsoft.com/office/drawing/2014/main" id="{1E7F1F29-D92C-AFD6-8267-0E2A983CDC8F}"/>
              </a:ext>
            </a:extLst>
          </p:cNvPr>
          <p:cNvPicPr>
            <a:picLocks noChangeAspect="1"/>
          </p:cNvPicPr>
          <p:nvPr/>
        </p:nvPicPr>
        <p:blipFill>
          <a:blip r:embed="rId2"/>
          <a:stretch>
            <a:fillRect/>
          </a:stretch>
        </p:blipFill>
        <p:spPr>
          <a:xfrm>
            <a:off x="1306919" y="2804973"/>
            <a:ext cx="2248214" cy="2010056"/>
          </a:xfrm>
          <a:prstGeom prst="flowChartConnector">
            <a:avLst/>
          </a:prstGeom>
        </p:spPr>
      </p:pic>
      <p:pic>
        <p:nvPicPr>
          <p:cNvPr id="10" name="Imagen 9">
            <a:extLst>
              <a:ext uri="{FF2B5EF4-FFF2-40B4-BE49-F238E27FC236}">
                <a16:creationId xmlns:a16="http://schemas.microsoft.com/office/drawing/2014/main" id="{36E9B787-8198-1E04-1FE3-8DB110E71BBC}"/>
              </a:ext>
            </a:extLst>
          </p:cNvPr>
          <p:cNvPicPr>
            <a:picLocks noChangeAspect="1"/>
          </p:cNvPicPr>
          <p:nvPr/>
        </p:nvPicPr>
        <p:blipFill>
          <a:blip r:embed="rId3"/>
          <a:stretch>
            <a:fillRect/>
          </a:stretch>
        </p:blipFill>
        <p:spPr>
          <a:xfrm>
            <a:off x="4824235" y="2919289"/>
            <a:ext cx="2543530" cy="1886213"/>
          </a:xfrm>
          <a:prstGeom prst="flowChartConnector">
            <a:avLst/>
          </a:prstGeom>
        </p:spPr>
      </p:pic>
      <p:pic>
        <p:nvPicPr>
          <p:cNvPr id="12" name="Imagen 11">
            <a:extLst>
              <a:ext uri="{FF2B5EF4-FFF2-40B4-BE49-F238E27FC236}">
                <a16:creationId xmlns:a16="http://schemas.microsoft.com/office/drawing/2014/main" id="{3F9BD1BC-B261-7BE3-6D4D-96D4B4291CBE}"/>
              </a:ext>
            </a:extLst>
          </p:cNvPr>
          <p:cNvPicPr>
            <a:picLocks noChangeAspect="1"/>
          </p:cNvPicPr>
          <p:nvPr/>
        </p:nvPicPr>
        <p:blipFill>
          <a:blip r:embed="rId4"/>
          <a:stretch>
            <a:fillRect/>
          </a:stretch>
        </p:blipFill>
        <p:spPr>
          <a:xfrm>
            <a:off x="8751183" y="2804973"/>
            <a:ext cx="2133898" cy="2000529"/>
          </a:xfrm>
          <a:prstGeom prst="flowChartConnector">
            <a:avLst/>
          </a:prstGeom>
        </p:spPr>
      </p:pic>
      <p:sp>
        <p:nvSpPr>
          <p:cNvPr id="13" name="CuadroTexto 12">
            <a:extLst>
              <a:ext uri="{FF2B5EF4-FFF2-40B4-BE49-F238E27FC236}">
                <a16:creationId xmlns:a16="http://schemas.microsoft.com/office/drawing/2014/main" id="{6B903528-86A9-954B-E6DA-A7DFFE44E320}"/>
              </a:ext>
            </a:extLst>
          </p:cNvPr>
          <p:cNvSpPr txBox="1"/>
          <p:nvPr/>
        </p:nvSpPr>
        <p:spPr>
          <a:xfrm>
            <a:off x="1174266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1754360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5AD20AB-FB38-EB2C-203F-96004C27DE16}"/>
              </a:ext>
            </a:extLst>
          </p:cNvPr>
          <p:cNvPicPr>
            <a:picLocks noChangeAspect="1"/>
          </p:cNvPicPr>
          <p:nvPr/>
        </p:nvPicPr>
        <p:blipFill>
          <a:blip r:embed="rId2"/>
          <a:stretch>
            <a:fillRect/>
          </a:stretch>
        </p:blipFill>
        <p:spPr>
          <a:xfrm>
            <a:off x="4459249" y="0"/>
            <a:ext cx="7810874" cy="6858000"/>
          </a:xfrm>
          <a:prstGeom prst="rect">
            <a:avLst/>
          </a:prstGeom>
        </p:spPr>
      </p:pic>
      <p:sp>
        <p:nvSpPr>
          <p:cNvPr id="6" name="Rectángulo 5">
            <a:extLst>
              <a:ext uri="{FF2B5EF4-FFF2-40B4-BE49-F238E27FC236}">
                <a16:creationId xmlns:a16="http://schemas.microsoft.com/office/drawing/2014/main" id="{2E7F65D4-367C-B681-AF54-8749C886C689}"/>
              </a:ext>
            </a:extLst>
          </p:cNvPr>
          <p:cNvSpPr/>
          <p:nvPr/>
        </p:nvSpPr>
        <p:spPr>
          <a:xfrm>
            <a:off x="341509" y="825910"/>
            <a:ext cx="3947973" cy="481781"/>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tx1"/>
                </a:solidFill>
                <a:latin typeface="Times New Roman" panose="02020603050405020304" pitchFamily="18" charset="0"/>
                <a:cs typeface="Times New Roman" panose="02020603050405020304" pitchFamily="18" charset="0"/>
              </a:rPr>
              <a:t>El paradigma actual: Simulación basada en la fuerza</a:t>
            </a:r>
            <a:endParaRPr lang="es-MX" sz="3200" b="1" dirty="0">
              <a:solidFill>
                <a:schemeClr val="tx1"/>
              </a:solidFill>
              <a:latin typeface="Times New Roman" panose="02020603050405020304" pitchFamily="18" charset="0"/>
              <a:cs typeface="Times New Roman" panose="02020603050405020304" pitchFamily="18" charset="0"/>
            </a:endParaRPr>
          </a:p>
        </p:txBody>
      </p:sp>
      <p:sp>
        <p:nvSpPr>
          <p:cNvPr id="7" name="Rectángulo 6">
            <a:extLst>
              <a:ext uri="{FF2B5EF4-FFF2-40B4-BE49-F238E27FC236}">
                <a16:creationId xmlns:a16="http://schemas.microsoft.com/office/drawing/2014/main" id="{584DF018-3177-7740-AA69-D7ED91F5294F}"/>
              </a:ext>
            </a:extLst>
          </p:cNvPr>
          <p:cNvSpPr/>
          <p:nvPr/>
        </p:nvSpPr>
        <p:spPr>
          <a:xfrm>
            <a:off x="609759" y="5820698"/>
            <a:ext cx="3392130" cy="909484"/>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latin typeface="Times New Roman" panose="02020603050405020304" pitchFamily="18" charset="0"/>
                <a:cs typeface="Times New Roman" panose="02020603050405020304" pitchFamily="18" charset="0"/>
              </a:rPr>
              <a:t>La precisión exige una discretización masiva del espacio.</a:t>
            </a:r>
            <a:endParaRPr lang="es-MX" dirty="0">
              <a:solidFill>
                <a:schemeClr val="tx1"/>
              </a:solidFill>
              <a:latin typeface="Times New Roman" panose="02020603050405020304" pitchFamily="18" charset="0"/>
              <a:cs typeface="Times New Roman" panose="02020603050405020304" pitchFamily="18" charset="0"/>
            </a:endParaRPr>
          </a:p>
        </p:txBody>
      </p:sp>
      <p:sp>
        <p:nvSpPr>
          <p:cNvPr id="8" name="Rectángulo: esquinas redondeadas 7">
            <a:extLst>
              <a:ext uri="{FF2B5EF4-FFF2-40B4-BE49-F238E27FC236}">
                <a16:creationId xmlns:a16="http://schemas.microsoft.com/office/drawing/2014/main" id="{6C35D0ED-15D9-0866-6603-7B826F180D30}"/>
              </a:ext>
            </a:extLst>
          </p:cNvPr>
          <p:cNvSpPr/>
          <p:nvPr/>
        </p:nvSpPr>
        <p:spPr>
          <a:xfrm>
            <a:off x="341509" y="3224981"/>
            <a:ext cx="3689716" cy="2595717"/>
          </a:xfrm>
          <a:prstGeom prst="roundRect">
            <a:avLst/>
          </a:prstGeom>
          <a:solidFill>
            <a:srgbClr val="F1F0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latin typeface="Times New Roman" panose="02020603050405020304" pitchFamily="18" charset="0"/>
                <a:cs typeface="Times New Roman" panose="02020603050405020304" pitchFamily="18" charset="0"/>
              </a:rPr>
              <a:t>El principio fundamental del FEM es la discretización del espacio. Para capturar con precisión los detalles de un patrón de </a:t>
            </a:r>
            <a:r>
              <a:rPr lang="es-ES" dirty="0" err="1">
                <a:solidFill>
                  <a:schemeClr val="tx1"/>
                </a:solidFill>
                <a:latin typeface="Times New Roman" panose="02020603050405020304" pitchFamily="18" charset="0"/>
                <a:cs typeface="Times New Roman" panose="02020603050405020304" pitchFamily="18" charset="0"/>
              </a:rPr>
              <a:t>speckle</a:t>
            </a:r>
            <a:r>
              <a:rPr lang="es-ES" dirty="0">
                <a:solidFill>
                  <a:schemeClr val="tx1"/>
                </a:solidFill>
                <a:latin typeface="Times New Roman" panose="02020603050405020304" pitchFamily="18" charset="0"/>
                <a:cs typeface="Times New Roman" panose="02020603050405020304" pitchFamily="18" charset="0"/>
              </a:rPr>
              <a:t>, el dominio debe dividirse en una "malla" de millones de elementos simples, con una resolución menor a la longitud de onda de la luz</a:t>
            </a:r>
            <a:endParaRPr lang="es-MX" dirty="0"/>
          </a:p>
        </p:txBody>
      </p:sp>
      <p:sp>
        <p:nvSpPr>
          <p:cNvPr id="9" name="Rectángulo 8">
            <a:extLst>
              <a:ext uri="{FF2B5EF4-FFF2-40B4-BE49-F238E27FC236}">
                <a16:creationId xmlns:a16="http://schemas.microsoft.com/office/drawing/2014/main" id="{A2DE926C-783D-2A43-5D5D-FEE4C74E8B01}"/>
              </a:ext>
            </a:extLst>
          </p:cNvPr>
          <p:cNvSpPr/>
          <p:nvPr/>
        </p:nvSpPr>
        <p:spPr>
          <a:xfrm>
            <a:off x="133055" y="2133600"/>
            <a:ext cx="4326194" cy="707922"/>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latin typeface="Times New Roman" panose="02020603050405020304" pitchFamily="18" charset="0"/>
                <a:cs typeface="Times New Roman" panose="02020603050405020304" pitchFamily="18" charset="0"/>
              </a:rPr>
              <a:t>Tradicionalmente, la simulación de fenómenos ondulatorios se aborda con métodos numéricos robustos como el Método de Elementos Finitos (FEM).</a:t>
            </a:r>
            <a:endParaRPr lang="es-MX" dirty="0">
              <a:solidFill>
                <a:schemeClr val="tx1"/>
              </a:solidFill>
              <a:latin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BE3B657A-6552-C46A-28BA-D731FA2ABE79}"/>
              </a:ext>
            </a:extLst>
          </p:cNvPr>
          <p:cNvSpPr txBox="1"/>
          <p:nvPr/>
        </p:nvSpPr>
        <p:spPr>
          <a:xfrm>
            <a:off x="1174266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154532206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A4762DF-FC86-AFE2-F561-29FE2E0F0095}"/>
              </a:ext>
            </a:extLst>
          </p:cNvPr>
          <p:cNvPicPr>
            <a:picLocks noChangeAspect="1"/>
          </p:cNvPicPr>
          <p:nvPr/>
        </p:nvPicPr>
        <p:blipFill>
          <a:blip r:embed="rId2"/>
          <a:stretch>
            <a:fillRect/>
          </a:stretch>
        </p:blipFill>
        <p:spPr>
          <a:xfrm>
            <a:off x="953600" y="2209082"/>
            <a:ext cx="10304464" cy="3807921"/>
          </a:xfrm>
          <a:prstGeom prst="rect">
            <a:avLst/>
          </a:prstGeom>
        </p:spPr>
      </p:pic>
      <p:sp>
        <p:nvSpPr>
          <p:cNvPr id="6" name="Rectángulo 5">
            <a:extLst>
              <a:ext uri="{FF2B5EF4-FFF2-40B4-BE49-F238E27FC236}">
                <a16:creationId xmlns:a16="http://schemas.microsoft.com/office/drawing/2014/main" id="{D7F9E374-10F4-977F-EB4B-3EA49F3DBBAD}"/>
              </a:ext>
            </a:extLst>
          </p:cNvPr>
          <p:cNvSpPr/>
          <p:nvPr/>
        </p:nvSpPr>
        <p:spPr>
          <a:xfrm>
            <a:off x="565355" y="0"/>
            <a:ext cx="11061290" cy="1532476"/>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400" b="1" dirty="0">
                <a:solidFill>
                  <a:schemeClr val="tx1"/>
                </a:solidFill>
                <a:latin typeface="Times New Roman" panose="02020603050405020304" pitchFamily="18" charset="0"/>
                <a:cs typeface="Times New Roman" panose="02020603050405020304" pitchFamily="18" charset="0"/>
              </a:rPr>
              <a:t>El inevitable cuello de botella computacional.</a:t>
            </a:r>
          </a:p>
        </p:txBody>
      </p:sp>
      <p:sp>
        <p:nvSpPr>
          <p:cNvPr id="8" name="CuadroTexto 7">
            <a:extLst>
              <a:ext uri="{FF2B5EF4-FFF2-40B4-BE49-F238E27FC236}">
                <a16:creationId xmlns:a16="http://schemas.microsoft.com/office/drawing/2014/main" id="{7C914056-27F8-0EEA-D6DC-2E88B93D43A5}"/>
              </a:ext>
            </a:extLst>
          </p:cNvPr>
          <p:cNvSpPr txBox="1"/>
          <p:nvPr/>
        </p:nvSpPr>
        <p:spPr>
          <a:xfrm>
            <a:off x="757084" y="1317524"/>
            <a:ext cx="10697497" cy="369332"/>
          </a:xfrm>
          <a:prstGeom prst="rect">
            <a:avLst/>
          </a:prstGeom>
          <a:noFill/>
        </p:spPr>
        <p:txBody>
          <a:bodyPr wrap="square" rtlCol="0">
            <a:spAutoFit/>
          </a:bodyPr>
          <a:lstStyle/>
          <a:p>
            <a:pPr algn="just"/>
            <a:r>
              <a:rPr lang="es-MX" dirty="0">
                <a:latin typeface="Times New Roman" panose="02020603050405020304" pitchFamily="18" charset="0"/>
                <a:cs typeface="Times New Roman" panose="02020603050405020304" pitchFamily="18" charset="0"/>
              </a:rPr>
              <a:t>La dependencia en mallas de alta densidad crea una barrera fundamental que frena la investigación y el diseño.</a:t>
            </a:r>
          </a:p>
        </p:txBody>
      </p:sp>
      <p:sp>
        <p:nvSpPr>
          <p:cNvPr id="9" name="CuadroTexto 8">
            <a:extLst>
              <a:ext uri="{FF2B5EF4-FFF2-40B4-BE49-F238E27FC236}">
                <a16:creationId xmlns:a16="http://schemas.microsoft.com/office/drawing/2014/main" id="{69BD5927-8EED-4535-8B58-585F38A48685}"/>
              </a:ext>
            </a:extLst>
          </p:cNvPr>
          <p:cNvSpPr txBox="1"/>
          <p:nvPr/>
        </p:nvSpPr>
        <p:spPr>
          <a:xfrm>
            <a:off x="1175790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255752852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E316B13A-0F18-6A7A-F7F7-B268CA7DE624}"/>
              </a:ext>
            </a:extLst>
          </p:cNvPr>
          <p:cNvPicPr>
            <a:picLocks noChangeAspect="1"/>
          </p:cNvPicPr>
          <p:nvPr/>
        </p:nvPicPr>
        <p:blipFill>
          <a:blip r:embed="rId3"/>
          <a:stretch>
            <a:fillRect/>
          </a:stretch>
        </p:blipFill>
        <p:spPr>
          <a:xfrm>
            <a:off x="-1" y="0"/>
            <a:ext cx="12546707" cy="6858000"/>
          </a:xfrm>
          <a:prstGeom prst="rect">
            <a:avLst/>
          </a:prstGeom>
        </p:spPr>
      </p:pic>
      <p:sp>
        <p:nvSpPr>
          <p:cNvPr id="9" name="Rectángulo 8">
            <a:extLst>
              <a:ext uri="{FF2B5EF4-FFF2-40B4-BE49-F238E27FC236}">
                <a16:creationId xmlns:a16="http://schemas.microsoft.com/office/drawing/2014/main" id="{85158EAE-5B63-099D-01AF-217CE33AF1F4}"/>
              </a:ext>
            </a:extLst>
          </p:cNvPr>
          <p:cNvSpPr/>
          <p:nvPr/>
        </p:nvSpPr>
        <p:spPr>
          <a:xfrm>
            <a:off x="570271" y="1170039"/>
            <a:ext cx="9075174" cy="3588773"/>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s-ES" dirty="0">
                <a:solidFill>
                  <a:schemeClr val="tx1"/>
                </a:solidFill>
                <a:latin typeface="Times New Roman" panose="02020603050405020304" pitchFamily="18" charset="0"/>
                <a:cs typeface="Times New Roman" panose="02020603050405020304" pitchFamily="18" charset="0"/>
              </a:rPr>
              <a:t>A pesar de su poder, los métodos basados en mallas enfrentan un desafío fundamental: el costo computacional. Para fenómenos de alta frecuencia o geometrías complejas, la necesidad de una discretización espacial extremadamente fina genera una demanda masiva de recursos.</a:t>
            </a:r>
          </a:p>
          <a:p>
            <a:pPr marL="285750" indent="-285750" algn="just">
              <a:buFont typeface="Arial" panose="020B0604020202020204" pitchFamily="34" charset="0"/>
              <a:buChar char="•"/>
            </a:pPr>
            <a:endParaRPr lang="es-ES"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s-ES" b="1" dirty="0">
                <a:solidFill>
                  <a:schemeClr val="tx1"/>
                </a:solidFill>
                <a:latin typeface="Times New Roman" panose="02020603050405020304" pitchFamily="18" charset="0"/>
                <a:cs typeface="Times New Roman" panose="02020603050405020304" pitchFamily="18" charset="0"/>
              </a:rPr>
              <a:t>Consumo de Memoria Masivo: </a:t>
            </a:r>
            <a:r>
              <a:rPr lang="es-ES" dirty="0">
                <a:solidFill>
                  <a:schemeClr val="tx1"/>
                </a:solidFill>
                <a:latin typeface="Times New Roman" panose="02020603050405020304" pitchFamily="18" charset="0"/>
                <a:cs typeface="Times New Roman" panose="02020603050405020304" pitchFamily="18" charset="0"/>
              </a:rPr>
              <a:t>La resolución de las rápidas oscilaciones del campo de luz requiere mallas con resolución espacial menor que la longitud de onda, resultando en sistemas con millones o miles de millones de incógnitas.</a:t>
            </a:r>
          </a:p>
          <a:p>
            <a:pPr marL="285750" indent="-285750" algn="just">
              <a:buFont typeface="Arial" panose="020B0604020202020204" pitchFamily="34" charset="0"/>
              <a:buChar char="•"/>
            </a:pPr>
            <a:r>
              <a:rPr lang="es-ES" b="1" dirty="0">
                <a:solidFill>
                  <a:schemeClr val="tx1"/>
                </a:solidFill>
                <a:latin typeface="Times New Roman" panose="02020603050405020304" pitchFamily="18" charset="0"/>
                <a:cs typeface="Times New Roman" panose="02020603050405020304" pitchFamily="18" charset="0"/>
              </a:rPr>
              <a:t>Tiempos de Cómputo Prohibitivos: </a:t>
            </a:r>
            <a:r>
              <a:rPr lang="es-ES" dirty="0">
                <a:solidFill>
                  <a:schemeClr val="tx1"/>
                </a:solidFill>
                <a:latin typeface="Times New Roman" panose="02020603050405020304" pitchFamily="18" charset="0"/>
                <a:cs typeface="Times New Roman" panose="02020603050405020304" pitchFamily="18" charset="0"/>
              </a:rPr>
              <a:t>Las simulaciones pueden extenderse por días, ralentizando drásticamente los ciclos de investigación y diseño.</a:t>
            </a:r>
          </a:p>
          <a:p>
            <a:pPr marL="285750" indent="-285750" algn="just">
              <a:buFont typeface="Arial" panose="020B0604020202020204" pitchFamily="34" charset="0"/>
              <a:buChar char="•"/>
            </a:pPr>
            <a:endParaRPr lang="es-ES"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s-ES" b="1" dirty="0">
                <a:solidFill>
                  <a:schemeClr val="tx1"/>
                </a:solidFill>
                <a:latin typeface="Times New Roman" panose="02020603050405020304" pitchFamily="18" charset="0"/>
                <a:cs typeface="Times New Roman" panose="02020603050405020304" pitchFamily="18" charset="0"/>
              </a:rPr>
              <a:t>La Tiranía del Mallado: </a:t>
            </a:r>
            <a:r>
              <a:rPr lang="es-ES" dirty="0">
                <a:solidFill>
                  <a:schemeClr val="tx1"/>
                </a:solidFill>
                <a:latin typeface="Times New Roman" panose="02020603050405020304" pitchFamily="18" charset="0"/>
                <a:cs typeface="Times New Roman" panose="02020603050405020304" pitchFamily="18" charset="0"/>
              </a:rPr>
              <a:t>La generación de mallas de alta calidad para dominios complejos es en sí misma una tarea de alta especialización y un obstáculo significativo.</a:t>
            </a:r>
            <a:endParaRPr lang="es-MX" dirty="0">
              <a:solidFill>
                <a:schemeClr val="tx1"/>
              </a:solidFill>
              <a:latin typeface="Times New Roman" panose="02020603050405020304" pitchFamily="18" charset="0"/>
              <a:cs typeface="Times New Roman" panose="02020603050405020304" pitchFamily="18" charset="0"/>
            </a:endParaRPr>
          </a:p>
        </p:txBody>
      </p:sp>
      <p:sp>
        <p:nvSpPr>
          <p:cNvPr id="15" name="Rectángulo 14">
            <a:extLst>
              <a:ext uri="{FF2B5EF4-FFF2-40B4-BE49-F238E27FC236}">
                <a16:creationId xmlns:a16="http://schemas.microsoft.com/office/drawing/2014/main" id="{031B7710-8F40-76F8-EC9B-15C439225C80}"/>
              </a:ext>
            </a:extLst>
          </p:cNvPr>
          <p:cNvSpPr/>
          <p:nvPr/>
        </p:nvSpPr>
        <p:spPr>
          <a:xfrm>
            <a:off x="324465" y="501445"/>
            <a:ext cx="9802761" cy="766916"/>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400" b="1" dirty="0">
                <a:solidFill>
                  <a:schemeClr val="tx1"/>
                </a:solidFill>
                <a:latin typeface="Times New Roman" panose="02020603050405020304" pitchFamily="18" charset="0"/>
                <a:cs typeface="Times New Roman" panose="02020603050405020304" pitchFamily="18" charset="0"/>
              </a:rPr>
              <a:t>El cuello de botella computacional.</a:t>
            </a:r>
          </a:p>
        </p:txBody>
      </p:sp>
      <p:sp>
        <p:nvSpPr>
          <p:cNvPr id="16" name="CuadroTexto 15">
            <a:extLst>
              <a:ext uri="{FF2B5EF4-FFF2-40B4-BE49-F238E27FC236}">
                <a16:creationId xmlns:a16="http://schemas.microsoft.com/office/drawing/2014/main" id="{B81948D9-8C38-2EAB-517B-1FD39644D7C3}"/>
              </a:ext>
            </a:extLst>
          </p:cNvPr>
          <p:cNvSpPr txBox="1"/>
          <p:nvPr/>
        </p:nvSpPr>
        <p:spPr>
          <a:xfrm>
            <a:off x="1174266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226251279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A164B63-2EF5-C4D2-DFDC-EDC5E58AD3B8}"/>
              </a:ext>
            </a:extLst>
          </p:cNvPr>
          <p:cNvPicPr>
            <a:picLocks noChangeAspect="1"/>
          </p:cNvPicPr>
          <p:nvPr/>
        </p:nvPicPr>
        <p:blipFill>
          <a:blip r:embed="rId2"/>
          <a:stretch>
            <a:fillRect/>
          </a:stretch>
        </p:blipFill>
        <p:spPr>
          <a:xfrm>
            <a:off x="158892" y="252931"/>
            <a:ext cx="11874216" cy="6352138"/>
          </a:xfrm>
          <a:prstGeom prst="rect">
            <a:avLst/>
          </a:prstGeom>
        </p:spPr>
      </p:pic>
      <p:sp>
        <p:nvSpPr>
          <p:cNvPr id="6" name="Rectángulo 5">
            <a:extLst>
              <a:ext uri="{FF2B5EF4-FFF2-40B4-BE49-F238E27FC236}">
                <a16:creationId xmlns:a16="http://schemas.microsoft.com/office/drawing/2014/main" id="{F44D3F76-FE98-B511-803A-28A9313194B9}"/>
              </a:ext>
            </a:extLst>
          </p:cNvPr>
          <p:cNvSpPr/>
          <p:nvPr/>
        </p:nvSpPr>
        <p:spPr>
          <a:xfrm>
            <a:off x="596348" y="108155"/>
            <a:ext cx="10803835" cy="1154115"/>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400" b="1" dirty="0">
                <a:solidFill>
                  <a:schemeClr val="tx1"/>
                </a:solidFill>
                <a:latin typeface="Times New Roman" panose="02020603050405020304" pitchFamily="18" charset="0"/>
                <a:cs typeface="Times New Roman" panose="02020603050405020304" pitchFamily="18" charset="0"/>
              </a:rPr>
              <a:t>El advenimiento del retador: Un paradigma libre de mallas</a:t>
            </a:r>
          </a:p>
        </p:txBody>
      </p:sp>
      <p:sp>
        <p:nvSpPr>
          <p:cNvPr id="7" name="Rectángulo 6">
            <a:extLst>
              <a:ext uri="{FF2B5EF4-FFF2-40B4-BE49-F238E27FC236}">
                <a16:creationId xmlns:a16="http://schemas.microsoft.com/office/drawing/2014/main" id="{5F53A214-F19A-DBCA-8D86-CC6F00637A2C}"/>
              </a:ext>
            </a:extLst>
          </p:cNvPr>
          <p:cNvSpPr/>
          <p:nvPr/>
        </p:nvSpPr>
        <p:spPr>
          <a:xfrm>
            <a:off x="596348" y="1543665"/>
            <a:ext cx="11241691" cy="894735"/>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latin typeface="Times New Roman" panose="02020603050405020304" pitchFamily="18" charset="0"/>
                <a:cs typeface="Times New Roman" panose="02020603050405020304" pitchFamily="18" charset="0"/>
              </a:rPr>
              <a:t>Las Redes Neuronales Físicamente Informadas (PINNs) emergen como una alternativa que no requiere una malla. En lugar de discretizar el dominio, utilizan una red neuronal para aprender una representación continua de la solución directamente desde las coordenadas del problema.</a:t>
            </a:r>
            <a:endParaRPr lang="es-MX" dirty="0">
              <a:solidFill>
                <a:schemeClr val="tx1"/>
              </a:solidFill>
              <a:latin typeface="Times New Roman" panose="02020603050405020304" pitchFamily="18" charset="0"/>
              <a:cs typeface="Times New Roman" panose="02020603050405020304" pitchFamily="18" charset="0"/>
            </a:endParaRPr>
          </a:p>
        </p:txBody>
      </p:sp>
      <p:sp>
        <p:nvSpPr>
          <p:cNvPr id="8" name="CuadroTexto 7">
            <a:extLst>
              <a:ext uri="{FF2B5EF4-FFF2-40B4-BE49-F238E27FC236}">
                <a16:creationId xmlns:a16="http://schemas.microsoft.com/office/drawing/2014/main" id="{4C5BB827-2C3D-E710-04B1-F45315885191}"/>
              </a:ext>
            </a:extLst>
          </p:cNvPr>
          <p:cNvSpPr txBox="1"/>
          <p:nvPr/>
        </p:nvSpPr>
        <p:spPr>
          <a:xfrm>
            <a:off x="1174266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7</a:t>
            </a:r>
          </a:p>
        </p:txBody>
      </p:sp>
    </p:spTree>
    <p:extLst>
      <p:ext uri="{BB962C8B-B14F-4D97-AF65-F5344CB8AC3E}">
        <p14:creationId xmlns:p14="http://schemas.microsoft.com/office/powerpoint/2010/main" val="302365634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0B72947-286A-6403-F177-CAEED3B30E3E}"/>
              </a:ext>
            </a:extLst>
          </p:cNvPr>
          <p:cNvPicPr>
            <a:picLocks noChangeAspect="1"/>
          </p:cNvPicPr>
          <p:nvPr/>
        </p:nvPicPr>
        <p:blipFill>
          <a:blip r:embed="rId2"/>
          <a:stretch>
            <a:fillRect/>
          </a:stretch>
        </p:blipFill>
        <p:spPr>
          <a:xfrm>
            <a:off x="0" y="172417"/>
            <a:ext cx="12192000" cy="6513165"/>
          </a:xfrm>
          <a:prstGeom prst="rect">
            <a:avLst/>
          </a:prstGeom>
        </p:spPr>
      </p:pic>
      <p:sp>
        <p:nvSpPr>
          <p:cNvPr id="6" name="Rectángulo 5">
            <a:extLst>
              <a:ext uri="{FF2B5EF4-FFF2-40B4-BE49-F238E27FC236}">
                <a16:creationId xmlns:a16="http://schemas.microsoft.com/office/drawing/2014/main" id="{B0145245-3AAC-BD34-F0BC-951E98B79F70}"/>
              </a:ext>
            </a:extLst>
          </p:cNvPr>
          <p:cNvSpPr/>
          <p:nvPr/>
        </p:nvSpPr>
        <p:spPr>
          <a:xfrm>
            <a:off x="493986" y="493986"/>
            <a:ext cx="11314556" cy="588580"/>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400" b="1" dirty="0">
                <a:solidFill>
                  <a:schemeClr val="tx1"/>
                </a:solidFill>
                <a:latin typeface="Times New Roman" panose="02020603050405020304" pitchFamily="18" charset="0"/>
                <a:cs typeface="Times New Roman" panose="02020603050405020304" pitchFamily="18" charset="0"/>
              </a:rPr>
              <a:t>El secreto: La física como función de pérdida.</a:t>
            </a:r>
          </a:p>
        </p:txBody>
      </p:sp>
      <p:sp>
        <p:nvSpPr>
          <p:cNvPr id="7" name="Rectángulo 6">
            <a:extLst>
              <a:ext uri="{FF2B5EF4-FFF2-40B4-BE49-F238E27FC236}">
                <a16:creationId xmlns:a16="http://schemas.microsoft.com/office/drawing/2014/main" id="{D4A7F2D9-6CE5-1DB7-660C-18C1F130ECBC}"/>
              </a:ext>
            </a:extLst>
          </p:cNvPr>
          <p:cNvSpPr/>
          <p:nvPr/>
        </p:nvSpPr>
        <p:spPr>
          <a:xfrm>
            <a:off x="452284" y="1189703"/>
            <a:ext cx="11385755" cy="1002891"/>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latin typeface="Times New Roman" panose="02020603050405020304" pitchFamily="18" charset="0"/>
                <a:cs typeface="Times New Roman" panose="02020603050405020304" pitchFamily="18" charset="0"/>
              </a:rPr>
              <a:t>La innovación clave de las PINNs reside en su función de pérdida compuesta. La red no solo aprende de datos conocidos (condiciones de frontera e iniciales), sino que es penalizada directamente si su predicción viola las leyes físicas que gobiernan el sistema.</a:t>
            </a:r>
            <a:endParaRPr lang="es-MX" dirty="0">
              <a:solidFill>
                <a:schemeClr val="tx1"/>
              </a:solidFill>
              <a:latin typeface="Times New Roman" panose="02020603050405020304" pitchFamily="18" charset="0"/>
              <a:cs typeface="Times New Roman" panose="02020603050405020304" pitchFamily="18" charset="0"/>
            </a:endParaRPr>
          </a:p>
        </p:txBody>
      </p:sp>
      <p:sp>
        <p:nvSpPr>
          <p:cNvPr id="8" name="CuadroTexto 7">
            <a:extLst>
              <a:ext uri="{FF2B5EF4-FFF2-40B4-BE49-F238E27FC236}">
                <a16:creationId xmlns:a16="http://schemas.microsoft.com/office/drawing/2014/main" id="{947073E9-7329-088C-1540-1731AC7EE9D4}"/>
              </a:ext>
            </a:extLst>
          </p:cNvPr>
          <p:cNvSpPr txBox="1"/>
          <p:nvPr/>
        </p:nvSpPr>
        <p:spPr>
          <a:xfrm>
            <a:off x="1174266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325571009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6C8327-B4B1-5DE5-4AAE-FCA8524AA199}"/>
              </a:ext>
            </a:extLst>
          </p:cNvPr>
          <p:cNvPicPr>
            <a:picLocks noChangeAspect="1"/>
          </p:cNvPicPr>
          <p:nvPr/>
        </p:nvPicPr>
        <p:blipFill>
          <a:blip r:embed="rId2"/>
          <a:stretch>
            <a:fillRect/>
          </a:stretch>
        </p:blipFill>
        <p:spPr>
          <a:xfrm>
            <a:off x="1790099" y="2087755"/>
            <a:ext cx="8611802" cy="4153480"/>
          </a:xfrm>
          <a:prstGeom prst="rect">
            <a:avLst/>
          </a:prstGeom>
        </p:spPr>
      </p:pic>
      <p:sp>
        <p:nvSpPr>
          <p:cNvPr id="7" name="CuadroTexto 6">
            <a:extLst>
              <a:ext uri="{FF2B5EF4-FFF2-40B4-BE49-F238E27FC236}">
                <a16:creationId xmlns:a16="http://schemas.microsoft.com/office/drawing/2014/main" id="{717D3E90-F849-FC52-6D17-9C594F50CD43}"/>
              </a:ext>
            </a:extLst>
          </p:cNvPr>
          <p:cNvSpPr txBox="1"/>
          <p:nvPr/>
        </p:nvSpPr>
        <p:spPr>
          <a:xfrm>
            <a:off x="481781" y="117987"/>
            <a:ext cx="11071122" cy="1446550"/>
          </a:xfrm>
          <a:prstGeom prst="rect">
            <a:avLst/>
          </a:prstGeom>
          <a:noFill/>
        </p:spPr>
        <p:txBody>
          <a:bodyPr wrap="square" rtlCol="0">
            <a:spAutoFit/>
          </a:bodyPr>
          <a:lstStyle/>
          <a:p>
            <a:r>
              <a:rPr lang="es-MX" sz="4400" b="1" dirty="0">
                <a:latin typeface="Times New Roman" panose="02020603050405020304" pitchFamily="18" charset="0"/>
                <a:cs typeface="Times New Roman" panose="02020603050405020304" pitchFamily="18" charset="0"/>
              </a:rPr>
              <a:t>Estado del arte: Un camino validado con una frontera por explorar.</a:t>
            </a:r>
          </a:p>
        </p:txBody>
      </p:sp>
      <p:sp>
        <p:nvSpPr>
          <p:cNvPr id="8" name="CuadroTexto 7">
            <a:extLst>
              <a:ext uri="{FF2B5EF4-FFF2-40B4-BE49-F238E27FC236}">
                <a16:creationId xmlns:a16="http://schemas.microsoft.com/office/drawing/2014/main" id="{8C0DE75A-FE57-D92A-C3F6-860448628867}"/>
              </a:ext>
            </a:extLst>
          </p:cNvPr>
          <p:cNvSpPr txBox="1"/>
          <p:nvPr/>
        </p:nvSpPr>
        <p:spPr>
          <a:xfrm>
            <a:off x="11742666" y="6314018"/>
            <a:ext cx="449333"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136025319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1E51672-2A64-A475-ABA5-55EC32A0991C}"/>
              </a:ext>
            </a:extLst>
          </p:cNvPr>
          <p:cNvPicPr>
            <a:picLocks noChangeAspect="1"/>
          </p:cNvPicPr>
          <p:nvPr/>
        </p:nvPicPr>
        <p:blipFill>
          <a:blip r:embed="rId2"/>
          <a:stretch>
            <a:fillRect/>
          </a:stretch>
        </p:blipFill>
        <p:spPr>
          <a:xfrm>
            <a:off x="0" y="173898"/>
            <a:ext cx="12192000" cy="6510204"/>
          </a:xfrm>
          <a:prstGeom prst="rect">
            <a:avLst/>
          </a:prstGeom>
        </p:spPr>
      </p:pic>
      <p:sp>
        <p:nvSpPr>
          <p:cNvPr id="8" name="Rectángulo 7">
            <a:extLst>
              <a:ext uri="{FF2B5EF4-FFF2-40B4-BE49-F238E27FC236}">
                <a16:creationId xmlns:a16="http://schemas.microsoft.com/office/drawing/2014/main" id="{5EE5326F-865D-08D8-6276-C3B7EE6527C2}"/>
              </a:ext>
            </a:extLst>
          </p:cNvPr>
          <p:cNvSpPr/>
          <p:nvPr/>
        </p:nvSpPr>
        <p:spPr>
          <a:xfrm>
            <a:off x="334297" y="403124"/>
            <a:ext cx="11721069" cy="1225980"/>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000" b="1" dirty="0">
                <a:solidFill>
                  <a:schemeClr val="tx1"/>
                </a:solidFill>
                <a:latin typeface="Times New Roman" panose="02020603050405020304" pitchFamily="18" charset="0"/>
                <a:cs typeface="Times New Roman" panose="02020603050405020304" pitchFamily="18" charset="0"/>
              </a:rPr>
              <a:t>Prueba de valor 1: Mecánica estructural estática.</a:t>
            </a:r>
          </a:p>
        </p:txBody>
      </p:sp>
      <p:sp>
        <p:nvSpPr>
          <p:cNvPr id="9" name="Rectángulo 8">
            <a:extLst>
              <a:ext uri="{FF2B5EF4-FFF2-40B4-BE49-F238E27FC236}">
                <a16:creationId xmlns:a16="http://schemas.microsoft.com/office/drawing/2014/main" id="{B9C6D7F8-E0FC-AB83-4D6D-52EEFA19C017}"/>
              </a:ext>
            </a:extLst>
          </p:cNvPr>
          <p:cNvSpPr/>
          <p:nvPr/>
        </p:nvSpPr>
        <p:spPr>
          <a:xfrm>
            <a:off x="422786" y="1629103"/>
            <a:ext cx="5338917" cy="4968341"/>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s-ES" sz="1600" dirty="0">
                <a:solidFill>
                  <a:schemeClr val="tx1"/>
                </a:solidFill>
                <a:latin typeface="Times New Roman" panose="02020603050405020304" pitchFamily="18" charset="0"/>
                <a:cs typeface="Times New Roman" panose="02020603050405020304" pitchFamily="18" charset="0"/>
              </a:rPr>
              <a:t>En el campo de la mecánica de sólidos, las PINNs han demostrado su capacidad para resolver problemas gobernados por la teoría de vigas de Euler-Bernoulli con una precisión notable.</a:t>
            </a:r>
          </a:p>
          <a:p>
            <a:pPr algn="just"/>
            <a:endParaRPr lang="es-ES" sz="1600" dirty="0">
              <a:solidFill>
                <a:schemeClr val="tx1"/>
              </a:solidFill>
              <a:latin typeface="Times New Roman" panose="02020603050405020304" pitchFamily="18" charset="0"/>
              <a:cs typeface="Times New Roman" panose="02020603050405020304" pitchFamily="18" charset="0"/>
            </a:endParaRPr>
          </a:p>
          <a:p>
            <a:pPr algn="just"/>
            <a:r>
              <a:rPr lang="es-ES" sz="1600" b="1" dirty="0">
                <a:solidFill>
                  <a:schemeClr val="tx1"/>
                </a:solidFill>
                <a:latin typeface="Times New Roman" panose="02020603050405020304" pitchFamily="18" charset="0"/>
                <a:cs typeface="Times New Roman" panose="02020603050405020304" pitchFamily="18" charset="0"/>
              </a:rPr>
              <a:t>Caso de Estudio:</a:t>
            </a:r>
          </a:p>
          <a:p>
            <a:pPr algn="just"/>
            <a:r>
              <a:rPr lang="es-ES" sz="1600" dirty="0">
                <a:solidFill>
                  <a:schemeClr val="tx1"/>
                </a:solidFill>
                <a:latin typeface="Times New Roman" panose="02020603050405020304" pitchFamily="18" charset="0"/>
                <a:cs typeface="Times New Roman" panose="02020603050405020304" pitchFamily="18" charset="0"/>
              </a:rPr>
              <a:t>Una red neuronal:</a:t>
            </a:r>
          </a:p>
          <a:p>
            <a:pPr algn="just"/>
            <a:r>
              <a:rPr lang="es-ES" sz="1600" dirty="0">
                <a:solidFill>
                  <a:schemeClr val="tx1"/>
                </a:solidFill>
                <a:latin typeface="Times New Roman" panose="02020603050405020304" pitchFamily="18" charset="0"/>
                <a:cs typeface="Times New Roman" panose="02020603050405020304" pitchFamily="18" charset="0"/>
              </a:rPr>
              <a:t>Aplicación a vigas y barras estáticas (viga </a:t>
            </a:r>
            <a:r>
              <a:rPr lang="es-ES" sz="1600" dirty="0" err="1">
                <a:solidFill>
                  <a:schemeClr val="tx1"/>
                </a:solidFill>
                <a:latin typeface="Times New Roman" panose="02020603050405020304" pitchFamily="18" charset="0"/>
                <a:cs typeface="Times New Roman" panose="02020603050405020304" pitchFamily="18" charset="0"/>
              </a:rPr>
              <a:t>biapoyada</a:t>
            </a:r>
            <a:r>
              <a:rPr lang="es-ES" sz="1600" dirty="0">
                <a:solidFill>
                  <a:schemeClr val="tx1"/>
                </a:solidFill>
                <a:latin typeface="Times New Roman" panose="02020603050405020304" pitchFamily="18" charset="0"/>
                <a:cs typeface="Times New Roman" panose="02020603050405020304" pitchFamily="18" charset="0"/>
              </a:rPr>
              <a:t>, viga en voladizo, barra con fuerza distribuida)</a:t>
            </a:r>
          </a:p>
          <a:p>
            <a:pPr marL="285750" indent="-285750" algn="just">
              <a:buFont typeface="Arial" panose="020B0604020202020204" pitchFamily="34" charset="0"/>
              <a:buChar char="•"/>
            </a:pPr>
            <a:r>
              <a:rPr lang="es-ES" sz="1600" b="1" dirty="0">
                <a:solidFill>
                  <a:schemeClr val="tx1"/>
                </a:solidFill>
                <a:latin typeface="Times New Roman" panose="02020603050405020304" pitchFamily="18" charset="0"/>
                <a:cs typeface="Times New Roman" panose="02020603050405020304" pitchFamily="18" charset="0"/>
              </a:rPr>
              <a:t>Método</a:t>
            </a:r>
            <a:r>
              <a:rPr lang="es-ES" sz="1600" dirty="0">
                <a:solidFill>
                  <a:schemeClr val="tx1"/>
                </a:solidFill>
                <a:latin typeface="Times New Roman" panose="02020603050405020304" pitchFamily="18" charset="0"/>
                <a:cs typeface="Times New Roman" panose="02020603050405020304" pitchFamily="18" charset="0"/>
              </a:rPr>
              <a:t>: Una red neuronal es entrenada para predecir el campo de desplazamientos que satisface tanto la ecuación diferencial gobernante como las condiciones de contorno (apoyos fijos, empotramientos).</a:t>
            </a:r>
          </a:p>
          <a:p>
            <a:pPr marL="285750" indent="-285750" algn="just">
              <a:buFont typeface="Arial" panose="020B0604020202020204" pitchFamily="34" charset="0"/>
              <a:buChar char="•"/>
            </a:pPr>
            <a:r>
              <a:rPr lang="es-ES" sz="1600" b="1" dirty="0">
                <a:solidFill>
                  <a:schemeClr val="tx1"/>
                </a:solidFill>
                <a:latin typeface="Times New Roman" panose="02020603050405020304" pitchFamily="18" charset="0"/>
                <a:cs typeface="Times New Roman" panose="02020603050405020304" pitchFamily="18" charset="0"/>
              </a:rPr>
              <a:t>Resultado Clave: </a:t>
            </a:r>
            <a:r>
              <a:rPr lang="es-ES" sz="1600" dirty="0">
                <a:solidFill>
                  <a:schemeClr val="tx1"/>
                </a:solidFill>
                <a:latin typeface="Times New Roman" panose="02020603050405020304" pitchFamily="18" charset="0"/>
                <a:cs typeface="Times New Roman" panose="02020603050405020304" pitchFamily="18" charset="0"/>
              </a:rPr>
              <a:t>Los resultados muestran aproximaciones precisas, con errores mínimos respecto a las soluciones analíticas". Esto valida la efectividad de las PINNs para resolver problemas estructurales estáticos.</a:t>
            </a:r>
          </a:p>
          <a:p>
            <a:pPr marL="285750" indent="-285750" algn="just">
              <a:buFont typeface="Arial" panose="020B0604020202020204" pitchFamily="34" charset="0"/>
              <a:buChar char="•"/>
            </a:pPr>
            <a:r>
              <a:rPr lang="es-ES" sz="1600" b="1" dirty="0">
                <a:solidFill>
                  <a:schemeClr val="tx1"/>
                </a:solidFill>
                <a:latin typeface="Times New Roman" panose="02020603050405020304" pitchFamily="18" charset="0"/>
                <a:cs typeface="Times New Roman" panose="02020603050405020304" pitchFamily="18" charset="0"/>
              </a:rPr>
              <a:t>Métrica: </a:t>
            </a:r>
            <a:r>
              <a:rPr lang="es-ES" sz="1600" dirty="0">
                <a:solidFill>
                  <a:schemeClr val="tx1"/>
                </a:solidFill>
                <a:latin typeface="Times New Roman" panose="02020603050405020304" pitchFamily="18" charset="0"/>
                <a:cs typeface="Times New Roman" panose="02020603050405020304" pitchFamily="18" charset="0"/>
              </a:rPr>
              <a:t>Errores relativos mínimos en la predicción de la deflexión.</a:t>
            </a:r>
          </a:p>
        </p:txBody>
      </p:sp>
      <p:sp>
        <p:nvSpPr>
          <p:cNvPr id="10" name="CuadroTexto 9">
            <a:extLst>
              <a:ext uri="{FF2B5EF4-FFF2-40B4-BE49-F238E27FC236}">
                <a16:creationId xmlns:a16="http://schemas.microsoft.com/office/drawing/2014/main" id="{0C43444F-B6C6-D0DB-931A-E9B584F31DE1}"/>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321508847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4088F59-2169-AA7C-7FD5-93D9B2EB5B83}"/>
              </a:ext>
            </a:extLst>
          </p:cNvPr>
          <p:cNvPicPr>
            <a:picLocks noChangeAspect="1"/>
          </p:cNvPicPr>
          <p:nvPr/>
        </p:nvPicPr>
        <p:blipFill>
          <a:blip r:embed="rId2"/>
          <a:stretch>
            <a:fillRect/>
          </a:stretch>
        </p:blipFill>
        <p:spPr>
          <a:xfrm>
            <a:off x="0" y="151047"/>
            <a:ext cx="12192000" cy="6555906"/>
          </a:xfrm>
          <a:prstGeom prst="rect">
            <a:avLst/>
          </a:prstGeom>
        </p:spPr>
      </p:pic>
      <p:sp>
        <p:nvSpPr>
          <p:cNvPr id="6" name="Rectángulo 5">
            <a:extLst>
              <a:ext uri="{FF2B5EF4-FFF2-40B4-BE49-F238E27FC236}">
                <a16:creationId xmlns:a16="http://schemas.microsoft.com/office/drawing/2014/main" id="{AB4CEE59-2444-2F02-7414-F092E8B8B988}"/>
              </a:ext>
            </a:extLst>
          </p:cNvPr>
          <p:cNvSpPr/>
          <p:nvPr/>
        </p:nvSpPr>
        <p:spPr>
          <a:xfrm>
            <a:off x="0" y="431263"/>
            <a:ext cx="6027174" cy="1439918"/>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3200" b="1" dirty="0">
                <a:solidFill>
                  <a:schemeClr val="tx1"/>
                </a:solidFill>
              </a:rPr>
              <a:t>Prueba de valor 2: La física de ondas y la aceleración exponencial.</a:t>
            </a:r>
          </a:p>
        </p:txBody>
      </p:sp>
      <p:sp>
        <p:nvSpPr>
          <p:cNvPr id="7" name="Rectángulo 6">
            <a:extLst>
              <a:ext uri="{FF2B5EF4-FFF2-40B4-BE49-F238E27FC236}">
                <a16:creationId xmlns:a16="http://schemas.microsoft.com/office/drawing/2014/main" id="{F7D6E218-7B02-B618-05CE-358E8EE183A0}"/>
              </a:ext>
            </a:extLst>
          </p:cNvPr>
          <p:cNvSpPr/>
          <p:nvPr/>
        </p:nvSpPr>
        <p:spPr>
          <a:xfrm>
            <a:off x="452284" y="2005781"/>
            <a:ext cx="5476568" cy="3470787"/>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s-ES" sz="1600" dirty="0">
                <a:solidFill>
                  <a:schemeClr val="tx1"/>
                </a:solidFill>
                <a:latin typeface="Times New Roman" panose="02020603050405020304" pitchFamily="18" charset="0"/>
                <a:cs typeface="Times New Roman" panose="02020603050405020304" pitchFamily="18" charset="0"/>
              </a:rPr>
              <a:t>Al enfrentar la ecuación de Helmholtz para la propagación de ondas (ej. </a:t>
            </a:r>
            <a:r>
              <a:rPr lang="es-ES" sz="1600" dirty="0" err="1">
                <a:solidFill>
                  <a:schemeClr val="tx1"/>
                </a:solidFill>
                <a:latin typeface="Times New Roman" panose="02020603050405020304" pitchFamily="18" charset="0"/>
                <a:cs typeface="Times New Roman" panose="02020603050405020304" pitchFamily="18" charset="0"/>
              </a:rPr>
              <a:t>speckle</a:t>
            </a:r>
            <a:r>
              <a:rPr lang="es-ES" sz="1600" dirty="0">
                <a:solidFill>
                  <a:schemeClr val="tx1"/>
                </a:solidFill>
                <a:latin typeface="Times New Roman" panose="02020603050405020304" pitchFamily="18" charset="0"/>
                <a:cs typeface="Times New Roman" panose="02020603050405020304" pitchFamily="18" charset="0"/>
              </a:rPr>
              <a:t> óptico), las PINNs superan dramáticamente las limitaciones de los métodos tradicionales las limitaciones de los métodos tradicionales.</a:t>
            </a:r>
          </a:p>
          <a:p>
            <a:pPr algn="just"/>
            <a:r>
              <a:rPr lang="es-ES" sz="1600" dirty="0">
                <a:solidFill>
                  <a:schemeClr val="tx1"/>
                </a:solidFill>
                <a:latin typeface="Times New Roman" panose="02020603050405020304" pitchFamily="18" charset="0"/>
                <a:cs typeface="Times New Roman" panose="02020603050405020304" pitchFamily="18" charset="0"/>
              </a:rPr>
              <a:t>Caso de Estudio.</a:t>
            </a:r>
          </a:p>
          <a:p>
            <a:pPr algn="just"/>
            <a:r>
              <a:rPr lang="es-ES" sz="1600" dirty="0">
                <a:solidFill>
                  <a:schemeClr val="tx1"/>
                </a:solidFill>
                <a:latin typeface="Times New Roman" panose="02020603050405020304" pitchFamily="18" charset="0"/>
                <a:cs typeface="Times New Roman" panose="02020603050405020304" pitchFamily="18" charset="0"/>
              </a:rPr>
              <a:t>Simulación de la propagación de un frente de onda láser en un medio 2D.</a:t>
            </a:r>
          </a:p>
          <a:p>
            <a:pPr marL="285750" indent="-285750" algn="just">
              <a:buFont typeface="Arial" panose="020B0604020202020204" pitchFamily="34" charset="0"/>
              <a:buChar char="•"/>
            </a:pPr>
            <a:r>
              <a:rPr lang="es-ES" sz="1600" b="1" dirty="0">
                <a:solidFill>
                  <a:schemeClr val="tx1"/>
                </a:solidFill>
                <a:latin typeface="Times New Roman" panose="02020603050405020304" pitchFamily="18" charset="0"/>
                <a:cs typeface="Times New Roman" panose="02020603050405020304" pitchFamily="18" charset="0"/>
              </a:rPr>
              <a:t>Desafío FEM: </a:t>
            </a:r>
            <a:r>
              <a:rPr lang="es-ES" sz="1600" dirty="0">
                <a:solidFill>
                  <a:schemeClr val="tx1"/>
                </a:solidFill>
                <a:latin typeface="Times New Roman" panose="02020603050405020304" pitchFamily="18" charset="0"/>
                <a:cs typeface="Times New Roman" panose="02020603050405020304" pitchFamily="18" charset="0"/>
              </a:rPr>
              <a:t>Requiere un mallado extremadamente fino, resultando en tiempos de cómputo de días.</a:t>
            </a:r>
          </a:p>
          <a:p>
            <a:pPr marL="285750" indent="-285750" algn="just">
              <a:buFont typeface="Arial" panose="020B0604020202020204" pitchFamily="34" charset="0"/>
              <a:buChar char="•"/>
            </a:pPr>
            <a:r>
              <a:rPr lang="es-ES" sz="1600" b="1" dirty="0">
                <a:solidFill>
                  <a:schemeClr val="tx1"/>
                </a:solidFill>
                <a:latin typeface="Times New Roman" panose="02020603050405020304" pitchFamily="18" charset="0"/>
                <a:cs typeface="Times New Roman" panose="02020603050405020304" pitchFamily="18" charset="0"/>
              </a:rPr>
              <a:t>Ventaja PINN</a:t>
            </a:r>
            <a:r>
              <a:rPr lang="es-ES" sz="1600" dirty="0">
                <a:solidFill>
                  <a:schemeClr val="tx1"/>
                </a:solidFill>
                <a:latin typeface="Times New Roman" panose="02020603050405020304" pitchFamily="18" charset="0"/>
                <a:cs typeface="Times New Roman" panose="02020603050405020304" pitchFamily="18" charset="0"/>
              </a:rPr>
              <a:t>: Al ser un método libre de malla, evita el cuello de botella computacional. Aunque el entrenamiento es costoso, la fase de inferencia (predicción) es casi instantánea.</a:t>
            </a:r>
            <a:endParaRPr lang="es-MX" sz="1600" dirty="0">
              <a:solidFill>
                <a:schemeClr val="tx1"/>
              </a:solidFill>
              <a:latin typeface="Times New Roman" panose="02020603050405020304" pitchFamily="18" charset="0"/>
              <a:cs typeface="Times New Roman" panose="02020603050405020304" pitchFamily="18" charset="0"/>
            </a:endParaRPr>
          </a:p>
        </p:txBody>
      </p:sp>
      <p:sp>
        <p:nvSpPr>
          <p:cNvPr id="8" name="CuadroTexto 7">
            <a:extLst>
              <a:ext uri="{FF2B5EF4-FFF2-40B4-BE49-F238E27FC236}">
                <a16:creationId xmlns:a16="http://schemas.microsoft.com/office/drawing/2014/main" id="{91E2A76C-46F4-04DF-19C0-D8817814F581}"/>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312888656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9CE87ED-E1E8-4D95-B7A7-ACBC52591E3C}"/>
              </a:ext>
            </a:extLst>
          </p:cNvPr>
          <p:cNvPicPr>
            <a:picLocks noChangeAspect="1"/>
          </p:cNvPicPr>
          <p:nvPr/>
        </p:nvPicPr>
        <p:blipFill>
          <a:blip r:embed="rId2"/>
          <a:stretch>
            <a:fillRect/>
          </a:stretch>
        </p:blipFill>
        <p:spPr>
          <a:xfrm>
            <a:off x="6174658" y="0"/>
            <a:ext cx="6017342" cy="6858000"/>
          </a:xfrm>
          <a:prstGeom prst="rect">
            <a:avLst/>
          </a:prstGeom>
        </p:spPr>
      </p:pic>
      <p:sp>
        <p:nvSpPr>
          <p:cNvPr id="6" name="CuadroTexto 5">
            <a:extLst>
              <a:ext uri="{FF2B5EF4-FFF2-40B4-BE49-F238E27FC236}">
                <a16:creationId xmlns:a16="http://schemas.microsoft.com/office/drawing/2014/main" id="{B43D5EE0-C778-25A5-962C-6889C4FD3B8B}"/>
              </a:ext>
            </a:extLst>
          </p:cNvPr>
          <p:cNvSpPr txBox="1"/>
          <p:nvPr/>
        </p:nvSpPr>
        <p:spPr>
          <a:xfrm>
            <a:off x="226142" y="1788605"/>
            <a:ext cx="5633884" cy="4832092"/>
          </a:xfrm>
          <a:prstGeom prst="rect">
            <a:avLst/>
          </a:prstGeom>
          <a:noFill/>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A pesar de su promesa, las PINNs no son una panacea. Su entrenamiento presenta desafíos significativos y fallan en ciertos tipos de problemas, revelando 'patologías' que la comunidad de investigación está abordando activamente.</a:t>
            </a:r>
          </a:p>
          <a:p>
            <a:pPr algn="just"/>
            <a:endParaRPr lang="es-ES" sz="1400" dirty="0">
              <a:latin typeface="Times New Roman" panose="02020603050405020304" pitchFamily="18" charset="0"/>
              <a:cs typeface="Times New Roman" panose="02020603050405020304" pitchFamily="18" charset="0"/>
            </a:endParaRPr>
          </a:p>
          <a:p>
            <a:pPr algn="just"/>
            <a:r>
              <a:rPr lang="es-ES" sz="1400" b="1" dirty="0">
                <a:latin typeface="Times New Roman" panose="02020603050405020304" pitchFamily="18" charset="0"/>
                <a:cs typeface="Times New Roman" panose="02020603050405020304" pitchFamily="18" charset="0"/>
              </a:rPr>
              <a:t>Limitaciones documentadas:</a:t>
            </a:r>
          </a:p>
          <a:p>
            <a:pPr marL="285750" indent="-285750" algn="just">
              <a:buFont typeface="Arial" panose="020B0604020202020204" pitchFamily="34" charset="0"/>
              <a:buChar char="•"/>
            </a:pPr>
            <a:r>
              <a:rPr lang="es-ES" sz="1400" b="1" dirty="0">
                <a:latin typeface="Times New Roman" panose="02020603050405020304" pitchFamily="18" charset="0"/>
                <a:cs typeface="Times New Roman" panose="02020603050405020304" pitchFamily="18" charset="0"/>
              </a:rPr>
              <a:t>Fallo en problemas transitorios y multidominio: </a:t>
            </a:r>
            <a:r>
              <a:rPr lang="es-ES" sz="1400" dirty="0">
                <a:latin typeface="Times New Roman" panose="02020603050405020304" pitchFamily="18" charset="0"/>
                <a:cs typeface="Times New Roman" panose="02020603050405020304" pitchFamily="18" charset="0"/>
              </a:rPr>
              <a:t>Las PINNS a menudo no convergen en problemas como la viga en voladizo transitoria o la ecuación de calor transitoria, posiblemente debido a la multiplicidad de soluciones (ej. series de Fourier) que introducen ambigüedad. </a:t>
            </a:r>
          </a:p>
          <a:p>
            <a:pPr marL="285750" indent="-285750" algn="just">
              <a:buFont typeface="Arial" panose="020B0604020202020204" pitchFamily="34" charset="0"/>
              <a:buChar char="•"/>
            </a:pPr>
            <a:r>
              <a:rPr lang="es-ES" sz="1400" b="1" dirty="0">
                <a:latin typeface="Times New Roman" panose="02020603050405020304" pitchFamily="18" charset="0"/>
                <a:cs typeface="Times New Roman" panose="02020603050405020304" pitchFamily="18" charset="0"/>
              </a:rPr>
              <a:t>Desbalance de la función de pérdida: </a:t>
            </a:r>
            <a:r>
              <a:rPr lang="es-ES" sz="1400" dirty="0">
                <a:latin typeface="Times New Roman" panose="02020603050405020304" pitchFamily="18" charset="0"/>
                <a:cs typeface="Times New Roman" panose="02020603050405020304" pitchFamily="18" charset="0"/>
              </a:rPr>
              <a:t>Un término de la pérdida (ej. el residuo de la EDP) puede dominar a otros (ej. las condiciones de contorno), obstaculizando el entrenamiento. Los gradientes asociados a la pérdida de contorno pueden desvanecerse.</a:t>
            </a:r>
          </a:p>
          <a:p>
            <a:pPr marL="285750" indent="-285750" algn="just">
              <a:buFont typeface="Arial" panose="020B0604020202020204" pitchFamily="34" charset="0"/>
              <a:buChar char="•"/>
            </a:pPr>
            <a:r>
              <a:rPr lang="es-ES" sz="1400" b="1" dirty="0">
                <a:latin typeface="Times New Roman" panose="02020603050405020304" pitchFamily="18" charset="0"/>
                <a:cs typeface="Times New Roman" panose="02020603050405020304" pitchFamily="18" charset="0"/>
              </a:rPr>
              <a:t>Sesgo espectral (</a:t>
            </a:r>
            <a:r>
              <a:rPr lang="es-ES" sz="1400" b="1" dirty="0" err="1">
                <a:latin typeface="Times New Roman" panose="02020603050405020304" pitchFamily="18" charset="0"/>
                <a:cs typeface="Times New Roman" panose="02020603050405020304" pitchFamily="18" charset="0"/>
              </a:rPr>
              <a:t>Spectral</a:t>
            </a:r>
            <a:r>
              <a:rPr lang="es-ES" sz="1400" b="1" dirty="0">
                <a:latin typeface="Times New Roman" panose="02020603050405020304" pitchFamily="18" charset="0"/>
                <a:cs typeface="Times New Roman" panose="02020603050405020304" pitchFamily="18" charset="0"/>
              </a:rPr>
              <a:t> </a:t>
            </a:r>
            <a:r>
              <a:rPr lang="es-ES" sz="1400" b="1" dirty="0" err="1">
                <a:latin typeface="Times New Roman" panose="02020603050405020304" pitchFamily="18" charset="0"/>
                <a:cs typeface="Times New Roman" panose="02020603050405020304" pitchFamily="18" charset="0"/>
              </a:rPr>
              <a:t>Bias</a:t>
            </a:r>
            <a:r>
              <a:rPr lang="es-ES" sz="1400" b="1" dirty="0">
                <a:latin typeface="Times New Roman" panose="02020603050405020304" pitchFamily="18" charset="0"/>
                <a:cs typeface="Times New Roman" panose="02020603050405020304" pitchFamily="18" charset="0"/>
              </a:rPr>
              <a:t>): </a:t>
            </a:r>
            <a:r>
              <a:rPr lang="es-ES" sz="1400" dirty="0">
                <a:latin typeface="Times New Roman" panose="02020603050405020304" pitchFamily="18" charset="0"/>
                <a:cs typeface="Times New Roman" panose="02020603050405020304" pitchFamily="18" charset="0"/>
              </a:rPr>
              <a:t>Las arquitecturas MLP estándar tienden a aprender primero las componentes de baja frecuencia de una solución, luchando por capturar detalles de alta frecuencia o transitorios rápidos.</a:t>
            </a:r>
          </a:p>
          <a:p>
            <a:pPr marL="285750" indent="-285750" algn="just">
              <a:buFont typeface="Arial" panose="020B0604020202020204" pitchFamily="34" charset="0"/>
              <a:buChar char="•"/>
            </a:pPr>
            <a:r>
              <a:rPr lang="es-ES" sz="1400" b="1" dirty="0">
                <a:latin typeface="Times New Roman" panose="02020603050405020304" pitchFamily="18" charset="0"/>
                <a:cs typeface="Times New Roman" panose="02020603050405020304" pitchFamily="18" charset="0"/>
              </a:rPr>
              <a:t>Alto costo de entrenamiento: </a:t>
            </a:r>
            <a:r>
              <a:rPr lang="es-ES" sz="1400" dirty="0">
                <a:latin typeface="Times New Roman" panose="02020603050405020304" pitchFamily="18" charset="0"/>
                <a:cs typeface="Times New Roman" panose="02020603050405020304" pitchFamily="18" charset="0"/>
              </a:rPr>
              <a:t>El proceso de optimización no convexa puede ser extremadamente lento, requiriendo un ajuste considerable de </a:t>
            </a:r>
            <a:r>
              <a:rPr lang="es-ES" sz="1400" dirty="0" err="1">
                <a:latin typeface="Times New Roman" panose="02020603050405020304" pitchFamily="18" charset="0"/>
                <a:cs typeface="Times New Roman" panose="02020603050405020304" pitchFamily="18" charset="0"/>
              </a:rPr>
              <a:t>hiperparámetros</a:t>
            </a:r>
            <a:r>
              <a:rPr lang="es-ES" sz="1400" dirty="0">
                <a:latin typeface="Times New Roman" panose="02020603050405020304" pitchFamily="18" charset="0"/>
                <a:cs typeface="Times New Roman" panose="02020603050405020304" pitchFamily="18" charset="0"/>
              </a:rPr>
              <a:t> y un tiempo de cómputo significativo.</a:t>
            </a:r>
            <a:endParaRPr lang="es-MX" sz="1400" dirty="0">
              <a:latin typeface="Times New Roman" panose="02020603050405020304" pitchFamily="18" charset="0"/>
              <a:cs typeface="Times New Roman" panose="02020603050405020304" pitchFamily="18" charset="0"/>
            </a:endParaRPr>
          </a:p>
        </p:txBody>
      </p:sp>
      <p:sp>
        <p:nvSpPr>
          <p:cNvPr id="7" name="CuadroTexto 6">
            <a:extLst>
              <a:ext uri="{FF2B5EF4-FFF2-40B4-BE49-F238E27FC236}">
                <a16:creationId xmlns:a16="http://schemas.microsoft.com/office/drawing/2014/main" id="{F7E35479-5617-CA34-C590-366606730ECC}"/>
              </a:ext>
            </a:extLst>
          </p:cNvPr>
          <p:cNvSpPr txBox="1"/>
          <p:nvPr/>
        </p:nvSpPr>
        <p:spPr>
          <a:xfrm>
            <a:off x="629265" y="237303"/>
            <a:ext cx="4827638" cy="1569660"/>
          </a:xfrm>
          <a:prstGeom prst="rect">
            <a:avLst/>
          </a:prstGeom>
          <a:noFill/>
        </p:spPr>
        <p:txBody>
          <a:bodyPr wrap="square" rtlCol="0">
            <a:spAutoFit/>
          </a:bodyPr>
          <a:lstStyle/>
          <a:p>
            <a:pPr algn="ctr"/>
            <a:r>
              <a:rPr lang="es-MX" sz="3200" b="1" dirty="0">
                <a:latin typeface="Times New Roman" panose="02020603050405020304" pitchFamily="18" charset="0"/>
                <a:cs typeface="Times New Roman" panose="02020603050405020304" pitchFamily="18" charset="0"/>
              </a:rPr>
              <a:t>Confrontando los límites: patologías y fallos de convergencia.</a:t>
            </a:r>
          </a:p>
        </p:txBody>
      </p:sp>
      <p:sp>
        <p:nvSpPr>
          <p:cNvPr id="8" name="CuadroTexto 7">
            <a:extLst>
              <a:ext uri="{FF2B5EF4-FFF2-40B4-BE49-F238E27FC236}">
                <a16:creationId xmlns:a16="http://schemas.microsoft.com/office/drawing/2014/main" id="{6988DC35-1515-5A5A-4C8E-1C372837FF5C}"/>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51196372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EB56F7-82AC-C607-2D4D-DABAC286F87D}"/>
              </a:ext>
            </a:extLst>
          </p:cNvPr>
          <p:cNvSpPr>
            <a:spLocks noGrp="1"/>
          </p:cNvSpPr>
          <p:nvPr>
            <p:ph type="title"/>
          </p:nvPr>
        </p:nvSpPr>
        <p:spPr>
          <a:xfrm>
            <a:off x="432620" y="191862"/>
            <a:ext cx="11661058" cy="702874"/>
          </a:xfrm>
        </p:spPr>
        <p:txBody>
          <a:bodyPr>
            <a:normAutofit/>
          </a:bodyPr>
          <a:lstStyle/>
          <a:p>
            <a:r>
              <a:rPr lang="es-MX" sz="3200" b="1" dirty="0">
                <a:latin typeface="Times New Roman" panose="02020603050405020304" pitchFamily="18" charset="0"/>
                <a:cs typeface="Times New Roman" panose="02020603050405020304" pitchFamily="18" charset="0"/>
              </a:rPr>
              <a:t>La evolución : Arquitecturas avanzadas contra el sesgo espectral.</a:t>
            </a:r>
          </a:p>
        </p:txBody>
      </p:sp>
      <p:sp>
        <p:nvSpPr>
          <p:cNvPr id="3" name="Marcador de contenido 2">
            <a:extLst>
              <a:ext uri="{FF2B5EF4-FFF2-40B4-BE49-F238E27FC236}">
                <a16:creationId xmlns:a16="http://schemas.microsoft.com/office/drawing/2014/main" id="{EAFFE5D1-6F55-21AD-9081-B51A0FCEAE5F}"/>
              </a:ext>
            </a:extLst>
          </p:cNvPr>
          <p:cNvSpPr>
            <a:spLocks noGrp="1"/>
          </p:cNvSpPr>
          <p:nvPr>
            <p:ph idx="1"/>
          </p:nvPr>
        </p:nvSpPr>
        <p:spPr>
          <a:xfrm>
            <a:off x="950042" y="894736"/>
            <a:ext cx="10626213" cy="3326478"/>
          </a:xfrm>
        </p:spPr>
        <p:txBody>
          <a:bodyPr>
            <a:normAutofit/>
          </a:bodyPr>
          <a:lstStyle/>
          <a:p>
            <a:pPr marL="0" indent="0" algn="just">
              <a:buNone/>
            </a:pPr>
            <a:r>
              <a:rPr lang="es-ES" sz="1800" dirty="0">
                <a:latin typeface="Times New Roman" panose="02020603050405020304" pitchFamily="18" charset="0"/>
                <a:cs typeface="Times New Roman" panose="02020603050405020304" pitchFamily="18" charset="0"/>
              </a:rPr>
              <a:t>Para superar la tendencia de las redes a ignorar las altas frecuencias, se han desarrollado arquitecturas modificadas que enriquecen el espacio de entrada, permitiendo un aprendizaje más rápido y preciso de soluciones complejas.</a:t>
            </a:r>
          </a:p>
          <a:p>
            <a:pPr marL="0" indent="0" algn="just">
              <a:buNone/>
            </a:pPr>
            <a:r>
              <a:rPr lang="es-ES" sz="1800" dirty="0">
                <a:latin typeface="Times New Roman" panose="02020603050405020304" pitchFamily="18" charset="0"/>
                <a:cs typeface="Times New Roman" panose="02020603050405020304" pitchFamily="18" charset="0"/>
              </a:rPr>
              <a:t>Técnica Clave: Mapeo de Fourier Aleatorio (</a:t>
            </a:r>
            <a:r>
              <a:rPr lang="es-ES" sz="1800" dirty="0" err="1">
                <a:latin typeface="Times New Roman" panose="02020603050405020304" pitchFamily="18" charset="0"/>
                <a:cs typeface="Times New Roman" panose="02020603050405020304" pitchFamily="18" charset="0"/>
              </a:rPr>
              <a:t>Glandom</a:t>
            </a:r>
            <a:r>
              <a:rPr lang="es-ES" sz="1800" dirty="0">
                <a:latin typeface="Times New Roman" panose="02020603050405020304" pitchFamily="18" charset="0"/>
                <a:cs typeface="Times New Roman" panose="02020603050405020304" pitchFamily="18" charset="0"/>
              </a:rPr>
              <a:t> Fourier </a:t>
            </a:r>
            <a:r>
              <a:rPr lang="es-ES" sz="1800" dirty="0" err="1">
                <a:latin typeface="Times New Roman" panose="02020603050405020304" pitchFamily="18" charset="0"/>
                <a:cs typeface="Times New Roman" panose="02020603050405020304" pitchFamily="18" charset="0"/>
              </a:rPr>
              <a:t>Features</a:t>
            </a:r>
            <a:r>
              <a:rPr lang="es-ES" sz="1800" dirty="0">
                <a:latin typeface="Times New Roman" panose="02020603050405020304" pitchFamily="18" charset="0"/>
                <a:cs typeface="Times New Roman" panose="02020603050405020304" pitchFamily="18" charset="0"/>
              </a:rPr>
              <a:t>)</a:t>
            </a:r>
          </a:p>
          <a:p>
            <a:pPr marL="0" indent="0" algn="just">
              <a:buNone/>
            </a:pPr>
            <a:r>
              <a:rPr lang="es-ES" sz="1800" dirty="0">
                <a:latin typeface="Times New Roman" panose="02020603050405020304" pitchFamily="18" charset="0"/>
                <a:cs typeface="Times New Roman" panose="02020603050405020304" pitchFamily="18" charset="0"/>
              </a:rPr>
              <a:t>Problema: El 'sesgo espectral inherente a las funciones de activación como </a:t>
            </a:r>
            <a:r>
              <a:rPr lang="es-ES" sz="1800" dirty="0" err="1">
                <a:latin typeface="Times New Roman" panose="02020603050405020304" pitchFamily="18" charset="0"/>
                <a:cs typeface="Times New Roman" panose="02020603050405020304" pitchFamily="18" charset="0"/>
              </a:rPr>
              <a:t>tanh</a:t>
            </a:r>
            <a:r>
              <a:rPr lang="es-ES" sz="1800" dirty="0">
                <a:latin typeface="Times New Roman" panose="02020603050405020304" pitchFamily="18" charset="0"/>
                <a:cs typeface="Times New Roman" panose="02020603050405020304" pitchFamily="18" charset="0"/>
              </a:rPr>
              <a:t> dificulta la aproximación de funciones oscilatorias. </a:t>
            </a:r>
          </a:p>
          <a:p>
            <a:pPr marL="0" indent="0" algn="just">
              <a:buNone/>
            </a:pPr>
            <a:r>
              <a:rPr lang="es-ES" sz="1800" dirty="0">
                <a:latin typeface="Times New Roman" panose="02020603050405020304" pitchFamily="18" charset="0"/>
                <a:cs typeface="Times New Roman" panose="02020603050405020304" pitchFamily="18" charset="0"/>
              </a:rPr>
              <a:t>Solución: Antes de la primera capa de la red, las entradas x se mapean a un espacio de características de mayor dimensión usando una combinación de senos y cosenos con frecuencias aleatorias: [cos(2</a:t>
            </a:r>
            <a:r>
              <a:rPr lang="el-GR" sz="1800" dirty="0"/>
              <a:t>π</a:t>
            </a:r>
            <a:r>
              <a:rPr lang="es-MX" sz="1800" dirty="0" err="1"/>
              <a:t>Bx</a:t>
            </a:r>
            <a:r>
              <a:rPr lang="es-ES" sz="1800" dirty="0">
                <a:latin typeface="Times New Roman" panose="02020603050405020304" pitchFamily="18" charset="0"/>
                <a:cs typeface="Times New Roman" panose="02020603050405020304" pitchFamily="18" charset="0"/>
              </a:rPr>
              <a:t>), sin(2</a:t>
            </a:r>
            <a:r>
              <a:rPr lang="el-GR" sz="1800" dirty="0"/>
              <a:t> π</a:t>
            </a:r>
            <a:r>
              <a:rPr lang="es-MX" sz="1800" dirty="0"/>
              <a:t>B</a:t>
            </a:r>
            <a:r>
              <a:rPr lang="es-ES" sz="1800" dirty="0">
                <a:latin typeface="Times New Roman" panose="02020603050405020304" pitchFamily="18" charset="0"/>
                <a:cs typeface="Times New Roman" panose="02020603050405020304" pitchFamily="18" charset="0"/>
              </a:rPr>
              <a:t>x)].</a:t>
            </a:r>
          </a:p>
          <a:p>
            <a:pPr marL="0" indent="0" algn="just">
              <a:buNone/>
            </a:pPr>
            <a:r>
              <a:rPr lang="es-ES" sz="1800" dirty="0">
                <a:latin typeface="Times New Roman" panose="02020603050405020304" pitchFamily="18" charset="0"/>
                <a:cs typeface="Times New Roman" panose="02020603050405020304" pitchFamily="18" charset="0"/>
              </a:rPr>
              <a:t>Efecto: Este </a:t>
            </a:r>
            <a:r>
              <a:rPr lang="es-ES" sz="1800" dirty="0" err="1">
                <a:latin typeface="Times New Roman" panose="02020603050405020304" pitchFamily="18" charset="0"/>
                <a:cs typeface="Times New Roman" panose="02020603050405020304" pitchFamily="18" charset="0"/>
              </a:rPr>
              <a:t>pre-procesamiento</a:t>
            </a:r>
            <a:r>
              <a:rPr lang="es-ES" sz="1800" dirty="0">
                <a:latin typeface="Times New Roman" panose="02020603050405020304" pitchFamily="18" charset="0"/>
                <a:cs typeface="Times New Roman" panose="02020603050405020304" pitchFamily="18" charset="0"/>
              </a:rPr>
              <a:t> convierte la función de activación en una combinación lineal de bases de Fourier, permitiendo a la red capturar patrones de alta frecuencia de manera mucho más eficiente, reduciendo el sesgo inductivo hacia soluciones suaves.</a:t>
            </a:r>
            <a:endParaRPr lang="es-MX" sz="1800" dirty="0">
              <a:latin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F49DA417-7155-5CC6-C944-753249DE8E6B}"/>
              </a:ext>
            </a:extLst>
          </p:cNvPr>
          <p:cNvPicPr>
            <a:picLocks noChangeAspect="1"/>
          </p:cNvPicPr>
          <p:nvPr/>
        </p:nvPicPr>
        <p:blipFill>
          <a:blip r:embed="rId2"/>
          <a:stretch>
            <a:fillRect/>
          </a:stretch>
        </p:blipFill>
        <p:spPr>
          <a:xfrm>
            <a:off x="2153057" y="4140405"/>
            <a:ext cx="8367459" cy="2525733"/>
          </a:xfrm>
          <a:prstGeom prst="rect">
            <a:avLst/>
          </a:prstGeom>
        </p:spPr>
      </p:pic>
      <p:sp>
        <p:nvSpPr>
          <p:cNvPr id="8" name="Rectángulo 7">
            <a:extLst>
              <a:ext uri="{FF2B5EF4-FFF2-40B4-BE49-F238E27FC236}">
                <a16:creationId xmlns:a16="http://schemas.microsoft.com/office/drawing/2014/main" id="{C337EA44-E1F4-4810-C4F6-52EF2B1F17B4}"/>
              </a:ext>
            </a:extLst>
          </p:cNvPr>
          <p:cNvSpPr/>
          <p:nvPr/>
        </p:nvSpPr>
        <p:spPr>
          <a:xfrm>
            <a:off x="10038943" y="6611007"/>
            <a:ext cx="866214" cy="246993"/>
          </a:xfrm>
          <a:prstGeom prst="rect">
            <a:avLst/>
          </a:prstGeom>
          <a:solidFill>
            <a:srgbClr val="F1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10240DB1-EF83-CB22-DBCB-22AA46F40D88}"/>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13</a:t>
            </a:r>
          </a:p>
        </p:txBody>
      </p:sp>
    </p:spTree>
    <p:extLst>
      <p:ext uri="{BB962C8B-B14F-4D97-AF65-F5344CB8AC3E}">
        <p14:creationId xmlns:p14="http://schemas.microsoft.com/office/powerpoint/2010/main" val="236693763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63364D-4782-9C3F-72B5-9BD0DEA146D1}"/>
              </a:ext>
            </a:extLst>
          </p:cNvPr>
          <p:cNvSpPr>
            <a:spLocks noGrp="1"/>
          </p:cNvSpPr>
          <p:nvPr>
            <p:ph type="title"/>
          </p:nvPr>
        </p:nvSpPr>
        <p:spPr>
          <a:xfrm>
            <a:off x="838200" y="178312"/>
            <a:ext cx="10515600" cy="1325563"/>
          </a:xfrm>
        </p:spPr>
        <p:txBody>
          <a:bodyPr/>
          <a:lstStyle/>
          <a:p>
            <a:pPr algn="ctr"/>
            <a:r>
              <a:rPr lang="es-MX" b="1" dirty="0">
                <a:latin typeface="Times New Roman" panose="02020603050405020304" pitchFamily="18" charset="0"/>
                <a:cs typeface="Times New Roman" panose="02020603050405020304" pitchFamily="18" charset="0"/>
              </a:rPr>
              <a:t>La evolución: Estrategias de entrenamiento para problemas complejos.</a:t>
            </a:r>
          </a:p>
        </p:txBody>
      </p:sp>
      <p:sp>
        <p:nvSpPr>
          <p:cNvPr id="3" name="Marcador de contenido 2">
            <a:extLst>
              <a:ext uri="{FF2B5EF4-FFF2-40B4-BE49-F238E27FC236}">
                <a16:creationId xmlns:a16="http://schemas.microsoft.com/office/drawing/2014/main" id="{1724F9EE-5866-42B0-1838-110C5A4101D6}"/>
              </a:ext>
            </a:extLst>
          </p:cNvPr>
          <p:cNvSpPr>
            <a:spLocks noGrp="1"/>
          </p:cNvSpPr>
          <p:nvPr>
            <p:ph idx="1"/>
          </p:nvPr>
        </p:nvSpPr>
        <p:spPr>
          <a:xfrm>
            <a:off x="217325" y="1690688"/>
            <a:ext cx="6370288" cy="3346143"/>
          </a:xfrm>
        </p:spPr>
        <p:txBody>
          <a:bodyPr>
            <a:noAutofit/>
          </a:bodyPr>
          <a:lstStyle/>
          <a:p>
            <a:pPr algn="just"/>
            <a:r>
              <a:rPr lang="es-ES" sz="1800" dirty="0">
                <a:latin typeface="Times New Roman" panose="02020603050405020304" pitchFamily="18" charset="0"/>
                <a:cs typeface="Times New Roman" panose="02020603050405020304" pitchFamily="18" charset="0"/>
              </a:rPr>
              <a:t>Más allá de la arquitectura, se están implementando estrategias de entrenamiento más inteligentes que guían el proceso de optimización para manejar problemas dependientes del tiempo y tiempo y desbalances en la pérdida.</a:t>
            </a:r>
          </a:p>
          <a:p>
            <a:pPr algn="just"/>
            <a:r>
              <a:rPr lang="es-ES" sz="1800" b="1" dirty="0">
                <a:latin typeface="Times New Roman" panose="02020603050405020304" pitchFamily="18" charset="0"/>
                <a:cs typeface="Times New Roman" panose="02020603050405020304" pitchFamily="18" charset="0"/>
              </a:rPr>
              <a:t>Entrenamiento causal (Causal Training</a:t>
            </a:r>
            <a:r>
              <a:rPr lang="es-ES" sz="1800" dirty="0">
                <a:latin typeface="Times New Roman" panose="02020603050405020304" pitchFamily="18" charset="0"/>
                <a:cs typeface="Times New Roman" panose="02020603050405020304" pitchFamily="18" charset="0"/>
              </a:rPr>
              <a:t>): Para problemas dependientes del tiempo, se ponderan los puntos de colocación para forzar a la red a aprender la solución de manera secuencial y cronológica, respetando la causalidad física.</a:t>
            </a:r>
          </a:p>
          <a:p>
            <a:pPr algn="just"/>
            <a:r>
              <a:rPr lang="es-ES" sz="1800" b="1" dirty="0">
                <a:latin typeface="Times New Roman" panose="02020603050405020304" pitchFamily="18" charset="0"/>
                <a:cs typeface="Times New Roman" panose="02020603050405020304" pitchFamily="18" charset="0"/>
              </a:rPr>
              <a:t>Balanceo dinámico de pérdidas: </a:t>
            </a:r>
            <a:r>
              <a:rPr lang="es-ES" sz="1800" dirty="0">
                <a:latin typeface="Times New Roman" panose="02020603050405020304" pitchFamily="18" charset="0"/>
                <a:cs typeface="Times New Roman" panose="02020603050405020304" pitchFamily="18" charset="0"/>
              </a:rPr>
              <a:t>Se ajustan dinámicamente los pesos (</a:t>
            </a:r>
            <a:r>
              <a:rPr lang="el-GR" sz="1800" dirty="0">
                <a:latin typeface="Times New Roman" panose="02020603050405020304" pitchFamily="18" charset="0"/>
                <a:cs typeface="Times New Roman" panose="02020603050405020304" pitchFamily="18" charset="0"/>
              </a:rPr>
              <a:t>λ</a:t>
            </a:r>
            <a:r>
              <a:rPr lang="es-ES" sz="1800" dirty="0">
                <a:latin typeface="Times New Roman" panose="02020603050405020304" pitchFamily="18" charset="0"/>
                <a:cs typeface="Times New Roman" panose="02020603050405020304" pitchFamily="18" charset="0"/>
              </a:rPr>
              <a:t>) de cada término en la función de pérdida. Algoritmos de '</a:t>
            </a:r>
            <a:r>
              <a:rPr lang="es-ES" sz="1800" dirty="0" err="1">
                <a:latin typeface="Times New Roman" panose="02020603050405020304" pitchFamily="18" charset="0"/>
                <a:cs typeface="Times New Roman" panose="02020603050405020304" pitchFamily="18" charset="0"/>
              </a:rPr>
              <a:t>annealing</a:t>
            </a:r>
            <a:r>
              <a:rPr lang="es-ES" sz="1800" dirty="0">
                <a:latin typeface="Times New Roman" panose="02020603050405020304" pitchFamily="18" charset="0"/>
                <a:cs typeface="Times New Roman" panose="02020603050405020304" pitchFamily="18" charset="0"/>
              </a:rPr>
              <a:t>' o basados en la norma de los gradientes evitan que un término domine, asegurando un aprendizaje equilibrado.</a:t>
            </a:r>
          </a:p>
          <a:p>
            <a:pPr algn="just"/>
            <a:r>
              <a:rPr lang="es-ES" sz="1800" b="1" dirty="0">
                <a:latin typeface="Times New Roman" panose="02020603050405020304" pitchFamily="18" charset="0"/>
                <a:cs typeface="Times New Roman" panose="02020603050405020304" pitchFamily="18" charset="0"/>
              </a:rPr>
              <a:t>Optimización Guiada por Datos (PCA): </a:t>
            </a:r>
            <a:r>
              <a:rPr lang="es-ES" sz="1800" dirty="0">
                <a:latin typeface="Times New Roman" panose="02020603050405020304" pitchFamily="18" charset="0"/>
                <a:cs typeface="Times New Roman" panose="02020603050405020304" pitchFamily="18" charset="0"/>
              </a:rPr>
              <a:t>El Análisis de Componentes Principales (PCA) de múltiples ejecuciones revela la influencia de los </a:t>
            </a:r>
            <a:r>
              <a:rPr lang="es-ES" sz="1800" dirty="0" err="1">
                <a:latin typeface="Times New Roman" panose="02020603050405020304" pitchFamily="18" charset="0"/>
                <a:cs typeface="Times New Roman" panose="02020603050405020304" pitchFamily="18" charset="0"/>
              </a:rPr>
              <a:t>hiperparámetros</a:t>
            </a:r>
            <a:r>
              <a:rPr lang="es-ES" sz="1800" dirty="0">
                <a:latin typeface="Times New Roman" panose="02020603050405020304" pitchFamily="18" charset="0"/>
                <a:cs typeface="Times New Roman" panose="02020603050405020304" pitchFamily="18" charset="0"/>
              </a:rPr>
              <a:t>. Este análisis funciona como un 'manual de entrenamiento' para optimizar el rendimiento.</a:t>
            </a:r>
            <a:endParaRPr lang="es-MX" sz="1800" dirty="0">
              <a:latin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917CBDB3-D3C8-4719-5E0D-CCDD4D0CE092}"/>
              </a:ext>
            </a:extLst>
          </p:cNvPr>
          <p:cNvPicPr>
            <a:picLocks noChangeAspect="1"/>
          </p:cNvPicPr>
          <p:nvPr/>
        </p:nvPicPr>
        <p:blipFill>
          <a:blip r:embed="rId2"/>
          <a:stretch>
            <a:fillRect/>
          </a:stretch>
        </p:blipFill>
        <p:spPr>
          <a:xfrm>
            <a:off x="6804938" y="1690688"/>
            <a:ext cx="5268060" cy="4772691"/>
          </a:xfrm>
          <a:prstGeom prst="rect">
            <a:avLst/>
          </a:prstGeom>
        </p:spPr>
      </p:pic>
      <p:sp>
        <p:nvSpPr>
          <p:cNvPr id="6" name="CuadroTexto 5">
            <a:extLst>
              <a:ext uri="{FF2B5EF4-FFF2-40B4-BE49-F238E27FC236}">
                <a16:creationId xmlns:a16="http://schemas.microsoft.com/office/drawing/2014/main" id="{133367FF-7A52-80BA-E7FB-A85486D1C00F}"/>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14</a:t>
            </a:r>
          </a:p>
        </p:txBody>
      </p:sp>
    </p:spTree>
    <p:extLst>
      <p:ext uri="{BB962C8B-B14F-4D97-AF65-F5344CB8AC3E}">
        <p14:creationId xmlns:p14="http://schemas.microsoft.com/office/powerpoint/2010/main" val="192887935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AB4D66-C850-2725-F249-713F581D9E71}"/>
              </a:ext>
            </a:extLst>
          </p:cNvPr>
          <p:cNvSpPr>
            <a:spLocks noGrp="1"/>
          </p:cNvSpPr>
          <p:nvPr>
            <p:ph type="title"/>
          </p:nvPr>
        </p:nvSpPr>
        <p:spPr/>
        <p:txBody>
          <a:bodyPr/>
          <a:lstStyle/>
          <a:p>
            <a:r>
              <a:rPr lang="es-MX" b="1" dirty="0">
                <a:latin typeface="Times New Roman" panose="02020603050405020304" pitchFamily="18" charset="0"/>
                <a:cs typeface="Times New Roman" panose="02020603050405020304" pitchFamily="18" charset="0"/>
              </a:rPr>
              <a:t>El nuevo panorama: Dos herramientas, fortalezas distintas.</a:t>
            </a:r>
          </a:p>
        </p:txBody>
      </p:sp>
      <p:sp>
        <p:nvSpPr>
          <p:cNvPr id="3" name="Marcador de contenido 2">
            <a:extLst>
              <a:ext uri="{FF2B5EF4-FFF2-40B4-BE49-F238E27FC236}">
                <a16:creationId xmlns:a16="http://schemas.microsoft.com/office/drawing/2014/main" id="{E1287227-4BF8-3718-2665-25805F0AEE9F}"/>
              </a:ext>
            </a:extLst>
          </p:cNvPr>
          <p:cNvSpPr>
            <a:spLocks noGrp="1"/>
          </p:cNvSpPr>
          <p:nvPr>
            <p:ph idx="1"/>
          </p:nvPr>
        </p:nvSpPr>
        <p:spPr>
          <a:xfrm>
            <a:off x="838200" y="1753849"/>
            <a:ext cx="10515600" cy="563614"/>
          </a:xfrm>
        </p:spPr>
        <p:txBody>
          <a:bodyPr>
            <a:normAutofit lnSpcReduction="10000"/>
          </a:bodyPr>
          <a:lstStyle/>
          <a:p>
            <a:pPr marL="0" indent="0">
              <a:buNone/>
            </a:pPr>
            <a:r>
              <a:rPr lang="es-MX" sz="1800" dirty="0">
                <a:latin typeface="Times New Roman" panose="02020603050405020304" pitchFamily="18" charset="0"/>
                <a:cs typeface="Times New Roman" panose="02020603050405020304" pitchFamily="18" charset="0"/>
              </a:rPr>
              <a:t>Las </a:t>
            </a:r>
            <a:r>
              <a:rPr lang="es-MX" sz="1800" dirty="0" err="1">
                <a:latin typeface="Times New Roman" panose="02020603050405020304" pitchFamily="18" charset="0"/>
                <a:cs typeface="Times New Roman" panose="02020603050405020304" pitchFamily="18" charset="0"/>
              </a:rPr>
              <a:t>PINNs</a:t>
            </a:r>
            <a:r>
              <a:rPr lang="es-MX" sz="1800" dirty="0">
                <a:latin typeface="Times New Roman" panose="02020603050405020304" pitchFamily="18" charset="0"/>
                <a:cs typeface="Times New Roman" panose="02020603050405020304" pitchFamily="18" charset="0"/>
              </a:rPr>
              <a:t> no buscan remplazar al FEM, sino complementarlo. Cada metodología ofrece un conjunto único de ventajas y desventajas, definiendo su rol en el ecosistema de la simulación científica.</a:t>
            </a:r>
          </a:p>
        </p:txBody>
      </p:sp>
      <p:pic>
        <p:nvPicPr>
          <p:cNvPr id="5" name="Imagen 4">
            <a:extLst>
              <a:ext uri="{FF2B5EF4-FFF2-40B4-BE49-F238E27FC236}">
                <a16:creationId xmlns:a16="http://schemas.microsoft.com/office/drawing/2014/main" id="{05D6B9B7-AF6B-C2E7-0A31-73B1D25738FA}"/>
              </a:ext>
            </a:extLst>
          </p:cNvPr>
          <p:cNvPicPr>
            <a:picLocks noChangeAspect="1"/>
          </p:cNvPicPr>
          <p:nvPr/>
        </p:nvPicPr>
        <p:blipFill>
          <a:blip r:embed="rId2"/>
          <a:stretch>
            <a:fillRect/>
          </a:stretch>
        </p:blipFill>
        <p:spPr>
          <a:xfrm>
            <a:off x="1108966" y="2380625"/>
            <a:ext cx="9974067" cy="4477375"/>
          </a:xfrm>
          <a:prstGeom prst="rect">
            <a:avLst/>
          </a:prstGeom>
        </p:spPr>
      </p:pic>
      <p:sp>
        <p:nvSpPr>
          <p:cNvPr id="6" name="CuadroTexto 5">
            <a:extLst>
              <a:ext uri="{FF2B5EF4-FFF2-40B4-BE49-F238E27FC236}">
                <a16:creationId xmlns:a16="http://schemas.microsoft.com/office/drawing/2014/main" id="{C710A12B-E47C-414C-10E3-75A66B123CC6}"/>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15</a:t>
            </a:r>
          </a:p>
        </p:txBody>
      </p:sp>
    </p:spTree>
    <p:extLst>
      <p:ext uri="{BB962C8B-B14F-4D97-AF65-F5344CB8AC3E}">
        <p14:creationId xmlns:p14="http://schemas.microsoft.com/office/powerpoint/2010/main" val="122111249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CE37A1-F36E-FA02-5B6D-121E92C58D37}"/>
              </a:ext>
            </a:extLst>
          </p:cNvPr>
          <p:cNvSpPr>
            <a:spLocks noGrp="1"/>
          </p:cNvSpPr>
          <p:nvPr>
            <p:ph type="title"/>
          </p:nvPr>
        </p:nvSpPr>
        <p:spPr>
          <a:xfrm>
            <a:off x="866467" y="158647"/>
            <a:ext cx="11225981" cy="1325563"/>
          </a:xfrm>
        </p:spPr>
        <p:txBody>
          <a:bodyPr/>
          <a:lstStyle/>
          <a:p>
            <a:r>
              <a:rPr lang="es-MX" b="1" dirty="0">
                <a:latin typeface="Times New Roman" panose="02020603050405020304" pitchFamily="18" charset="0"/>
                <a:cs typeface="Times New Roman" panose="02020603050405020304" pitchFamily="18" charset="0"/>
              </a:rPr>
              <a:t>El Rol de las </a:t>
            </a:r>
            <a:r>
              <a:rPr lang="es-MX" b="1" dirty="0" err="1">
                <a:latin typeface="Times New Roman" panose="02020603050405020304" pitchFamily="18" charset="0"/>
                <a:cs typeface="Times New Roman" panose="02020603050405020304" pitchFamily="18" charset="0"/>
              </a:rPr>
              <a:t>PINNs</a:t>
            </a:r>
            <a:r>
              <a:rPr lang="es-MX" b="1" dirty="0">
                <a:latin typeface="Times New Roman" panose="02020603050405020304" pitchFamily="18" charset="0"/>
                <a:cs typeface="Times New Roman" panose="02020603050405020304" pitchFamily="18" charset="0"/>
              </a:rPr>
              <a:t> en la ciencia futura.</a:t>
            </a:r>
          </a:p>
        </p:txBody>
      </p:sp>
      <p:pic>
        <p:nvPicPr>
          <p:cNvPr id="5" name="Imagen 4">
            <a:extLst>
              <a:ext uri="{FF2B5EF4-FFF2-40B4-BE49-F238E27FC236}">
                <a16:creationId xmlns:a16="http://schemas.microsoft.com/office/drawing/2014/main" id="{995A102A-DC8B-6F11-F111-AAD8E70F62EA}"/>
              </a:ext>
            </a:extLst>
          </p:cNvPr>
          <p:cNvPicPr>
            <a:picLocks noChangeAspect="1"/>
          </p:cNvPicPr>
          <p:nvPr/>
        </p:nvPicPr>
        <p:blipFill>
          <a:blip r:embed="rId2"/>
          <a:stretch>
            <a:fillRect/>
          </a:stretch>
        </p:blipFill>
        <p:spPr>
          <a:xfrm>
            <a:off x="6580631" y="1303210"/>
            <a:ext cx="5382376" cy="5048955"/>
          </a:xfrm>
          <a:prstGeom prst="rect">
            <a:avLst/>
          </a:prstGeom>
        </p:spPr>
      </p:pic>
      <p:sp>
        <p:nvSpPr>
          <p:cNvPr id="9" name="Marcador de contenido 8">
            <a:extLst>
              <a:ext uri="{FF2B5EF4-FFF2-40B4-BE49-F238E27FC236}">
                <a16:creationId xmlns:a16="http://schemas.microsoft.com/office/drawing/2014/main" id="{D6EEC7D9-4011-CC2F-CE12-62315B8CE1E3}"/>
              </a:ext>
            </a:extLst>
          </p:cNvPr>
          <p:cNvSpPr>
            <a:spLocks noGrp="1"/>
          </p:cNvSpPr>
          <p:nvPr>
            <p:ph idx="1"/>
          </p:nvPr>
        </p:nvSpPr>
        <p:spPr>
          <a:xfrm>
            <a:off x="639097" y="1710813"/>
            <a:ext cx="5840361" cy="4466150"/>
          </a:xfrm>
        </p:spPr>
        <p:txBody>
          <a:bodyPr>
            <a:normAutofit fontScale="62500" lnSpcReduction="20000"/>
          </a:bodyPr>
          <a:lstStyle/>
          <a:p>
            <a:pPr marL="0" indent="0">
              <a:buNone/>
            </a:pPr>
            <a:r>
              <a:rPr lang="es-ES" dirty="0">
                <a:latin typeface="Times New Roman" panose="02020603050405020304" pitchFamily="18" charset="0"/>
                <a:cs typeface="Times New Roman" panose="02020603050405020304" pitchFamily="18" charset="0"/>
              </a:rPr>
              <a:t>Las PINNs no son 'asesinas de FEM', sino una nueva clase de herramienta computacional que, trabajando en conjunto con métodos establecidos, acelera la innovación. Su verdadero poder reside en abordar problemas que son prohibitivamente costosos o intratables para los métodos tradicionales.</a:t>
            </a:r>
          </a:p>
          <a:p>
            <a:r>
              <a:rPr lang="es-ES" b="1" dirty="0">
                <a:latin typeface="Times New Roman" panose="02020603050405020304" pitchFamily="18" charset="0"/>
                <a:cs typeface="Times New Roman" panose="02020603050405020304" pitchFamily="18" charset="0"/>
              </a:rPr>
              <a:t>Problemas Inversos: </a:t>
            </a:r>
            <a:r>
              <a:rPr lang="es-ES" dirty="0">
                <a:latin typeface="Times New Roman" panose="02020603050405020304" pitchFamily="18" charset="0"/>
                <a:cs typeface="Times New Roman" panose="02020603050405020304" pitchFamily="18" charset="0"/>
              </a:rPr>
              <a:t>Descubrir parámetros de </a:t>
            </a:r>
            <a:r>
              <a:rPr lang="es-ES" dirty="0" err="1">
                <a:latin typeface="Times New Roman" panose="02020603050405020304" pitchFamily="18" charset="0"/>
                <a:cs typeface="Times New Roman" panose="02020603050405020304" pitchFamily="18" charset="0"/>
              </a:rPr>
              <a:t>EDPs</a:t>
            </a:r>
            <a:r>
              <a:rPr lang="es-ES" dirty="0">
                <a:latin typeface="Times New Roman" panose="02020603050405020304" pitchFamily="18" charset="0"/>
                <a:cs typeface="Times New Roman" panose="02020603050405020304" pitchFamily="18" charset="0"/>
              </a:rPr>
              <a:t> a partir de datos experimentales ruidosos, donde los métodos clásicos son ineficientes.</a:t>
            </a:r>
          </a:p>
          <a:p>
            <a:r>
              <a:rPr lang="es-ES" b="1" dirty="0">
                <a:latin typeface="Times New Roman" panose="02020603050405020304" pitchFamily="18" charset="0"/>
                <a:cs typeface="Times New Roman" panose="02020603050405020304" pitchFamily="18" charset="0"/>
              </a:rPr>
              <a:t>Modelado Subrogado (</a:t>
            </a:r>
            <a:r>
              <a:rPr lang="es-ES" b="1" dirty="0" err="1">
                <a:latin typeface="Times New Roman" panose="02020603050405020304" pitchFamily="18" charset="0"/>
                <a:cs typeface="Times New Roman" panose="02020603050405020304" pitchFamily="18" charset="0"/>
              </a:rPr>
              <a:t>Surrogate</a:t>
            </a:r>
            <a:r>
              <a:rPr lang="es-ES" b="1" dirty="0">
                <a:latin typeface="Times New Roman" panose="02020603050405020304" pitchFamily="18" charset="0"/>
                <a:cs typeface="Times New Roman" panose="02020603050405020304" pitchFamily="18" charset="0"/>
              </a:rPr>
              <a:t> </a:t>
            </a:r>
            <a:r>
              <a:rPr lang="es-ES" b="1" dirty="0" err="1">
                <a:latin typeface="Times New Roman" panose="02020603050405020304" pitchFamily="18" charset="0"/>
                <a:cs typeface="Times New Roman" panose="02020603050405020304" pitchFamily="18" charset="0"/>
              </a:rPr>
              <a:t>Modeling</a:t>
            </a:r>
            <a:r>
              <a:rPr lang="es-ES" b="1" dirty="0">
                <a:latin typeface="Times New Roman" panose="02020603050405020304" pitchFamily="18" charset="0"/>
                <a:cs typeface="Times New Roman" panose="02020603050405020304" pitchFamily="18" charset="0"/>
              </a:rPr>
              <a:t>): </a:t>
            </a:r>
            <a:r>
              <a:rPr lang="es-ES" dirty="0">
                <a:latin typeface="Times New Roman" panose="02020603050405020304" pitchFamily="18" charset="0"/>
                <a:cs typeface="Times New Roman" panose="02020603050405020304" pitchFamily="18" charset="0"/>
              </a:rPr>
              <a:t>Crear aproximaciones </a:t>
            </a:r>
            <a:r>
              <a:rPr lang="es-ES" dirty="0" err="1">
                <a:latin typeface="Times New Roman" panose="02020603050405020304" pitchFamily="18" charset="0"/>
                <a:cs typeface="Times New Roman" panose="02020603050405020304" pitchFamily="18" charset="0"/>
              </a:rPr>
              <a:t>ultra-rápidas</a:t>
            </a:r>
            <a:r>
              <a:rPr lang="es-ES" dirty="0">
                <a:latin typeface="Times New Roman" panose="02020603050405020304" pitchFamily="18" charset="0"/>
                <a:cs typeface="Times New Roman" panose="02020603050405020304" pitchFamily="18" charset="0"/>
              </a:rPr>
              <a:t> de simulaciones costosas para ser usadas en ciclos de optimización topológica y de diseño.</a:t>
            </a:r>
          </a:p>
          <a:p>
            <a:r>
              <a:rPr lang="es-ES" b="1" dirty="0">
                <a:latin typeface="Times New Roman" panose="02020603050405020304" pitchFamily="18" charset="0"/>
                <a:cs typeface="Times New Roman" panose="02020603050405020304" pitchFamily="18" charset="0"/>
              </a:rPr>
              <a:t>Simulación en geometrías intratables: </a:t>
            </a:r>
            <a:r>
              <a:rPr lang="es-ES" dirty="0">
                <a:latin typeface="Times New Roman" panose="02020603050405020304" pitchFamily="18" charset="0"/>
                <a:cs typeface="Times New Roman" panose="02020603050405020304" pitchFamily="18" charset="0"/>
              </a:rPr>
              <a:t>Abordar problemas donde la generación de una malla de alta calidad es el principal obstáculo.</a:t>
            </a:r>
          </a:p>
          <a:p>
            <a:r>
              <a:rPr lang="es-ES" b="1" dirty="0">
                <a:latin typeface="Times New Roman" panose="02020603050405020304" pitchFamily="18" charset="0"/>
                <a:cs typeface="Times New Roman" panose="02020603050405020304" pitchFamily="18" charset="0"/>
              </a:rPr>
              <a:t>Monitoreo y mantenimiento en tiempo real: </a:t>
            </a:r>
            <a:r>
              <a:rPr lang="es-ES" dirty="0">
                <a:latin typeface="Times New Roman" panose="02020603050405020304" pitchFamily="18" charset="0"/>
                <a:cs typeface="Times New Roman" panose="02020603050405020304" pitchFamily="18" charset="0"/>
              </a:rPr>
              <a:t>Utilizar la rápida inferencia de modelos </a:t>
            </a:r>
            <a:r>
              <a:rPr lang="es-ES" dirty="0" err="1">
                <a:latin typeface="Times New Roman" panose="02020603050405020304" pitchFamily="18" charset="0"/>
                <a:cs typeface="Times New Roman" panose="02020603050405020304" pitchFamily="18" charset="0"/>
              </a:rPr>
              <a:t>pre-entrenados</a:t>
            </a:r>
            <a:r>
              <a:rPr lang="es-ES" dirty="0">
                <a:latin typeface="Times New Roman" panose="02020603050405020304" pitchFamily="18" charset="0"/>
                <a:cs typeface="Times New Roman" panose="02020603050405020304" pitchFamily="18" charset="0"/>
              </a:rPr>
              <a:t> para tomar decisiones basadas en datos de sensores en vivo</a:t>
            </a:r>
            <a:endParaRPr lang="es-MX" dirty="0">
              <a:latin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BC593B3B-EDE0-36A1-EF0B-AD28B44047E0}"/>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16</a:t>
            </a:r>
          </a:p>
        </p:txBody>
      </p:sp>
    </p:spTree>
    <p:extLst>
      <p:ext uri="{BB962C8B-B14F-4D97-AF65-F5344CB8AC3E}">
        <p14:creationId xmlns:p14="http://schemas.microsoft.com/office/powerpoint/2010/main" val="74321724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214003-DC80-ADB2-D9C9-F42A5F0B2B24}"/>
              </a:ext>
            </a:extLst>
          </p:cNvPr>
          <p:cNvSpPr>
            <a:spLocks noGrp="1"/>
          </p:cNvSpPr>
          <p:nvPr>
            <p:ph type="title"/>
          </p:nvPr>
        </p:nvSpPr>
        <p:spPr/>
        <p:txBody>
          <a:bodyPr/>
          <a:lstStyle/>
          <a:p>
            <a:pPr algn="ctr"/>
            <a:r>
              <a:rPr lang="es-MX" b="1" dirty="0">
                <a:latin typeface="Times New Roman" panose="02020603050405020304" pitchFamily="18" charset="0"/>
                <a:cs typeface="Times New Roman" panose="02020603050405020304" pitchFamily="18" charset="0"/>
              </a:rPr>
              <a:t>Hipótesis</a:t>
            </a:r>
            <a:r>
              <a:rPr lang="es-MX" b="1" dirty="0"/>
              <a:t>.</a:t>
            </a:r>
          </a:p>
        </p:txBody>
      </p:sp>
      <p:sp>
        <p:nvSpPr>
          <p:cNvPr id="3" name="Marcador de contenido 2">
            <a:extLst>
              <a:ext uri="{FF2B5EF4-FFF2-40B4-BE49-F238E27FC236}">
                <a16:creationId xmlns:a16="http://schemas.microsoft.com/office/drawing/2014/main" id="{A150A7D4-AA55-3482-DF3C-F8533BA9BD2A}"/>
              </a:ext>
            </a:extLst>
          </p:cNvPr>
          <p:cNvSpPr>
            <a:spLocks noGrp="1"/>
          </p:cNvSpPr>
          <p:nvPr>
            <p:ph idx="1"/>
          </p:nvPr>
        </p:nvSpPr>
        <p:spPr>
          <a:xfrm>
            <a:off x="838200" y="1825625"/>
            <a:ext cx="10515600" cy="1015898"/>
          </a:xfrm>
        </p:spPr>
        <p:txBody>
          <a:bodyPr>
            <a:normAutofit/>
          </a:bodyPr>
          <a:lstStyle/>
          <a:p>
            <a:pPr marL="0" indent="0">
              <a:buNone/>
            </a:pPr>
            <a:r>
              <a:rPr lang="es-ES" sz="1800" dirty="0">
                <a:latin typeface="Times New Roman" panose="02020603050405020304" pitchFamily="18" charset="0"/>
                <a:cs typeface="Times New Roman" panose="02020603050405020304" pitchFamily="18" charset="0"/>
              </a:rPr>
              <a:t>El desarrollo de un modelo computacional basado en PINNs para la resolución de la ecuación de Helmholtz en 2D permitirá simular la generación de </a:t>
            </a:r>
            <a:r>
              <a:rPr lang="es-ES" sz="1800" dirty="0" err="1">
                <a:latin typeface="Times New Roman" panose="02020603050405020304" pitchFamily="18" charset="0"/>
                <a:cs typeface="Times New Roman" panose="02020603050405020304" pitchFamily="18" charset="0"/>
              </a:rPr>
              <a:t>speckle</a:t>
            </a:r>
            <a:r>
              <a:rPr lang="es-ES" sz="1800" dirty="0">
                <a:latin typeface="Times New Roman" panose="02020603050405020304" pitchFamily="18" charset="0"/>
                <a:cs typeface="Times New Roman" panose="02020603050405020304" pitchFamily="18" charset="0"/>
              </a:rPr>
              <a:t> óptico con una precisión estadísticamente equivalente a los métodos numéricos tradicionales, pero con una aceleración radical en la eficiencia computacional</a:t>
            </a:r>
            <a:endParaRPr lang="es-MX" sz="1800" dirty="0">
              <a:latin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50AE6620-A85B-0065-FF68-CE4F27F1FB9E}"/>
              </a:ext>
            </a:extLst>
          </p:cNvPr>
          <p:cNvPicPr>
            <a:picLocks noChangeAspect="1"/>
          </p:cNvPicPr>
          <p:nvPr/>
        </p:nvPicPr>
        <p:blipFill>
          <a:blip r:embed="rId2"/>
          <a:stretch>
            <a:fillRect/>
          </a:stretch>
        </p:blipFill>
        <p:spPr>
          <a:xfrm>
            <a:off x="1677563" y="3429000"/>
            <a:ext cx="3281125" cy="2263877"/>
          </a:xfrm>
          <a:prstGeom prst="flowChartConnector">
            <a:avLst/>
          </a:prstGeom>
        </p:spPr>
      </p:pic>
      <p:pic>
        <p:nvPicPr>
          <p:cNvPr id="9" name="Imagen 8">
            <a:extLst>
              <a:ext uri="{FF2B5EF4-FFF2-40B4-BE49-F238E27FC236}">
                <a16:creationId xmlns:a16="http://schemas.microsoft.com/office/drawing/2014/main" id="{0863828B-C3C4-48E4-A76E-E4A7EB622B97}"/>
              </a:ext>
            </a:extLst>
          </p:cNvPr>
          <p:cNvPicPr>
            <a:picLocks noChangeAspect="1"/>
          </p:cNvPicPr>
          <p:nvPr/>
        </p:nvPicPr>
        <p:blipFill>
          <a:blip r:embed="rId3"/>
          <a:stretch>
            <a:fillRect/>
          </a:stretch>
        </p:blipFill>
        <p:spPr>
          <a:xfrm>
            <a:off x="6675326" y="3429000"/>
            <a:ext cx="3839111" cy="2200582"/>
          </a:xfrm>
          <a:prstGeom prst="flowChartConnector">
            <a:avLst/>
          </a:prstGeom>
        </p:spPr>
      </p:pic>
      <p:sp>
        <p:nvSpPr>
          <p:cNvPr id="10" name="CuadroTexto 9">
            <a:extLst>
              <a:ext uri="{FF2B5EF4-FFF2-40B4-BE49-F238E27FC236}">
                <a16:creationId xmlns:a16="http://schemas.microsoft.com/office/drawing/2014/main" id="{1A3B9AB9-DA6F-B609-FCAE-28D01FDCE1B3}"/>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133105463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678F5-292F-FE86-E758-43D99D79285F}"/>
              </a:ext>
            </a:extLst>
          </p:cNvPr>
          <p:cNvSpPr>
            <a:spLocks noGrp="1"/>
          </p:cNvSpPr>
          <p:nvPr>
            <p:ph type="title"/>
          </p:nvPr>
        </p:nvSpPr>
        <p:spPr/>
        <p:txBody>
          <a:bodyPr/>
          <a:lstStyle/>
          <a:p>
            <a:pPr algn="ctr"/>
            <a:r>
              <a:rPr lang="es-ES" b="1" dirty="0">
                <a:latin typeface="Times New Roman" panose="02020603050405020304" pitchFamily="18" charset="0"/>
                <a:cs typeface="Times New Roman" panose="02020603050405020304" pitchFamily="18" charset="0"/>
              </a:rPr>
              <a:t>Objetivo general</a:t>
            </a:r>
            <a:endParaRPr lang="es-MX" b="1"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1C1DFD74-D335-160A-0728-E0644BEE7714}"/>
              </a:ext>
            </a:extLst>
          </p:cNvPr>
          <p:cNvSpPr>
            <a:spLocks noGrp="1"/>
          </p:cNvSpPr>
          <p:nvPr>
            <p:ph idx="1"/>
          </p:nvPr>
        </p:nvSpPr>
        <p:spPr>
          <a:xfrm>
            <a:off x="838200" y="1825625"/>
            <a:ext cx="10515600" cy="809420"/>
          </a:xfrm>
        </p:spPr>
        <p:txBody>
          <a:bodyPr>
            <a:normAutofit/>
          </a:bodyPr>
          <a:lstStyle/>
          <a:p>
            <a:pPr marL="0" indent="0">
              <a:buNone/>
            </a:pPr>
            <a:r>
              <a:rPr lang="es-ES" sz="1800" dirty="0">
                <a:latin typeface="Times New Roman" panose="02020603050405020304" pitchFamily="18" charset="0"/>
                <a:cs typeface="Times New Roman" panose="02020603050405020304" pitchFamily="18" charset="0"/>
              </a:rPr>
              <a:t>Construir un modelo computacional basado en PINNS para la simulación acelerada y físicamente precisa de frentes de onda y </a:t>
            </a:r>
            <a:r>
              <a:rPr lang="es-ES" sz="1800" dirty="0" err="1">
                <a:latin typeface="Times New Roman" panose="02020603050405020304" pitchFamily="18" charset="0"/>
                <a:cs typeface="Times New Roman" panose="02020603050405020304" pitchFamily="18" charset="0"/>
              </a:rPr>
              <a:t>speckle</a:t>
            </a:r>
            <a:r>
              <a:rPr lang="es-ES" sz="1800" dirty="0">
                <a:latin typeface="Times New Roman" panose="02020603050405020304" pitchFamily="18" charset="0"/>
                <a:cs typeface="Times New Roman" panose="02020603050405020304" pitchFamily="18" charset="0"/>
              </a:rPr>
              <a:t> óptico, mediante la resolución directa de la ecuación de Helmholtz.</a:t>
            </a:r>
            <a:endParaRPr lang="es-MX" sz="1800" dirty="0">
              <a:latin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DD1979AE-50A6-1335-1C66-0020DF075793}"/>
              </a:ext>
            </a:extLst>
          </p:cNvPr>
          <p:cNvPicPr>
            <a:picLocks noChangeAspect="1"/>
          </p:cNvPicPr>
          <p:nvPr/>
        </p:nvPicPr>
        <p:blipFill>
          <a:blip r:embed="rId2"/>
          <a:stretch>
            <a:fillRect/>
          </a:stretch>
        </p:blipFill>
        <p:spPr>
          <a:xfrm>
            <a:off x="4884014" y="3649770"/>
            <a:ext cx="2286319" cy="2114845"/>
          </a:xfrm>
          <a:prstGeom prst="flowChartConnector">
            <a:avLst/>
          </a:prstGeom>
        </p:spPr>
      </p:pic>
      <p:sp>
        <p:nvSpPr>
          <p:cNvPr id="6" name="CuadroTexto 5">
            <a:extLst>
              <a:ext uri="{FF2B5EF4-FFF2-40B4-BE49-F238E27FC236}">
                <a16:creationId xmlns:a16="http://schemas.microsoft.com/office/drawing/2014/main" id="{2DC0FB2C-C688-48CD-2999-8D999EF61FC9}"/>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18</a:t>
            </a:r>
          </a:p>
        </p:txBody>
      </p:sp>
    </p:spTree>
    <p:extLst>
      <p:ext uri="{BB962C8B-B14F-4D97-AF65-F5344CB8AC3E}">
        <p14:creationId xmlns:p14="http://schemas.microsoft.com/office/powerpoint/2010/main" val="161591127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CEF40-BB8C-C1C5-9FB8-854A820CE9C5}"/>
              </a:ext>
            </a:extLst>
          </p:cNvPr>
          <p:cNvSpPr>
            <a:spLocks noGrp="1"/>
          </p:cNvSpPr>
          <p:nvPr>
            <p:ph type="title"/>
          </p:nvPr>
        </p:nvSpPr>
        <p:spPr/>
        <p:txBody>
          <a:bodyPr/>
          <a:lstStyle/>
          <a:p>
            <a:pPr algn="ctr"/>
            <a:r>
              <a:rPr lang="es-MX" b="1" dirty="0">
                <a:latin typeface="Times New Roman" panose="02020603050405020304" pitchFamily="18" charset="0"/>
                <a:cs typeface="Times New Roman" panose="02020603050405020304" pitchFamily="18" charset="0"/>
              </a:rPr>
              <a:t>Metodología: Un enfoque experimental cuantitativo.</a:t>
            </a:r>
          </a:p>
        </p:txBody>
      </p:sp>
      <p:sp>
        <p:nvSpPr>
          <p:cNvPr id="3" name="Marcador de contenido 2">
            <a:extLst>
              <a:ext uri="{FF2B5EF4-FFF2-40B4-BE49-F238E27FC236}">
                <a16:creationId xmlns:a16="http://schemas.microsoft.com/office/drawing/2014/main" id="{54F5EAE1-812B-5C42-EE01-67EB918DFF52}"/>
              </a:ext>
            </a:extLst>
          </p:cNvPr>
          <p:cNvSpPr>
            <a:spLocks noGrp="1"/>
          </p:cNvSpPr>
          <p:nvPr>
            <p:ph idx="1"/>
          </p:nvPr>
        </p:nvSpPr>
        <p:spPr>
          <a:xfrm>
            <a:off x="838200" y="1825626"/>
            <a:ext cx="10515600" cy="593110"/>
          </a:xfrm>
        </p:spPr>
        <p:txBody>
          <a:bodyPr>
            <a:normAutofit/>
          </a:bodyPr>
          <a:lstStyle/>
          <a:p>
            <a:pPr marL="0" indent="0">
              <a:buNone/>
            </a:pPr>
            <a:r>
              <a:rPr lang="es-MX" sz="1800" dirty="0">
                <a:latin typeface="Times New Roman" panose="02020603050405020304" pitchFamily="18" charset="0"/>
                <a:cs typeface="Times New Roman" panose="02020603050405020304" pitchFamily="18" charset="0"/>
              </a:rPr>
              <a:t>El proyecto se desarrollará en tres fases secuenciales, alineadas con los objetivos específicos.</a:t>
            </a:r>
          </a:p>
        </p:txBody>
      </p:sp>
      <p:pic>
        <p:nvPicPr>
          <p:cNvPr id="5" name="Imagen 4">
            <a:extLst>
              <a:ext uri="{FF2B5EF4-FFF2-40B4-BE49-F238E27FC236}">
                <a16:creationId xmlns:a16="http://schemas.microsoft.com/office/drawing/2014/main" id="{3473AF03-F101-9C10-CC2F-5C491A940F72}"/>
              </a:ext>
            </a:extLst>
          </p:cNvPr>
          <p:cNvPicPr>
            <a:picLocks noChangeAspect="1"/>
          </p:cNvPicPr>
          <p:nvPr/>
        </p:nvPicPr>
        <p:blipFill>
          <a:blip r:embed="rId2"/>
          <a:stretch>
            <a:fillRect/>
          </a:stretch>
        </p:blipFill>
        <p:spPr>
          <a:xfrm>
            <a:off x="838200" y="2310581"/>
            <a:ext cx="10585994" cy="3861482"/>
          </a:xfrm>
          <a:prstGeom prst="rect">
            <a:avLst/>
          </a:prstGeom>
        </p:spPr>
      </p:pic>
      <p:sp>
        <p:nvSpPr>
          <p:cNvPr id="6" name="CuadroTexto 5">
            <a:extLst>
              <a:ext uri="{FF2B5EF4-FFF2-40B4-BE49-F238E27FC236}">
                <a16:creationId xmlns:a16="http://schemas.microsoft.com/office/drawing/2014/main" id="{AD7968E0-17C3-D0D0-E216-922CC892C01C}"/>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19</a:t>
            </a:r>
          </a:p>
        </p:txBody>
      </p:sp>
    </p:spTree>
    <p:extLst>
      <p:ext uri="{BB962C8B-B14F-4D97-AF65-F5344CB8AC3E}">
        <p14:creationId xmlns:p14="http://schemas.microsoft.com/office/powerpoint/2010/main" val="248290052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70BC3B-2CA9-8337-1201-536759CEAFF9}"/>
              </a:ext>
            </a:extLst>
          </p:cNvPr>
          <p:cNvSpPr>
            <a:spLocks noGrp="1"/>
          </p:cNvSpPr>
          <p:nvPr>
            <p:ph type="title"/>
          </p:nvPr>
        </p:nvSpPr>
        <p:spPr/>
        <p:txBody>
          <a:bodyPr/>
          <a:lstStyle/>
          <a:p>
            <a:pPr algn="ctr"/>
            <a:r>
              <a:rPr lang="es-MX" b="1" dirty="0">
                <a:latin typeface="Times New Roman" panose="02020603050405020304" pitchFamily="18" charset="0"/>
                <a:cs typeface="Times New Roman" panose="02020603050405020304" pitchFamily="18" charset="0"/>
              </a:rPr>
              <a:t>La métrica del éxito: el duelo computacional.</a:t>
            </a:r>
          </a:p>
        </p:txBody>
      </p:sp>
      <p:sp>
        <p:nvSpPr>
          <p:cNvPr id="3" name="Marcador de contenido 2">
            <a:extLst>
              <a:ext uri="{FF2B5EF4-FFF2-40B4-BE49-F238E27FC236}">
                <a16:creationId xmlns:a16="http://schemas.microsoft.com/office/drawing/2014/main" id="{B7214433-8B3E-5611-B7B7-6760577442AE}"/>
              </a:ext>
            </a:extLst>
          </p:cNvPr>
          <p:cNvSpPr>
            <a:spLocks noGrp="1"/>
          </p:cNvSpPr>
          <p:nvPr>
            <p:ph idx="1"/>
          </p:nvPr>
        </p:nvSpPr>
        <p:spPr>
          <a:xfrm>
            <a:off x="838200" y="1825625"/>
            <a:ext cx="10515600" cy="976569"/>
          </a:xfrm>
        </p:spPr>
        <p:txBody>
          <a:bodyPr>
            <a:normAutofit/>
          </a:bodyPr>
          <a:lstStyle/>
          <a:p>
            <a:pPr marL="0" indent="0">
              <a:buNone/>
            </a:pPr>
            <a:r>
              <a:rPr lang="es-MX" sz="1800" dirty="0">
                <a:latin typeface="Times New Roman" panose="02020603050405020304" pitchFamily="18" charset="0"/>
                <a:cs typeface="Times New Roman" panose="02020603050405020304" pitchFamily="18" charset="0"/>
              </a:rPr>
              <a:t>Para demostrar el valor del nuevo paradigma, el modelo PINN se enfrentará directamente a una implementación de referencia de Métodos de elementos finitos (FEM).</a:t>
            </a:r>
          </a:p>
        </p:txBody>
      </p:sp>
      <p:pic>
        <p:nvPicPr>
          <p:cNvPr id="5" name="Imagen 4">
            <a:extLst>
              <a:ext uri="{FF2B5EF4-FFF2-40B4-BE49-F238E27FC236}">
                <a16:creationId xmlns:a16="http://schemas.microsoft.com/office/drawing/2014/main" id="{A5CC4E8C-E554-3C94-3F12-BF6529041DB4}"/>
              </a:ext>
            </a:extLst>
          </p:cNvPr>
          <p:cNvPicPr>
            <a:picLocks noChangeAspect="1"/>
          </p:cNvPicPr>
          <p:nvPr/>
        </p:nvPicPr>
        <p:blipFill>
          <a:blip r:embed="rId2"/>
          <a:stretch>
            <a:fillRect/>
          </a:stretch>
        </p:blipFill>
        <p:spPr>
          <a:xfrm>
            <a:off x="1971842" y="2802194"/>
            <a:ext cx="8602275" cy="3267531"/>
          </a:xfrm>
          <a:prstGeom prst="rect">
            <a:avLst/>
          </a:prstGeom>
        </p:spPr>
      </p:pic>
      <p:sp>
        <p:nvSpPr>
          <p:cNvPr id="6" name="CuadroTexto 5">
            <a:extLst>
              <a:ext uri="{FF2B5EF4-FFF2-40B4-BE49-F238E27FC236}">
                <a16:creationId xmlns:a16="http://schemas.microsoft.com/office/drawing/2014/main" id="{C073A82C-014E-8B43-0F7C-751B52F5FB20}"/>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20</a:t>
            </a:r>
          </a:p>
        </p:txBody>
      </p:sp>
    </p:spTree>
    <p:extLst>
      <p:ext uri="{BB962C8B-B14F-4D97-AF65-F5344CB8AC3E}">
        <p14:creationId xmlns:p14="http://schemas.microsoft.com/office/powerpoint/2010/main" val="3768013419"/>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821A1F-3903-8A54-E8F2-47B96B1C91A8}"/>
              </a:ext>
            </a:extLst>
          </p:cNvPr>
          <p:cNvSpPr>
            <a:spLocks noGrp="1"/>
          </p:cNvSpPr>
          <p:nvPr>
            <p:ph type="title"/>
          </p:nvPr>
        </p:nvSpPr>
        <p:spPr/>
        <p:txBody>
          <a:bodyPr/>
          <a:lstStyle/>
          <a:p>
            <a:pPr algn="ctr"/>
            <a:r>
              <a:rPr lang="es-MX" b="1" dirty="0">
                <a:latin typeface="Times New Roman" panose="02020603050405020304" pitchFamily="18" charset="0"/>
                <a:cs typeface="Times New Roman" panose="02020603050405020304" pitchFamily="18" charset="0"/>
              </a:rPr>
              <a:t>Alcances y limitaciones.</a:t>
            </a:r>
          </a:p>
        </p:txBody>
      </p:sp>
      <p:pic>
        <p:nvPicPr>
          <p:cNvPr id="5" name="Imagen 4">
            <a:extLst>
              <a:ext uri="{FF2B5EF4-FFF2-40B4-BE49-F238E27FC236}">
                <a16:creationId xmlns:a16="http://schemas.microsoft.com/office/drawing/2014/main" id="{006A37D7-7D70-4D7E-AFFE-F17A2916DF09}"/>
              </a:ext>
            </a:extLst>
          </p:cNvPr>
          <p:cNvPicPr>
            <a:picLocks noChangeAspect="1"/>
          </p:cNvPicPr>
          <p:nvPr/>
        </p:nvPicPr>
        <p:blipFill>
          <a:blip r:embed="rId2"/>
          <a:stretch>
            <a:fillRect/>
          </a:stretch>
        </p:blipFill>
        <p:spPr>
          <a:xfrm>
            <a:off x="1243609" y="1835622"/>
            <a:ext cx="9704781" cy="4165786"/>
          </a:xfrm>
          <a:prstGeom prst="rect">
            <a:avLst/>
          </a:prstGeom>
          <a:ln>
            <a:solidFill>
              <a:schemeClr val="bg2">
                <a:lumMod val="90000"/>
              </a:schemeClr>
            </a:solidFill>
          </a:ln>
        </p:spPr>
      </p:pic>
      <p:sp>
        <p:nvSpPr>
          <p:cNvPr id="6" name="CuadroTexto 5">
            <a:extLst>
              <a:ext uri="{FF2B5EF4-FFF2-40B4-BE49-F238E27FC236}">
                <a16:creationId xmlns:a16="http://schemas.microsoft.com/office/drawing/2014/main" id="{B6CE7E86-74D9-5479-F01A-EE74E5B21965}"/>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21</a:t>
            </a:r>
          </a:p>
        </p:txBody>
      </p:sp>
    </p:spTree>
    <p:extLst>
      <p:ext uri="{BB962C8B-B14F-4D97-AF65-F5344CB8AC3E}">
        <p14:creationId xmlns:p14="http://schemas.microsoft.com/office/powerpoint/2010/main" val="311097762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842856-4951-0A69-2ACF-82E556EC21C2}"/>
              </a:ext>
            </a:extLst>
          </p:cNvPr>
          <p:cNvSpPr>
            <a:spLocks noGrp="1"/>
          </p:cNvSpPr>
          <p:nvPr>
            <p:ph type="title"/>
          </p:nvPr>
        </p:nvSpPr>
        <p:spPr>
          <a:xfrm>
            <a:off x="838200" y="365125"/>
            <a:ext cx="5257800" cy="1325563"/>
          </a:xfrm>
          <a:solidFill>
            <a:srgbClr val="F1F0EB"/>
          </a:solidFill>
        </p:spPr>
        <p:txBody>
          <a:bodyPr>
            <a:normAutofit fontScale="90000"/>
          </a:bodyPr>
          <a:lstStyle/>
          <a:p>
            <a:pPr algn="ctr"/>
            <a:r>
              <a:rPr lang="es-ES" b="1" dirty="0">
                <a:latin typeface="Times New Roman" panose="02020603050405020304" pitchFamily="18" charset="0"/>
                <a:cs typeface="Times New Roman" panose="02020603050405020304" pitchFamily="18" charset="0"/>
              </a:rPr>
              <a:t>Contribución y resultados esperados.</a:t>
            </a:r>
            <a:endParaRPr lang="es-MX" b="1"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56743866-195B-2E75-6622-9BC2C8C6AB70}"/>
              </a:ext>
            </a:extLst>
          </p:cNvPr>
          <p:cNvSpPr>
            <a:spLocks noGrp="1"/>
          </p:cNvSpPr>
          <p:nvPr>
            <p:ph idx="1"/>
          </p:nvPr>
        </p:nvSpPr>
        <p:spPr>
          <a:xfrm>
            <a:off x="838200" y="1825625"/>
            <a:ext cx="5825359" cy="4351338"/>
          </a:xfrm>
        </p:spPr>
        <p:txBody>
          <a:bodyPr>
            <a:normAutofit/>
          </a:bodyPr>
          <a:lstStyle/>
          <a:p>
            <a:pPr marL="0" indent="0">
              <a:buNone/>
            </a:pPr>
            <a:r>
              <a:rPr lang="es-ES" sz="1800" dirty="0">
                <a:latin typeface="Times New Roman" panose="02020603050405020304" pitchFamily="18" charset="0"/>
                <a:cs typeface="Times New Roman" panose="02020603050405020304" pitchFamily="18" charset="0"/>
              </a:rPr>
              <a:t>Contribución principal.</a:t>
            </a:r>
          </a:p>
          <a:p>
            <a:pPr marL="0" indent="0">
              <a:buNone/>
            </a:pPr>
            <a:r>
              <a:rPr lang="es-ES" sz="1800" dirty="0">
                <a:latin typeface="Times New Roman" panose="02020603050405020304" pitchFamily="18" charset="0"/>
                <a:cs typeface="Times New Roman" panose="02020603050405020304" pitchFamily="18" charset="0"/>
              </a:rPr>
              <a:t>El establecimiento de un nuevo paradigma computacional 'libre de malla' (</a:t>
            </a:r>
            <a:r>
              <a:rPr lang="es-ES" sz="1800" dirty="0" err="1">
                <a:latin typeface="Times New Roman" panose="02020603050405020304" pitchFamily="18" charset="0"/>
                <a:cs typeface="Times New Roman" panose="02020603050405020304" pitchFamily="18" charset="0"/>
              </a:rPr>
              <a:t>mesh</a:t>
            </a:r>
            <a:r>
              <a:rPr lang="es-ES" sz="1800" dirty="0">
                <a:latin typeface="Times New Roman" panose="02020603050405020304" pitchFamily="18" charset="0"/>
                <a:cs typeface="Times New Roman" panose="02020603050405020304" pitchFamily="18" charset="0"/>
              </a:rPr>
              <a:t>-free) para la simulación de dispersión de luz coherente, aplicando una técnica de Deep </a:t>
            </a:r>
            <a:r>
              <a:rPr lang="es-ES" sz="1800" dirty="0" err="1">
                <a:latin typeface="Times New Roman" panose="02020603050405020304" pitchFamily="18" charset="0"/>
                <a:cs typeface="Times New Roman" panose="02020603050405020304" pitchFamily="18" charset="0"/>
              </a:rPr>
              <a:t>Learning</a:t>
            </a:r>
            <a:r>
              <a:rPr lang="es-ES" sz="1800" dirty="0">
                <a:latin typeface="Times New Roman" panose="02020603050405020304" pitchFamily="18" charset="0"/>
                <a:cs typeface="Times New Roman" panose="02020603050405020304" pitchFamily="18" charset="0"/>
              </a:rPr>
              <a:t> de vanguardia a un problema físico fundamental.</a:t>
            </a:r>
          </a:p>
          <a:p>
            <a:pPr marL="0" indent="0">
              <a:buNone/>
            </a:pPr>
            <a:r>
              <a:rPr lang="es-ES" sz="1800" b="1" dirty="0">
                <a:latin typeface="Times New Roman" panose="02020603050405020304" pitchFamily="18" charset="0"/>
                <a:cs typeface="Times New Roman" panose="02020603050405020304" pitchFamily="18" charset="0"/>
              </a:rPr>
              <a:t>Resultados Esperados.</a:t>
            </a:r>
          </a:p>
          <a:p>
            <a:r>
              <a:rPr lang="es-ES" sz="1800" dirty="0">
                <a:latin typeface="Times New Roman" panose="02020603050405020304" pitchFamily="18" charset="0"/>
                <a:cs typeface="Times New Roman" panose="02020603050405020304" pitchFamily="18" charset="0"/>
              </a:rPr>
              <a:t>Un </a:t>
            </a:r>
            <a:r>
              <a:rPr lang="es-ES" sz="1800" b="1" dirty="0">
                <a:latin typeface="Times New Roman" panose="02020603050405020304" pitchFamily="18" charset="0"/>
                <a:cs typeface="Times New Roman" panose="02020603050405020304" pitchFamily="18" charset="0"/>
              </a:rPr>
              <a:t>prototipo de software funcional </a:t>
            </a:r>
            <a:r>
              <a:rPr lang="es-ES" sz="1800" dirty="0">
                <a:latin typeface="Times New Roman" panose="02020603050405020304" pitchFamily="18" charset="0"/>
                <a:cs typeface="Times New Roman" panose="02020603050405020304" pitchFamily="18" charset="0"/>
              </a:rPr>
              <a:t>en Python/</a:t>
            </a:r>
            <a:r>
              <a:rPr lang="es-ES" sz="1800" dirty="0" err="1">
                <a:latin typeface="Times New Roman" panose="02020603050405020304" pitchFamily="18" charset="0"/>
                <a:cs typeface="Times New Roman" panose="02020603050405020304" pitchFamily="18" charset="0"/>
              </a:rPr>
              <a:t>PyTorch</a:t>
            </a:r>
            <a:r>
              <a:rPr lang="es-ES" sz="1800" dirty="0">
                <a:latin typeface="Times New Roman" panose="02020603050405020304" pitchFamily="18" charset="0"/>
                <a:cs typeface="Times New Roman" panose="02020603050405020304" pitchFamily="18" charset="0"/>
              </a:rPr>
              <a:t> para simular </a:t>
            </a:r>
            <a:r>
              <a:rPr lang="es-ES" sz="1800" dirty="0" err="1">
                <a:latin typeface="Times New Roman" panose="02020603050405020304" pitchFamily="18" charset="0"/>
                <a:cs typeface="Times New Roman" panose="02020603050405020304" pitchFamily="18" charset="0"/>
              </a:rPr>
              <a:t>speckle</a:t>
            </a:r>
            <a:r>
              <a:rPr lang="es-ES" sz="1800" dirty="0">
                <a:latin typeface="Times New Roman" panose="02020603050405020304" pitchFamily="18" charset="0"/>
                <a:cs typeface="Times New Roman" panose="02020603050405020304" pitchFamily="18" charset="0"/>
              </a:rPr>
              <a:t> óptico en 2D.</a:t>
            </a:r>
          </a:p>
          <a:p>
            <a:r>
              <a:rPr lang="es-ES" sz="1800" dirty="0">
                <a:latin typeface="Times New Roman" panose="02020603050405020304" pitchFamily="18" charset="0"/>
                <a:cs typeface="Times New Roman" panose="02020603050405020304" pitchFamily="18" charset="0"/>
              </a:rPr>
              <a:t>Un </a:t>
            </a:r>
            <a:r>
              <a:rPr lang="es-ES" sz="1800" b="1" dirty="0">
                <a:latin typeface="Times New Roman" panose="02020603050405020304" pitchFamily="18" charset="0"/>
                <a:cs typeface="Times New Roman" panose="02020603050405020304" pitchFamily="18" charset="0"/>
              </a:rPr>
              <a:t>análisis cuantitativo y comparativo</a:t>
            </a:r>
            <a:r>
              <a:rPr lang="es-ES" sz="1800" dirty="0">
                <a:latin typeface="Times New Roman" panose="02020603050405020304" pitchFamily="18" charset="0"/>
                <a:cs typeface="Times New Roman" panose="02020603050405020304" pitchFamily="18" charset="0"/>
              </a:rPr>
              <a:t> (tablas/gráficas) demostrando la ganancia en eficiencia sobre FEM.</a:t>
            </a:r>
          </a:p>
          <a:p>
            <a:r>
              <a:rPr lang="es-ES" sz="1800" dirty="0">
                <a:latin typeface="Times New Roman" panose="02020603050405020304" pitchFamily="18" charset="0"/>
                <a:cs typeface="Times New Roman" panose="02020603050405020304" pitchFamily="18" charset="0"/>
              </a:rPr>
              <a:t>La </a:t>
            </a:r>
            <a:r>
              <a:rPr lang="es-ES" sz="1800" b="1" dirty="0">
                <a:latin typeface="Times New Roman" panose="02020603050405020304" pitchFamily="18" charset="0"/>
                <a:cs typeface="Times New Roman" panose="02020603050405020304" pitchFamily="18" charset="0"/>
              </a:rPr>
              <a:t>validación de la precisión del modelo</a:t>
            </a:r>
            <a:r>
              <a:rPr lang="es-ES" sz="1800" dirty="0">
                <a:latin typeface="Times New Roman" panose="02020603050405020304" pitchFamily="18" charset="0"/>
                <a:cs typeface="Times New Roman" panose="02020603050405020304" pitchFamily="18" charset="0"/>
              </a:rPr>
              <a:t>, mostrando que genera patrones </a:t>
            </a:r>
            <a:r>
              <a:rPr lang="es-ES" sz="1800" dirty="0" err="1">
                <a:latin typeface="Times New Roman" panose="02020603050405020304" pitchFamily="18" charset="0"/>
                <a:cs typeface="Times New Roman" panose="02020603050405020304" pitchFamily="18" charset="0"/>
              </a:rPr>
              <a:t>estadisticamente</a:t>
            </a:r>
            <a:r>
              <a:rPr lang="es-ES" sz="1800" dirty="0">
                <a:latin typeface="Times New Roman" panose="02020603050405020304" pitchFamily="18" charset="0"/>
                <a:cs typeface="Times New Roman" panose="02020603050405020304" pitchFamily="18" charset="0"/>
              </a:rPr>
              <a:t> equivalentes.</a:t>
            </a:r>
          </a:p>
          <a:p>
            <a:r>
              <a:rPr lang="es-ES" sz="1800" dirty="0">
                <a:latin typeface="Times New Roman" panose="02020603050405020304" pitchFamily="18" charset="0"/>
                <a:cs typeface="Times New Roman" panose="02020603050405020304" pitchFamily="18" charset="0"/>
              </a:rPr>
              <a:t>La </a:t>
            </a:r>
            <a:r>
              <a:rPr lang="es-ES" sz="1800" b="1" dirty="0">
                <a:latin typeface="Times New Roman" panose="02020603050405020304" pitchFamily="18" charset="0"/>
                <a:cs typeface="Times New Roman" panose="02020603050405020304" pitchFamily="18" charset="0"/>
              </a:rPr>
              <a:t>generación de al menos un artículo científic</a:t>
            </a:r>
            <a:r>
              <a:rPr lang="es-ES" sz="1800" dirty="0">
                <a:latin typeface="Times New Roman" panose="02020603050405020304" pitchFamily="18" charset="0"/>
                <a:cs typeface="Times New Roman" panose="02020603050405020304" pitchFamily="18" charset="0"/>
              </a:rPr>
              <a:t>o para ser enviado a una revista o congreso especializado.</a:t>
            </a:r>
            <a:endParaRPr lang="es-MX" sz="1800" dirty="0">
              <a:latin typeface="Times New Roman" panose="02020603050405020304" pitchFamily="18" charset="0"/>
              <a:cs typeface="Times New Roman" panose="02020603050405020304" pitchFamily="18" charset="0"/>
            </a:endParaRPr>
          </a:p>
        </p:txBody>
      </p:sp>
      <p:pic>
        <p:nvPicPr>
          <p:cNvPr id="1026" name="Picture 2" descr="Resultado - Iconos gratis de negocios y finanzas">
            <a:extLst>
              <a:ext uri="{FF2B5EF4-FFF2-40B4-BE49-F238E27FC236}">
                <a16:creationId xmlns:a16="http://schemas.microsoft.com/office/drawing/2014/main" id="{846562B1-4930-3306-E494-8520BC2641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3559" y="567558"/>
            <a:ext cx="5360275" cy="5376041"/>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B65B6F35-5E78-BEB4-6187-5820805AF99B}"/>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22</a:t>
            </a:r>
          </a:p>
        </p:txBody>
      </p:sp>
    </p:spTree>
    <p:extLst>
      <p:ext uri="{BB962C8B-B14F-4D97-AF65-F5344CB8AC3E}">
        <p14:creationId xmlns:p14="http://schemas.microsoft.com/office/powerpoint/2010/main" val="474958225"/>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2112CD2-B0F9-987C-C540-B6FAB652DEB0}"/>
              </a:ext>
            </a:extLst>
          </p:cNvPr>
          <p:cNvPicPr>
            <a:picLocks noChangeAspect="1"/>
          </p:cNvPicPr>
          <p:nvPr/>
        </p:nvPicPr>
        <p:blipFill>
          <a:blip r:embed="rId2"/>
          <a:stretch>
            <a:fillRect/>
          </a:stretch>
        </p:blipFill>
        <p:spPr>
          <a:xfrm>
            <a:off x="2060027" y="2234533"/>
            <a:ext cx="8071945" cy="3972821"/>
          </a:xfrm>
          <a:prstGeom prst="rect">
            <a:avLst/>
          </a:prstGeom>
        </p:spPr>
      </p:pic>
      <p:sp>
        <p:nvSpPr>
          <p:cNvPr id="6" name="CuadroTexto 5">
            <a:extLst>
              <a:ext uri="{FF2B5EF4-FFF2-40B4-BE49-F238E27FC236}">
                <a16:creationId xmlns:a16="http://schemas.microsoft.com/office/drawing/2014/main" id="{C4A5AD6F-A261-8992-F6C4-71672E0A7080}"/>
              </a:ext>
            </a:extLst>
          </p:cNvPr>
          <p:cNvSpPr txBox="1"/>
          <p:nvPr/>
        </p:nvSpPr>
        <p:spPr>
          <a:xfrm>
            <a:off x="2060027" y="470252"/>
            <a:ext cx="8071945" cy="769441"/>
          </a:xfrm>
          <a:prstGeom prst="rect">
            <a:avLst/>
          </a:prstGeom>
          <a:noFill/>
        </p:spPr>
        <p:txBody>
          <a:bodyPr wrap="square" rtlCol="0">
            <a:spAutoFit/>
          </a:bodyPr>
          <a:lstStyle/>
          <a:p>
            <a:pPr algn="ctr"/>
            <a:r>
              <a:rPr lang="es-MX" sz="4400" b="1" dirty="0">
                <a:latin typeface="Times New Roman" panose="02020603050405020304" pitchFamily="18" charset="0"/>
                <a:cs typeface="Times New Roman" panose="02020603050405020304" pitchFamily="18" charset="0"/>
              </a:rPr>
              <a:t>Cronograma de actividades</a:t>
            </a:r>
          </a:p>
        </p:txBody>
      </p:sp>
      <p:sp>
        <p:nvSpPr>
          <p:cNvPr id="7" name="CuadroTexto 6">
            <a:extLst>
              <a:ext uri="{FF2B5EF4-FFF2-40B4-BE49-F238E27FC236}">
                <a16:creationId xmlns:a16="http://schemas.microsoft.com/office/drawing/2014/main" id="{E94E8034-E1E2-20A5-498C-FC0864B484C9}"/>
              </a:ext>
            </a:extLst>
          </p:cNvPr>
          <p:cNvSpPr txBox="1"/>
          <p:nvPr/>
        </p:nvSpPr>
        <p:spPr>
          <a:xfrm>
            <a:off x="2231923" y="1317524"/>
            <a:ext cx="7325032" cy="369332"/>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A continuación se presenta el cronograma de actividades</a:t>
            </a:r>
          </a:p>
        </p:txBody>
      </p:sp>
      <p:sp>
        <p:nvSpPr>
          <p:cNvPr id="8" name="CuadroTexto 7">
            <a:extLst>
              <a:ext uri="{FF2B5EF4-FFF2-40B4-BE49-F238E27FC236}">
                <a16:creationId xmlns:a16="http://schemas.microsoft.com/office/drawing/2014/main" id="{760279D5-83A9-50A5-19EB-1F0DDDF99A52}"/>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23</a:t>
            </a:r>
          </a:p>
        </p:txBody>
      </p:sp>
    </p:spTree>
    <p:extLst>
      <p:ext uri="{BB962C8B-B14F-4D97-AF65-F5344CB8AC3E}">
        <p14:creationId xmlns:p14="http://schemas.microsoft.com/office/powerpoint/2010/main" val="2535527289"/>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1F0EB"/>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5744D-2DB0-946F-36AC-5613F8F8A807}"/>
              </a:ext>
            </a:extLst>
          </p:cNvPr>
          <p:cNvSpPr>
            <a:spLocks noGrp="1"/>
          </p:cNvSpPr>
          <p:nvPr>
            <p:ph type="title"/>
          </p:nvPr>
        </p:nvSpPr>
        <p:spPr/>
        <p:txBody>
          <a:bodyPr/>
          <a:lstStyle/>
          <a:p>
            <a:pPr algn="ctr"/>
            <a:r>
              <a:rPr lang="es-MX" dirty="0">
                <a:latin typeface="Times New Roman" panose="02020603050405020304" pitchFamily="18" charset="0"/>
                <a:cs typeface="Times New Roman" panose="02020603050405020304" pitchFamily="18" charset="0"/>
              </a:rPr>
              <a:t>Referencias.</a:t>
            </a:r>
          </a:p>
        </p:txBody>
      </p:sp>
      <p:sp>
        <p:nvSpPr>
          <p:cNvPr id="4" name="Rectangle 1">
            <a:extLst>
              <a:ext uri="{FF2B5EF4-FFF2-40B4-BE49-F238E27FC236}">
                <a16:creationId xmlns:a16="http://schemas.microsoft.com/office/drawing/2014/main" id="{1B99719E-46B9-10EB-EBEB-7D748B32625F}"/>
              </a:ext>
            </a:extLst>
          </p:cNvPr>
          <p:cNvSpPr>
            <a:spLocks noGrp="1" noChangeArrowheads="1"/>
          </p:cNvSpPr>
          <p:nvPr>
            <p:ph idx="1"/>
          </p:nvPr>
        </p:nvSpPr>
        <p:spPr bwMode="auto">
          <a:xfrm>
            <a:off x="838200" y="2073814"/>
            <a:ext cx="10734368"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Cuomo</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S., Di Cola, V. S.,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Giampaolo</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F.,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Rozza</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G.,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Raissi</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M., &amp;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Piccialli</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F.</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(2022).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Scientific</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machine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learning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through</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physics-informed</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neural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networks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review</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Journal</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of</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Computational</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Science</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62</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101709.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https://doi.org/10.1016/j.jocs.2022.101709</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Fang</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Z., &amp;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Zhan</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J.</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(2020). A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physics-informed</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neural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network</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framework</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for</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wave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scattering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in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inhomogeneous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media.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IEEE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Antennas</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and Wireless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Propagation</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Letters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19</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(9), 1640-1644.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https://doi.org/10.1109/ACCESS.2019.2963390</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Goodman, J. W.</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(2007).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Speckle</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Phenomena</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in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Optics</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Theory</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and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Applications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Roberts &amp; Company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Publishers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Jin, J.-M.</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(2014).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The</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Finite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Element</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Method</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in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Electromagnetics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John Wiley &amp;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Sons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Karniadakis</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G. E.,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Kevrekidis</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I. G., Lu, L.,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Perdikaris</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P., Wang, S., &amp; Yang, L.</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(2021).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Physics-informed</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machine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learning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Nature</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Reviews</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Physics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3</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(6), 422-440.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https://doi.org/10.1038/s42254-021-00314-5</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Lu, L.,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Meng</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X., Mao, Z., &amp;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Karniadakis</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G. E.</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(2021).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DeepXDE</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deep</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learning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library</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for</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solving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differential</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equations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SIAM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Review</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63</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(1), 208-228.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https://doi.org/10.1137/19M1274067</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Maiocchetti</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E., Irigoyen Gordo, E., Larrea, M., &amp;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Tronci</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(2025). Estudio de las Redes PINN como modelos de sistemas dinámicos.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XX Simposio CEA de Control Inteligente</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https://doi.org/10.64117/simposioscea.v1i2.88</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Raissi</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M.,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Perdikaris</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P., &amp;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Karniadakis</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G. E.</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(2019).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Physics-informed</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neural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networks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deep</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learning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framework</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for</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solving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forward and inverse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problems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involving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nonlinear</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partial</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differential</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equations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Journal</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of</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Computational</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Physics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378</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686-707.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https://doi.org/10.1016/j.jcp.2018.10.045</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Schoder</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S., &amp;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Kraxberger</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F.</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(2024).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Feasibility</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study</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on</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solving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the</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Helmholtz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equation</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in 3D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with</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PINNs</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arXiv</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preprint</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arXiv:2403.06623v1</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https://doi.org/10.48550/arXiv.2403.06623</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Thuerey</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N.,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Holl</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P., Mueller, M.,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Schnell</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Trost</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F., &amp; </a:t>
            </a:r>
            <a:r>
              <a:rPr kumimoji="0" lang="es-MX" altLang="es-MX" sz="1400" b="1" i="0" u="none" strike="noStrike" cap="none" normalizeH="0" baseline="0" dirty="0" err="1">
                <a:ln>
                  <a:noFill/>
                </a:ln>
                <a:effectLst/>
                <a:latin typeface="Times New Roman" panose="02020603050405020304" pitchFamily="18" charset="0"/>
                <a:cs typeface="Times New Roman" panose="02020603050405020304" pitchFamily="18" charset="0"/>
              </a:rPr>
              <a:t>Um</a:t>
            </a:r>
            <a:r>
              <a:rPr kumimoji="0" lang="es-MX" altLang="es-MX" sz="1400" b="1" i="0" u="none" strike="noStrike" cap="none" normalizeH="0" baseline="0" dirty="0">
                <a:ln>
                  <a:noFill/>
                </a:ln>
                <a:effectLst/>
                <a:latin typeface="Times New Roman" panose="02020603050405020304" pitchFamily="18" charset="0"/>
                <a:cs typeface="Times New Roman" panose="02020603050405020304" pitchFamily="18" charset="0"/>
              </a:rPr>
              <a:t>, K.</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(2021).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Physics-based</a:t>
            </a:r>
            <a:r>
              <a:rPr kumimoji="0" lang="es-MX" altLang="es-MX" sz="1400" b="0" i="1" u="none" strike="noStrike" cap="none" normalizeH="0" baseline="0" dirty="0">
                <a:ln>
                  <a:noFill/>
                </a:ln>
                <a:effectLst/>
                <a:latin typeface="Times New Roman" panose="02020603050405020304" pitchFamily="18" charset="0"/>
                <a:cs typeface="Times New Roman" panose="02020603050405020304" pitchFamily="18" charset="0"/>
              </a:rPr>
              <a:t> Deep </a:t>
            </a:r>
            <a:r>
              <a:rPr kumimoji="0" lang="es-MX" altLang="es-MX" sz="1400" b="0" i="1" u="none" strike="noStrike" cap="none" normalizeH="0" baseline="0" dirty="0" err="1">
                <a:ln>
                  <a:noFill/>
                </a:ln>
                <a:effectLst/>
                <a:latin typeface="Times New Roman" panose="02020603050405020304" pitchFamily="18" charset="0"/>
                <a:cs typeface="Times New Roman" panose="02020603050405020304" pitchFamily="18" charset="0"/>
              </a:rPr>
              <a:t>Learning</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Independently</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err="1">
                <a:ln>
                  <a:noFill/>
                </a:ln>
                <a:effectLst/>
                <a:latin typeface="Times New Roman" panose="02020603050405020304" pitchFamily="18" charset="0"/>
                <a:cs typeface="Times New Roman" panose="02020603050405020304" pitchFamily="18" charset="0"/>
              </a:rPr>
              <a:t>published</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https://physicsbaseddeeplearning.org</a:t>
            </a:r>
            <a:endParaRPr kumimoji="0" lang="es-MX" altLang="es-MX" sz="1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5" name="CuadroTexto 4">
            <a:extLst>
              <a:ext uri="{FF2B5EF4-FFF2-40B4-BE49-F238E27FC236}">
                <a16:creationId xmlns:a16="http://schemas.microsoft.com/office/drawing/2014/main" id="{801276C9-C371-5496-26CB-5E14C8B7F38C}"/>
              </a:ext>
            </a:extLst>
          </p:cNvPr>
          <p:cNvSpPr txBox="1"/>
          <p:nvPr/>
        </p:nvSpPr>
        <p:spPr>
          <a:xfrm>
            <a:off x="11567160" y="6314018"/>
            <a:ext cx="624839" cy="584775"/>
          </a:xfrm>
          <a:prstGeom prst="rect">
            <a:avLst/>
          </a:prstGeom>
          <a:noFill/>
        </p:spPr>
        <p:txBody>
          <a:bodyPr wrap="square" rtlCol="0">
            <a:spAutoFit/>
          </a:bodyPr>
          <a:lstStyle/>
          <a:p>
            <a:r>
              <a:rPr lang="es-MX" sz="3200" dirty="0">
                <a:latin typeface="Times New Roman" panose="02020603050405020304" pitchFamily="18" charset="0"/>
                <a:cs typeface="Times New Roman" panose="02020603050405020304" pitchFamily="18" charset="0"/>
              </a:rPr>
              <a:t>24</a:t>
            </a:r>
          </a:p>
        </p:txBody>
      </p:sp>
    </p:spTree>
    <p:extLst>
      <p:ext uri="{BB962C8B-B14F-4D97-AF65-F5344CB8AC3E}">
        <p14:creationId xmlns:p14="http://schemas.microsoft.com/office/powerpoint/2010/main" val="2084081105"/>
      </p:ext>
    </p:extLst>
  </p:cSld>
  <p:clrMapOvr>
    <a:masterClrMapping/>
  </p:clrMapOvr>
  <p:transition spd="slow">
    <p:push dir="u"/>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2435</Words>
  <Application>Microsoft Office PowerPoint</Application>
  <PresentationFormat>Panorámica</PresentationFormat>
  <Paragraphs>145</Paragraphs>
  <Slides>24</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Aptos</vt:lpstr>
      <vt:lpstr>Aptos Display</vt:lpstr>
      <vt:lpstr>Arial</vt:lpstr>
      <vt:lpstr>Times New Roman</vt:lpstr>
      <vt:lpstr>Tema de Office</vt:lpstr>
      <vt:lpstr>Presentación de PowerPoint</vt:lpstr>
      <vt:lpstr>El mundo conocido: El poder y la carga de la simulación tradicional</vt:lpstr>
      <vt:lpstr>El mundo oculto en la luz coherente: la importancia del speckle óptico.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 evolución : Arquitecturas avanzadas contra el sesgo espectral.</vt:lpstr>
      <vt:lpstr>La evolución: Estrategias de entrenamiento para problemas complejos.</vt:lpstr>
      <vt:lpstr>El nuevo panorama: Dos herramientas, fortalezas distintas.</vt:lpstr>
      <vt:lpstr>El Rol de las PINNs en la ciencia futura.</vt:lpstr>
      <vt:lpstr>Hipótesis.</vt:lpstr>
      <vt:lpstr>Objetivo general</vt:lpstr>
      <vt:lpstr>Metodología: Un enfoque experimental cuantitativo.</vt:lpstr>
      <vt:lpstr>La métrica del éxito: el duelo computacional.</vt:lpstr>
      <vt:lpstr>Alcances y limitaciones.</vt:lpstr>
      <vt:lpstr>Contribución y resultados esperados.</vt:lpstr>
      <vt:lpstr>Presentación de PowerPoint</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252H21004 ROBERTO HERNÁNDEZ ESTRADA</dc:creator>
  <cp:lastModifiedBy>252H21004 ROBERTO HERNÁNDEZ ESTRADA</cp:lastModifiedBy>
  <cp:revision>3</cp:revision>
  <dcterms:created xsi:type="dcterms:W3CDTF">2025-12-03T23:43:46Z</dcterms:created>
  <dcterms:modified xsi:type="dcterms:W3CDTF">2025-12-04T04:45:27Z</dcterms:modified>
</cp:coreProperties>
</file>