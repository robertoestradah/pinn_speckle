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5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D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F0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0A500"/>
                </a:solidFill>
                <a:latin typeface="Calibri"/>
              </a:rPr>
              <a:t>UJAT · Maestría en Ciencias de la Computación · Junio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1463040"/>
            <a:ext cx="80467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Calibri"/>
              </a:rPr>
              <a:t>Simulación Acelerada de Speckle Óptico
mediante PINN-SIREN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356616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00B4D8"/>
                </a:solidFill>
                <a:latin typeface="Calibri"/>
              </a:rPr>
              <a:t>Coloquio de Avance de Tesis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4206240"/>
            <a:ext cx="5303520" cy="1645920"/>
          </a:xfrm>
          <a:prstGeom prst="rect">
            <a:avLst/>
          </a:prstGeom>
          <a:solidFill>
            <a:srgbClr val="141928"/>
          </a:solidFill>
          <a:ln w="19050">
            <a:solidFill>
              <a:srgbClr val="2A3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4343400"/>
            <a:ext cx="4937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Calibri"/>
              </a:rPr>
              <a:t>Roberto Hernández Estrada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4754880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B8CC"/>
                </a:solidFill>
                <a:latin typeface="Calibri"/>
              </a:rPr>
              <a:t>Director: Dr. José Adán Hernández Nolasco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074920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B8CC"/>
                </a:solidFill>
                <a:latin typeface="Calibri"/>
              </a:rPr>
              <a:t>División Académica de Ciencias Básicas · UJAT</a:t>
            </a:r>
          </a:p>
        </p:txBody>
      </p:sp>
      <p:sp>
        <p:nvSpPr>
          <p:cNvPr id="10" name="Rectangle 9"/>
          <p:cNvSpPr/>
          <p:nvPr/>
        </p:nvSpPr>
        <p:spPr>
          <a:xfrm>
            <a:off x="8503920" y="1280160"/>
            <a:ext cx="3383280" cy="5029200"/>
          </a:xfrm>
          <a:prstGeom prst="rect">
            <a:avLst/>
          </a:prstGeom>
          <a:solidFill>
            <a:srgbClr val="141928"/>
          </a:solidFill>
          <a:ln w="19050">
            <a:solidFill>
              <a:srgbClr val="2A3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0" y="141732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0A500"/>
                </a:solidFill>
                <a:latin typeface="Calibri"/>
              </a:rPr>
              <a:t>Resultados Obtenidos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686800" y="1920240"/>
            <a:ext cx="3017520" cy="868680"/>
          </a:xfrm>
          <a:prstGeom prst="rect">
            <a:avLst/>
          </a:prstGeom>
          <a:solidFill>
            <a:srgbClr val="181F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0" y="1956816"/>
            <a:ext cx="3017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00C87A"/>
                </a:solidFill>
                <a:latin typeface="Calibri"/>
              </a:rPr>
              <a:t>0.006%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0" y="2450592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B0B8CC"/>
                </a:solidFill>
                <a:latin typeface="Calibri"/>
              </a:rPr>
              <a:t>Error L² — 1D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686800" y="2926080"/>
            <a:ext cx="3017520" cy="868680"/>
          </a:xfrm>
          <a:prstGeom prst="rect">
            <a:avLst/>
          </a:prstGeom>
          <a:solidFill>
            <a:srgbClr val="181F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86800" y="2962656"/>
            <a:ext cx="3017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00B4D8"/>
                </a:solidFill>
                <a:latin typeface="Calibri"/>
              </a:rPr>
              <a:t>0.171%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0" y="3456432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B0B8CC"/>
                </a:solidFill>
                <a:latin typeface="Calibri"/>
              </a:rPr>
              <a:t>Error L² — 2D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686800" y="3931920"/>
            <a:ext cx="3017520" cy="868680"/>
          </a:xfrm>
          <a:prstGeom prst="rect">
            <a:avLst/>
          </a:prstGeom>
          <a:solidFill>
            <a:srgbClr val="181F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686800" y="3968496"/>
            <a:ext cx="3017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FFB700"/>
                </a:solidFill>
                <a:latin typeface="Calibri"/>
              </a:rPr>
              <a:t>×415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86800" y="4462272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B0B8CC"/>
                </a:solidFill>
                <a:latin typeface="Calibri"/>
              </a:rPr>
              <a:t>Mejora vs. Schoder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686800" y="4937760"/>
            <a:ext cx="3017520" cy="868680"/>
          </a:xfrm>
          <a:prstGeom prst="rect">
            <a:avLst/>
          </a:prstGeom>
          <a:solidFill>
            <a:srgbClr val="181F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686800" y="4974336"/>
            <a:ext cx="3017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00C87A"/>
                </a:solidFill>
                <a:latin typeface="Calibri"/>
              </a:rPr>
              <a:t>C=1.025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686800" y="5468112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B0B8CC"/>
                </a:solidFill>
                <a:latin typeface="Calibri"/>
              </a:rPr>
              <a:t>Contraste Speckle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D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0"/>
          </a:xfrm>
          <a:prstGeom prst="rect">
            <a:avLst/>
          </a:prstGeom>
          <a:solidFill>
            <a:srgbClr val="080B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36576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0A500"/>
                </a:solidFill>
                <a:latin typeface="Calibri"/>
              </a:rPr>
              <a:t>Coloquio de Avance · UJAT ·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292608"/>
            <a:ext cx="116128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Agenda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051560"/>
            <a:ext cx="5669280" cy="1188720"/>
          </a:xfrm>
          <a:prstGeom prst="rect">
            <a:avLst/>
          </a:prstGeom>
          <a:solidFill>
            <a:srgbClr val="141928"/>
          </a:solidFill>
          <a:ln w="19050">
            <a:solidFill>
              <a:srgbClr val="2A3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234440"/>
            <a:ext cx="502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0A500"/>
                </a:solidFill>
                <a:latin typeface="Calibri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1124712"/>
            <a:ext cx="4754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Motivación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1581912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B8CC"/>
                </a:solidFill>
                <a:latin typeface="Calibri"/>
              </a:rPr>
              <a:t>¿Por qué FEM es insuficiente?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0" y="1051560"/>
            <a:ext cx="5669280" cy="1188720"/>
          </a:xfrm>
          <a:prstGeom prst="rect">
            <a:avLst/>
          </a:prstGeom>
          <a:solidFill>
            <a:srgbClr val="141928"/>
          </a:solidFill>
          <a:ln w="19050">
            <a:solidFill>
              <a:srgbClr val="2A3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37960" y="1234440"/>
            <a:ext cx="502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0A500"/>
                </a:solidFill>
                <a:latin typeface="Calibri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78040" y="1124712"/>
            <a:ext cx="4754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Hipótesis y Objetivos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78040" y="1581912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B8CC"/>
                </a:solidFill>
                <a:latin typeface="Calibri"/>
              </a:rPr>
              <a:t>Marco de validación — NB01–NB04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2377439"/>
            <a:ext cx="5669280" cy="1188720"/>
          </a:xfrm>
          <a:prstGeom prst="rect">
            <a:avLst/>
          </a:prstGeom>
          <a:solidFill>
            <a:srgbClr val="141928"/>
          </a:solidFill>
          <a:ln w="19050">
            <a:solidFill>
              <a:srgbClr val="2A3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" y="2560319"/>
            <a:ext cx="502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0A500"/>
                </a:solidFill>
                <a:latin typeface="Calibri"/>
              </a:rP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43000" y="2450591"/>
            <a:ext cx="4754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Marco Teórico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43000" y="2907791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B8CC"/>
                </a:solidFill>
                <a:latin typeface="Calibri"/>
              </a:rPr>
              <a:t>Helmholtz · PINNs · SIREN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0800" y="2377439"/>
            <a:ext cx="5669280" cy="1188720"/>
          </a:xfrm>
          <a:prstGeom prst="rect">
            <a:avLst/>
          </a:prstGeom>
          <a:solidFill>
            <a:srgbClr val="141928"/>
          </a:solidFill>
          <a:ln w="19050">
            <a:solidFill>
              <a:srgbClr val="2A3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37960" y="2560319"/>
            <a:ext cx="502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0A500"/>
                </a:solidFill>
                <a:latin typeface="Calibri"/>
              </a:rPr>
              <a:t>04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178040" y="2450591"/>
            <a:ext cx="4754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Metodología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178040" y="2907791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B8CC"/>
                </a:solidFill>
                <a:latin typeface="Calibri"/>
              </a:rPr>
              <a:t>Arquitectura · LHS · Adam+L-BFGS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65760" y="3703320"/>
            <a:ext cx="5669280" cy="1188720"/>
          </a:xfrm>
          <a:prstGeom prst="rect">
            <a:avLst/>
          </a:prstGeom>
          <a:solidFill>
            <a:srgbClr val="141928"/>
          </a:solidFill>
          <a:ln w="19050">
            <a:solidFill>
              <a:srgbClr val="2A3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2920" y="3886200"/>
            <a:ext cx="502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0A500"/>
                </a:solidFill>
                <a:latin typeface="Calibri"/>
              </a:rPr>
              <a:t>05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43000" y="3776472"/>
            <a:ext cx="4754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Resultados NB01–NB03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43000" y="4233672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B8CC"/>
                </a:solidFill>
                <a:latin typeface="Calibri"/>
              </a:rPr>
              <a:t>1D, 2D y Speckle Óptico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400800" y="3703320"/>
            <a:ext cx="5669280" cy="1188720"/>
          </a:xfrm>
          <a:prstGeom prst="rect">
            <a:avLst/>
          </a:prstGeom>
          <a:solidFill>
            <a:srgbClr val="141928"/>
          </a:solidFill>
          <a:ln w="19050">
            <a:solidFill>
              <a:srgbClr val="2A3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537960" y="3886200"/>
            <a:ext cx="502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0A500"/>
                </a:solidFill>
                <a:latin typeface="Calibri"/>
              </a:rPr>
              <a:t>06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178040" y="3776472"/>
            <a:ext cx="4754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Ablación λ_phys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178040" y="4233672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B8CC"/>
                </a:solidFill>
                <a:latin typeface="Calibri"/>
              </a:rPr>
              <a:t>Sensibilidad al peso de física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65760" y="5029200"/>
            <a:ext cx="5669280" cy="1188720"/>
          </a:xfrm>
          <a:prstGeom prst="rect">
            <a:avLst/>
          </a:prstGeom>
          <a:solidFill>
            <a:srgbClr val="141928"/>
          </a:solidFill>
          <a:ln w="19050">
            <a:solidFill>
              <a:srgbClr val="2A3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02920" y="5212080"/>
            <a:ext cx="502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0A500"/>
                </a:solidFill>
                <a:latin typeface="Calibri"/>
              </a:rPr>
              <a:t>07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43000" y="5102352"/>
            <a:ext cx="4754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Resumen · Próximos Pasos · Conclusiones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D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0"/>
          </a:xfrm>
          <a:prstGeom prst="rect">
            <a:avLst/>
          </a:prstGeom>
          <a:solidFill>
            <a:srgbClr val="080B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36576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0A500"/>
                </a:solidFill>
                <a:latin typeface="Calibri"/>
              </a:rPr>
              <a:t>Coloquio de Avance · UJAT ·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292608"/>
            <a:ext cx="116128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El Cuello de Botella Computacional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914400"/>
            <a:ext cx="5486400" cy="5394960"/>
          </a:xfrm>
          <a:prstGeom prst="rect">
            <a:avLst/>
          </a:prstGeom>
          <a:solidFill>
            <a:srgbClr val="141928"/>
          </a:solidFill>
          <a:ln w="19050">
            <a:solidFill>
              <a:srgbClr val="F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005840"/>
            <a:ext cx="5120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4444"/>
                </a:solidFill>
                <a:latin typeface="Calibri"/>
              </a:rPr>
              <a:t>Problema con FEM Clásico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645920"/>
            <a:ext cx="5029200" cy="548640"/>
          </a:xfrm>
          <a:prstGeom prst="rect">
            <a:avLst/>
          </a:prstGeom>
          <a:solidFill>
            <a:srgbClr val="2008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719072"/>
            <a:ext cx="4754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8888"/>
                </a:solidFill>
                <a:latin typeface="Calibri"/>
              </a:rPr>
              <a:t>✕  Resolución &lt; λ láser → millones de nodos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2331720"/>
            <a:ext cx="5029200" cy="548640"/>
          </a:xfrm>
          <a:prstGeom prst="rect">
            <a:avLst/>
          </a:prstGeom>
          <a:solidFill>
            <a:srgbClr val="2008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2404872"/>
            <a:ext cx="4754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8888"/>
                </a:solidFill>
                <a:latin typeface="Calibri"/>
              </a:rPr>
              <a:t>✕  Nuevo perfil rugoso → resolver desde cero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3017520"/>
            <a:ext cx="5029200" cy="548640"/>
          </a:xfrm>
          <a:prstGeom prst="rect">
            <a:avLst/>
          </a:prstGeom>
          <a:solidFill>
            <a:srgbClr val="2008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3090672"/>
            <a:ext cx="4754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8888"/>
                </a:solidFill>
                <a:latin typeface="Calibri"/>
              </a:rPr>
              <a:t>✕  Miles de realizaciones = costo intratable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3703320"/>
            <a:ext cx="5029200" cy="548640"/>
          </a:xfrm>
          <a:prstGeom prst="rect">
            <a:avLst/>
          </a:prstGeom>
          <a:solidFill>
            <a:srgbClr val="2008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3776472"/>
            <a:ext cx="4754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8888"/>
                </a:solidFill>
                <a:latin typeface="Calibri"/>
              </a:rPr>
              <a:t>✕  Alta memoria pico por realización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126480" y="914400"/>
            <a:ext cx="5760720" cy="5394960"/>
          </a:xfrm>
          <a:prstGeom prst="rect">
            <a:avLst/>
          </a:prstGeom>
          <a:solidFill>
            <a:srgbClr val="141928"/>
          </a:solidFill>
          <a:ln w="19050">
            <a:solidFill>
              <a:srgbClr val="00C8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09360" y="1005840"/>
            <a:ext cx="5394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0C87A"/>
                </a:solidFill>
                <a:latin typeface="Calibri"/>
              </a:rPr>
              <a:t>Solución PINN-SIREN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309360" y="1645920"/>
            <a:ext cx="5394960" cy="548640"/>
          </a:xfrm>
          <a:prstGeom prst="rect">
            <a:avLst/>
          </a:prstGeom>
          <a:solidFill>
            <a:srgbClr val="0218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0" y="1719072"/>
            <a:ext cx="5120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0FFC0"/>
                </a:solidFill>
                <a:latin typeface="Calibri"/>
              </a:rPr>
              <a:t>✓  Libre de malla (mesh-free)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309360" y="2331720"/>
            <a:ext cx="5394960" cy="548640"/>
          </a:xfrm>
          <a:prstGeom prst="rect">
            <a:avLst/>
          </a:prstGeom>
          <a:solidFill>
            <a:srgbClr val="0218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0" y="2404872"/>
            <a:ext cx="5120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0FFC0"/>
                </a:solidFill>
                <a:latin typeface="Calibri"/>
              </a:rPr>
              <a:t>✓  Inferencia en ≈ 1.3 ms (GPU RTX 5050)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309360" y="3017520"/>
            <a:ext cx="5394960" cy="548640"/>
          </a:xfrm>
          <a:prstGeom prst="rect">
            <a:avLst/>
          </a:prstGeom>
          <a:solidFill>
            <a:srgbClr val="0218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0" y="3090672"/>
            <a:ext cx="5120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0FFC0"/>
                </a:solidFill>
                <a:latin typeface="Calibri"/>
              </a:rPr>
              <a:t>✓  Misma red → cualquier frontera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309360" y="3703320"/>
            <a:ext cx="5394960" cy="548640"/>
          </a:xfrm>
          <a:prstGeom prst="rect">
            <a:avLst/>
          </a:prstGeom>
          <a:solidFill>
            <a:srgbClr val="0218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0800" y="3776472"/>
            <a:ext cx="5120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0FFC0"/>
                </a:solidFill>
                <a:latin typeface="Calibri"/>
              </a:rPr>
              <a:t>✓  Entrenamiento único → ∞ realizaciones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74320" y="6035040"/>
            <a:ext cx="11612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1">
                <a:solidFill>
                  <a:srgbClr val="F0A500"/>
                </a:solidFill>
                <a:latin typeface="Calibri"/>
              </a:rPr>
              <a:t>Ecuación: ∇²E + k²E = 0  con  k = 2π  (dominio adimensional [0,1]²)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D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0"/>
          </a:xfrm>
          <a:prstGeom prst="rect">
            <a:avLst/>
          </a:prstGeom>
          <a:solidFill>
            <a:srgbClr val="080B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36576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0A500"/>
                </a:solidFill>
                <a:latin typeface="Calibri"/>
              </a:rPr>
              <a:t>Coloquio de Avance · UJAT ·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292608"/>
            <a:ext cx="116128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El Speckle Óptico: Fenómeno y Desafío Computacional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914400"/>
            <a:ext cx="5577840" cy="5577840"/>
          </a:xfrm>
          <a:prstGeom prst="rect">
            <a:avLst/>
          </a:prstGeom>
          <a:solidFill>
            <a:srgbClr val="141928"/>
          </a:solidFill>
          <a:ln w="19050">
            <a:solidFill>
              <a:srgbClr val="2A3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005840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0B4D8"/>
                </a:solidFill>
                <a:latin typeface="Calibri"/>
              </a:rPr>
              <a:t>El Fenómeno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554480"/>
            <a:ext cx="5212080" cy="914400"/>
          </a:xfrm>
          <a:prstGeom prst="rect">
            <a:avLst/>
          </a:prstGeom>
          <a:solidFill>
            <a:srgbClr val="1015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554480"/>
            <a:ext cx="73152" cy="9144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160020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B4D8"/>
                </a:solidFill>
                <a:latin typeface="Calibri"/>
              </a:rPr>
              <a:t>Láser coherente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2011680"/>
            <a:ext cx="47548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B8CC"/>
                </a:solidFill>
                <a:latin typeface="Calibri"/>
              </a:rPr>
              <a:t>λ = 638 nm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0" y="2487168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2A3050"/>
                </a:solidFill>
                <a:latin typeface="Calibri"/>
              </a:rPr>
              <a:t>↓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2578608"/>
            <a:ext cx="5212080" cy="914400"/>
          </a:xfrm>
          <a:prstGeom prst="rect">
            <a:avLst/>
          </a:prstGeom>
          <a:solidFill>
            <a:srgbClr val="1015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57200" y="2578608"/>
            <a:ext cx="73152" cy="914400"/>
          </a:xfrm>
          <a:prstGeom prst="rect">
            <a:avLst/>
          </a:prstGeom>
          <a:solidFill>
            <a:srgbClr val="F0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5800" y="2624328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0A500"/>
                </a:solidFill>
                <a:latin typeface="Calibri"/>
              </a:rPr>
              <a:t>Superficie rugosa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3035808"/>
            <a:ext cx="47548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B8CC"/>
                </a:solidFill>
                <a:latin typeface="Calibri"/>
              </a:rPr>
              <a:t>σ_h ≫ λ  (variación de fase &gt; 2π)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743200" y="3511296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2A3050"/>
                </a:solidFill>
                <a:latin typeface="Calibri"/>
              </a:rPr>
              <a:t>↓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3602736"/>
            <a:ext cx="5212080" cy="914400"/>
          </a:xfrm>
          <a:prstGeom prst="rect">
            <a:avLst/>
          </a:prstGeom>
          <a:solidFill>
            <a:srgbClr val="1015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57200" y="3602736"/>
            <a:ext cx="73152" cy="914400"/>
          </a:xfrm>
          <a:prstGeom prst="rect">
            <a:avLst/>
          </a:prstGeom>
          <a:solidFill>
            <a:srgbClr val="B0B8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3648456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B0B8CC"/>
                </a:solidFill>
                <a:latin typeface="Calibri"/>
              </a:rPr>
              <a:t>Interferencia aleatoria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4059936"/>
            <a:ext cx="47548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B8CC"/>
                </a:solidFill>
                <a:latin typeface="Calibri"/>
              </a:rPr>
              <a:t>N contribuciones independientes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743200" y="4535424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2A3050"/>
                </a:solidFill>
                <a:latin typeface="Calibri"/>
              </a:rPr>
              <a:t>↓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" y="4626864"/>
            <a:ext cx="5212080" cy="914400"/>
          </a:xfrm>
          <a:prstGeom prst="rect">
            <a:avLst/>
          </a:prstGeom>
          <a:solidFill>
            <a:srgbClr val="1015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57200" y="4626864"/>
            <a:ext cx="73152" cy="914400"/>
          </a:xfrm>
          <a:prstGeom prst="rect">
            <a:avLst/>
          </a:prstGeom>
          <a:solidFill>
            <a:srgbClr val="00C8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85800" y="4672584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C87A"/>
                </a:solidFill>
                <a:latin typeface="Calibri"/>
              </a:rPr>
              <a:t>Speckle completamente
desarrollado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800" y="5084064"/>
            <a:ext cx="47548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B8CC"/>
                </a:solidFill>
                <a:latin typeface="Calibri"/>
              </a:rPr>
              <a:t>C = σ_I/⟨I⟩ = 1  (Goodman, 1963)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080760" y="914400"/>
            <a:ext cx="5806440" cy="5577840"/>
          </a:xfrm>
          <a:prstGeom prst="rect">
            <a:avLst/>
          </a:prstGeom>
          <a:solidFill>
            <a:srgbClr val="141928"/>
          </a:solidFill>
          <a:ln w="19050">
            <a:solidFill>
              <a:srgbClr val="2A3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263640" y="1005840"/>
            <a:ext cx="5440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Simulado con PINN-SIREN</a:t>
            </a:r>
          </a:p>
        </p:txBody>
      </p:sp>
      <p:pic>
        <p:nvPicPr>
          <p:cNvPr id="28" name="Picture 27" descr="resultados_speckle_nb0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63640" y="1463040"/>
            <a:ext cx="5394960" cy="4673202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6263640" y="4983480"/>
            <a:ext cx="5394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0A500"/>
                </a:solidFill>
                <a:latin typeface="Calibri"/>
              </a:rPr>
              <a:t>Aplicaciones: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263640" y="5349240"/>
            <a:ext cx="5394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• Metrología óptica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263640" y="5623559"/>
            <a:ext cx="5394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• Tomografía de coherencia óptica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263640" y="5897879"/>
            <a:ext cx="5394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• Imagenología biomédica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263640" y="6172200"/>
            <a:ext cx="5394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• Criptografía óptica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74320" y="6537960"/>
            <a:ext cx="11612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1">
                <a:solidFill>
                  <a:srgbClr val="FFB700"/>
                </a:solidFill>
                <a:latin typeface="Calibri"/>
              </a:rPr>
              <a:t>Cada nueva rugosidad σ_h → resolver Helmholtz desde cero. Para estadísticas: miles de realizaciones = costo intratable con FEM.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D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0"/>
          </a:xfrm>
          <a:prstGeom prst="rect">
            <a:avLst/>
          </a:prstGeom>
          <a:solidFill>
            <a:srgbClr val="080B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36576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0A500"/>
                </a:solidFill>
                <a:latin typeface="Calibri"/>
              </a:rPr>
              <a:t>Coloquio de Avance · UJAT ·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292608"/>
            <a:ext cx="116128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Hipótesis y Objetivos de Investigación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914400"/>
            <a:ext cx="11612880" cy="960120"/>
          </a:xfrm>
          <a:prstGeom prst="rect">
            <a:avLst/>
          </a:prstGeom>
          <a:solidFill>
            <a:srgbClr val="0F1A2A"/>
          </a:solidFill>
          <a:ln w="19050">
            <a:solidFill>
              <a:srgbClr val="F0A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978408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FFFFFF"/>
                </a:solidFill>
                <a:latin typeface="Calibri"/>
              </a:rPr>
              <a:t>HIPÓTESIS: PINN-SIREN puede simular speckle con L² &lt; 5% vs. referencia y factor de aceleración S = T_FEM / T_PINN &gt; 1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2057400"/>
            <a:ext cx="11612880" cy="960120"/>
          </a:xfrm>
          <a:prstGeom prst="rect">
            <a:avLst/>
          </a:prstGeom>
          <a:solidFill>
            <a:srgbClr val="141928"/>
          </a:solidFill>
          <a:ln w="19050">
            <a:solidFill>
              <a:srgbClr val="2A3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74320" y="2057400"/>
            <a:ext cx="1005840" cy="960120"/>
          </a:xfrm>
          <a:prstGeom prst="rect">
            <a:avLst/>
          </a:prstGeom>
          <a:solidFill>
            <a:srgbClr val="00C8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74320" y="2313432"/>
            <a:ext cx="1005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00000"/>
                </a:solidFill>
                <a:latin typeface="Calibri"/>
              </a:rPr>
              <a:t>NB01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17320" y="2313432"/>
            <a:ext cx="8229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Helmholtz 1D vs. solución analítica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0" y="2240280"/>
            <a:ext cx="2103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0C87A"/>
                </a:solidFill>
                <a:latin typeface="Calibri"/>
              </a:rPr>
              <a:t>✅ L²=0.006%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" y="3154680"/>
            <a:ext cx="11612880" cy="960120"/>
          </a:xfrm>
          <a:prstGeom prst="rect">
            <a:avLst/>
          </a:prstGeom>
          <a:solidFill>
            <a:srgbClr val="141928"/>
          </a:solidFill>
          <a:ln w="19050">
            <a:solidFill>
              <a:srgbClr val="2A3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74320" y="3154680"/>
            <a:ext cx="1005840" cy="960120"/>
          </a:xfrm>
          <a:prstGeom prst="rect">
            <a:avLst/>
          </a:prstGeom>
          <a:solidFill>
            <a:srgbClr val="00C8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74320" y="3410712"/>
            <a:ext cx="1005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00000"/>
                </a:solidFill>
                <a:latin typeface="Calibri"/>
              </a:rPr>
              <a:t>NB02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17320" y="3410712"/>
            <a:ext cx="8229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Helmholtz 2D campo complejo (E_real,E_imag)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01200" y="3337560"/>
            <a:ext cx="2103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0C87A"/>
                </a:solidFill>
                <a:latin typeface="Calibri"/>
              </a:rPr>
              <a:t>✅ L²=0.171%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74320" y="4251960"/>
            <a:ext cx="11612880" cy="960120"/>
          </a:xfrm>
          <a:prstGeom prst="rect">
            <a:avLst/>
          </a:prstGeom>
          <a:solidFill>
            <a:srgbClr val="141928"/>
          </a:solidFill>
          <a:ln w="19050">
            <a:solidFill>
              <a:srgbClr val="2A3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74320" y="4251960"/>
            <a:ext cx="1005840" cy="960120"/>
          </a:xfrm>
          <a:prstGeom prst="rect">
            <a:avLst/>
          </a:prstGeom>
          <a:solidFill>
            <a:srgbClr val="00C8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74320" y="4507992"/>
            <a:ext cx="1005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00000"/>
                </a:solidFill>
                <a:latin typeface="Calibri"/>
              </a:rPr>
              <a:t>NB03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17320" y="4507992"/>
            <a:ext cx="8229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Speckle con frontera rugosa φ~U(0,2π)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601200" y="4434840"/>
            <a:ext cx="2103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0C87A"/>
                </a:solidFill>
                <a:latin typeface="Calibri"/>
              </a:rPr>
              <a:t>✅ C=1.025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74320" y="5349240"/>
            <a:ext cx="11612880" cy="960120"/>
          </a:xfrm>
          <a:prstGeom prst="rect">
            <a:avLst/>
          </a:prstGeom>
          <a:solidFill>
            <a:srgbClr val="141928"/>
          </a:solidFill>
          <a:ln w="19050">
            <a:solidFill>
              <a:srgbClr val="2A3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274320" y="5349240"/>
            <a:ext cx="1005840" cy="960120"/>
          </a:xfrm>
          <a:prstGeom prst="rect">
            <a:avLst/>
          </a:prstGeom>
          <a:solidFill>
            <a:srgbClr val="F0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74320" y="5605272"/>
            <a:ext cx="1005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00000"/>
                </a:solidFill>
                <a:latin typeface="Calibri"/>
              </a:rPr>
              <a:t>NB04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417320" y="5605272"/>
            <a:ext cx="8229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Benchmark FEM — Speed-up Factor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601200" y="5532120"/>
            <a:ext cx="2103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0A500"/>
                </a:solidFill>
                <a:latin typeface="Calibri"/>
              </a:rPr>
              <a:t>📋 Pendiente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D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0"/>
          </a:xfrm>
          <a:prstGeom prst="rect">
            <a:avLst/>
          </a:prstGeom>
          <a:solidFill>
            <a:srgbClr val="080B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36576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0A500"/>
                </a:solidFill>
                <a:latin typeface="Calibri"/>
              </a:rPr>
              <a:t>Coloquio de Avance · UJAT ·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292608"/>
            <a:ext cx="116128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Marco Teórico: Helmholtz · PINNs · SIREN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914400"/>
            <a:ext cx="3794760" cy="5577840"/>
          </a:xfrm>
          <a:prstGeom prst="rect">
            <a:avLst/>
          </a:prstGeom>
          <a:solidFill>
            <a:srgbClr val="141928"/>
          </a:solidFill>
          <a:ln w="19050">
            <a:solidFill>
              <a:srgbClr val="2A3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74320" y="914400"/>
            <a:ext cx="3794760" cy="5029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941832"/>
            <a:ext cx="3611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00000"/>
                </a:solidFill>
                <a:latin typeface="Calibri"/>
              </a:rPr>
              <a:t>Ecuación de Helmholtz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554480"/>
            <a:ext cx="342900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∇²E + k²E = 0
E = E_real + i·E_imag
k = 2π  (dominio [0,1]²)
I(x,y) = E_real² + E_imag²</a:t>
            </a:r>
          </a:p>
        </p:txBody>
      </p:sp>
      <p:sp>
        <p:nvSpPr>
          <p:cNvPr id="9" name="Rectangle 8"/>
          <p:cNvSpPr/>
          <p:nvPr/>
        </p:nvSpPr>
        <p:spPr>
          <a:xfrm>
            <a:off x="4261104" y="914400"/>
            <a:ext cx="3794760" cy="5577840"/>
          </a:xfrm>
          <a:prstGeom prst="rect">
            <a:avLst/>
          </a:prstGeom>
          <a:solidFill>
            <a:srgbClr val="141928"/>
          </a:solidFill>
          <a:ln w="19050">
            <a:solidFill>
              <a:srgbClr val="2A3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261104" y="914400"/>
            <a:ext cx="3794760" cy="502920"/>
          </a:xfrm>
          <a:prstGeom prst="rect">
            <a:avLst/>
          </a:prstGeom>
          <a:solidFill>
            <a:srgbClr val="F0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352544" y="941832"/>
            <a:ext cx="3611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00000"/>
                </a:solidFill>
                <a:latin typeface="Calibri"/>
              </a:rPr>
              <a:t>Función de Pérdida PINN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43984" y="1554480"/>
            <a:ext cx="342900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L = L_datos + λ·L_física
L_datos: error en frontera
L_física: residuo de Helmholtz
λ_phys = 0.1 (calibrado)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47888" y="914400"/>
            <a:ext cx="3794760" cy="5577840"/>
          </a:xfrm>
          <a:prstGeom prst="rect">
            <a:avLst/>
          </a:prstGeom>
          <a:solidFill>
            <a:srgbClr val="141928"/>
          </a:solidFill>
          <a:ln w="19050">
            <a:solidFill>
              <a:srgbClr val="2A3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247888" y="914400"/>
            <a:ext cx="3794760" cy="502920"/>
          </a:xfrm>
          <a:prstGeom prst="rect">
            <a:avLst/>
          </a:prstGeom>
          <a:solidFill>
            <a:srgbClr val="00C8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39328" y="941832"/>
            <a:ext cx="3611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00000"/>
                </a:solidFill>
                <a:latin typeface="Calibri"/>
              </a:rPr>
              <a:t>Arquitectura SIREN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30768" y="1554480"/>
            <a:ext cx="342900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φ(z) = sin(ω₀·z),  ω₀ = 1.0
5 capas × 128 neuronas
66,690 parámetros
Inic. Sitzmann et al. 2020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D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0"/>
          </a:xfrm>
          <a:prstGeom prst="rect">
            <a:avLst/>
          </a:prstGeom>
          <a:solidFill>
            <a:srgbClr val="080B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36576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0A500"/>
                </a:solidFill>
                <a:latin typeface="Calibri"/>
              </a:rPr>
              <a:t>Coloquio de Avance · UJAT ·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292608"/>
            <a:ext cx="116128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¿Por Qué SIREN? El Sesgo Espectral de las Redes Estándar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914400"/>
            <a:ext cx="5394960" cy="5166360"/>
          </a:xfrm>
          <a:prstGeom prst="rect">
            <a:avLst/>
          </a:prstGeom>
          <a:solidFill>
            <a:srgbClr val="141928"/>
          </a:solidFill>
          <a:ln w="19050">
            <a:solidFill>
              <a:srgbClr val="F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00584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4444"/>
                </a:solidFill>
                <a:latin typeface="Calibri"/>
              </a:rPr>
              <a:t>Redes Estándar (tanh / ReLU)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600200"/>
            <a:ext cx="5029200" cy="868680"/>
          </a:xfrm>
          <a:prstGeom prst="rect">
            <a:avLst/>
          </a:prstGeom>
          <a:solidFill>
            <a:srgbClr val="2208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1645920"/>
            <a:ext cx="4663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7777"/>
                </a:solidFill>
                <a:latin typeface="Calibri"/>
              </a:rPr>
              <a:t>✕  Sesgo espectral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011680"/>
            <a:ext cx="46634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B8CC"/>
                </a:solidFill>
                <a:latin typeface="Calibri"/>
              </a:rPr>
              <a:t>Aprenden frecuencias bajas primero
(Rahaman et al., 2019)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2560320"/>
            <a:ext cx="5029200" cy="868680"/>
          </a:xfrm>
          <a:prstGeom prst="rect">
            <a:avLst/>
          </a:prstGeom>
          <a:solidFill>
            <a:srgbClr val="2208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" y="2606040"/>
            <a:ext cx="4663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7777"/>
                </a:solidFill>
                <a:latin typeface="Calibri"/>
              </a:rPr>
              <a:t>✕  Derivadas de 2° orden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2971800"/>
            <a:ext cx="46634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B8CC"/>
                </a:solidFill>
                <a:latin typeface="Calibri"/>
              </a:rPr>
              <a:t>Inestables o nulas para ReLU
→ Residuo de Helmholtz ruidoso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3520440"/>
            <a:ext cx="5029200" cy="868680"/>
          </a:xfrm>
          <a:prstGeom prst="rect">
            <a:avLst/>
          </a:prstGeom>
          <a:solidFill>
            <a:srgbClr val="2208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94360" y="3566160"/>
            <a:ext cx="4663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7777"/>
                </a:solidFill>
                <a:latin typeface="Calibri"/>
              </a:rPr>
              <a:t>✕  Alta frecuencia k=2π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3931920"/>
            <a:ext cx="46634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B8CC"/>
                </a:solidFill>
                <a:latin typeface="Calibri"/>
              </a:rPr>
              <a:t>Requieren muchas épocas extra
para capturar las oscilaciones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4480560"/>
            <a:ext cx="5029200" cy="868680"/>
          </a:xfrm>
          <a:prstGeom prst="rect">
            <a:avLst/>
          </a:prstGeom>
          <a:solidFill>
            <a:srgbClr val="2208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94360" y="4526280"/>
            <a:ext cx="4663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7777"/>
                </a:solidFill>
                <a:latin typeface="Calibri"/>
              </a:rPr>
              <a:t>✕  Convergencia lenta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4360" y="4892040"/>
            <a:ext cx="46634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B8CC"/>
                </a:solidFill>
                <a:latin typeface="Calibri"/>
              </a:rPr>
              <a:t>Adam solo: ~50,000 épocas
para L² &lt; 1% en Helmholtz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760720" y="3474720"/>
            <a:ext cx="822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2A3050"/>
                </a:solidFill>
                <a:latin typeface="Calibri"/>
              </a:rPr>
              <a:t>vs.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675120" y="914400"/>
            <a:ext cx="5212080" cy="5166360"/>
          </a:xfrm>
          <a:prstGeom prst="rect">
            <a:avLst/>
          </a:prstGeom>
          <a:solidFill>
            <a:srgbClr val="141928"/>
          </a:solidFill>
          <a:ln w="19050">
            <a:solidFill>
              <a:srgbClr val="00C8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858000" y="1005840"/>
            <a:ext cx="4846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C87A"/>
                </a:solidFill>
                <a:latin typeface="Calibri"/>
              </a:rPr>
              <a:t>SIREN  —  φ(z) = sin(ω₀z)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858000" y="1600200"/>
            <a:ext cx="4846320" cy="868680"/>
          </a:xfrm>
          <a:prstGeom prst="rect">
            <a:avLst/>
          </a:prstGeom>
          <a:solidFill>
            <a:srgbClr val="0218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995160" y="1645920"/>
            <a:ext cx="4480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80FFC0"/>
                </a:solidFill>
                <a:latin typeface="Calibri"/>
              </a:rPr>
              <a:t>✓  Sin sesgo espectral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95160" y="2011680"/>
            <a:ext cx="44805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B8CC"/>
                </a:solidFill>
                <a:latin typeface="Calibri"/>
              </a:rPr>
              <a:t>Cada capa es periódica: todas
las frecuencias se aprenden igual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858000" y="2560320"/>
            <a:ext cx="4846320" cy="868680"/>
          </a:xfrm>
          <a:prstGeom prst="rect">
            <a:avLst/>
          </a:prstGeom>
          <a:solidFill>
            <a:srgbClr val="0218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995160" y="2606040"/>
            <a:ext cx="4480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80FFC0"/>
                </a:solidFill>
                <a:latin typeface="Calibri"/>
              </a:rPr>
              <a:t>✓  Derivadas analíticas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995160" y="2971800"/>
            <a:ext cx="44805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B8CC"/>
                </a:solidFill>
                <a:latin typeface="Calibri"/>
              </a:rPr>
              <a:t>dⁿ/dxⁿ[sin(ω₀x)] estable
→ Laplaciano exacto vía autograd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858000" y="3520440"/>
            <a:ext cx="4846320" cy="868680"/>
          </a:xfrm>
          <a:prstGeom prst="rect">
            <a:avLst/>
          </a:prstGeom>
          <a:solidFill>
            <a:srgbClr val="0218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995160" y="3566160"/>
            <a:ext cx="4480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80FFC0"/>
                </a:solidFill>
                <a:latin typeface="Calibri"/>
              </a:rPr>
              <a:t>✓  Inicialización de Sitzmann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995160" y="3931920"/>
            <a:ext cx="44805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B8CC"/>
                </a:solidFill>
                <a:latin typeface="Calibri"/>
              </a:rPr>
              <a:t>W_l ~ U(-√(6/d), √(6/d))
Preserva distribución de activación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858000" y="4480560"/>
            <a:ext cx="4846320" cy="868680"/>
          </a:xfrm>
          <a:prstGeom prst="rect">
            <a:avLst/>
          </a:prstGeom>
          <a:solidFill>
            <a:srgbClr val="0218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995160" y="4526280"/>
            <a:ext cx="4480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80FFC0"/>
                </a:solidFill>
                <a:latin typeface="Calibri"/>
              </a:rPr>
              <a:t>✓  Convergencia rápida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995160" y="4892040"/>
            <a:ext cx="44805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B8CC"/>
                </a:solidFill>
                <a:latin typeface="Calibri"/>
              </a:rPr>
              <a:t>Adam 8,737 épocas → L²=0.171%
con k=2π en dominio 2D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74320" y="6217920"/>
            <a:ext cx="11612880" cy="566928"/>
          </a:xfrm>
          <a:prstGeom prst="rect">
            <a:avLst/>
          </a:prstGeom>
          <a:solidFill>
            <a:srgbClr val="0A1424"/>
          </a:solidFill>
          <a:ln w="19050">
            <a:solidFill>
              <a:srgbClr val="F0A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57200" y="6281928"/>
            <a:ext cx="112471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0A500"/>
                </a:solidFill>
                <a:latin typeface="Calibri"/>
              </a:rPr>
              <a:t>h_ℓ = sin( ω₀ · (W_ℓ · h_{ℓ-1} + b_ℓ) )     con     W_0 ~ U(−1/n_in, 1/n_in),   W_ℓ ~ U(−√(6/d), √(6/d))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D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0"/>
          </a:xfrm>
          <a:prstGeom prst="rect">
            <a:avLst/>
          </a:prstGeom>
          <a:solidFill>
            <a:srgbClr val="080B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36576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0A500"/>
                </a:solidFill>
                <a:latin typeface="Calibri"/>
              </a:rPr>
              <a:t>Coloquio de Avance · UJAT ·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292608"/>
            <a:ext cx="116128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Metodología: Arquitectura · LHS · Optimización Bifásica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914400"/>
            <a:ext cx="3931920" cy="5486400"/>
          </a:xfrm>
          <a:prstGeom prst="rect">
            <a:avLst/>
          </a:prstGeom>
          <a:solidFill>
            <a:srgbClr val="141928"/>
          </a:solidFill>
          <a:ln w="19050">
            <a:solidFill>
              <a:srgbClr val="2A3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978408"/>
            <a:ext cx="3566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B4D8"/>
                </a:solidFill>
                <a:latin typeface="Calibri"/>
              </a:rPr>
              <a:t>Arquitectura SIREN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463040"/>
            <a:ext cx="35661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→ Entrada: (x,y) ∈ [0,1]²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148840"/>
            <a:ext cx="35661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→ 5 capas ocultas × 128 neuronas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834640"/>
            <a:ext cx="35661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→ φ(z) = sin(ω₀z),  ω₀=1.0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3520440"/>
            <a:ext cx="35661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→ Salida lineal: (E_real, E_imag)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4206240"/>
            <a:ext cx="35661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→ 66,690 parámetros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434840" y="914400"/>
            <a:ext cx="3474720" cy="5486400"/>
          </a:xfrm>
          <a:prstGeom prst="rect">
            <a:avLst/>
          </a:prstGeom>
          <a:solidFill>
            <a:srgbClr val="141928"/>
          </a:solidFill>
          <a:ln w="19050">
            <a:solidFill>
              <a:srgbClr val="2A3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17720" y="978408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0A500"/>
                </a:solidFill>
                <a:latin typeface="Calibri"/>
              </a:rPr>
              <a:t>Muestreo LHS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17720" y="1463040"/>
            <a:ext cx="3108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N_c = 3,000 puntos interiores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17720" y="2029968"/>
            <a:ext cx="3108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Hipercubo Latino (LHS)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17720" y="2596896"/>
            <a:ext cx="3108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Cobertura uniforme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17720" y="3163824"/>
            <a:ext cx="3108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sin redundancia cartesiana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17720" y="4297680"/>
            <a:ext cx="3108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N_b = 300 pts / borde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17720" y="4864608"/>
            <a:ext cx="3108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4 bordes del dominio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092440" y="914400"/>
            <a:ext cx="3794760" cy="5486400"/>
          </a:xfrm>
          <a:prstGeom prst="rect">
            <a:avLst/>
          </a:prstGeom>
          <a:solidFill>
            <a:srgbClr val="141928"/>
          </a:solidFill>
          <a:ln w="19050">
            <a:solidFill>
              <a:srgbClr val="2A3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75320" y="978408"/>
            <a:ext cx="3429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B700"/>
                </a:solidFill>
                <a:latin typeface="Calibri"/>
              </a:rPr>
              <a:t>Optimización Bifásica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275320" y="1463040"/>
            <a:ext cx="3246120" cy="347472"/>
          </a:xfrm>
          <a:prstGeom prst="rect">
            <a:avLst/>
          </a:prstGeom>
          <a:solidFill>
            <a:srgbClr val="0F2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75320" y="1463040"/>
            <a:ext cx="3246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B4D8"/>
                </a:solidFill>
                <a:latin typeface="Calibri"/>
              </a:rPr>
              <a:t>Fase 1 — Adam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458200" y="1920240"/>
            <a:ext cx="30632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B8CC"/>
                </a:solidFill>
                <a:latin typeface="Calibri"/>
              </a:rPr>
              <a:t>lr = 1×10⁻³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458200" y="2395728"/>
            <a:ext cx="30632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B8CC"/>
                </a:solidFill>
                <a:latin typeface="Calibri"/>
              </a:rPr>
              <a:t>Hasta 15,000 épocas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458200" y="2871216"/>
            <a:ext cx="30632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B8CC"/>
                </a:solidFill>
                <a:latin typeface="Calibri"/>
              </a:rPr>
              <a:t>Early stopping (pat=800)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275320" y="3474720"/>
            <a:ext cx="3246120" cy="347472"/>
          </a:xfrm>
          <a:prstGeom prst="rect">
            <a:avLst/>
          </a:prstGeom>
          <a:solidFill>
            <a:srgbClr val="1510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275320" y="3474720"/>
            <a:ext cx="3246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0A500"/>
                </a:solidFill>
                <a:latin typeface="Calibri"/>
              </a:rPr>
              <a:t>Fase 2 — L-BFGS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458200" y="3931920"/>
            <a:ext cx="30632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B8CC"/>
                </a:solidFill>
                <a:latin typeface="Calibri"/>
              </a:rPr>
              <a:t>Strong Wolfe line search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458200" y="4407408"/>
            <a:ext cx="30632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B8CC"/>
                </a:solidFill>
                <a:latin typeface="Calibri"/>
              </a:rPr>
              <a:t>Max 1,000 iteraciones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458200" y="4882896"/>
            <a:ext cx="30632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B8CC"/>
                </a:solidFill>
                <a:latin typeface="Calibri"/>
              </a:rPr>
              <a:t>History size = 100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75320" y="5760720"/>
            <a:ext cx="3429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1">
                <a:solidFill>
                  <a:srgbClr val="F0A500"/>
                </a:solidFill>
                <a:latin typeface="Calibri"/>
              </a:rPr>
              <a:t>Adam explora → L-BFGS refina con curvatura de 2° orden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D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0"/>
          </a:xfrm>
          <a:prstGeom prst="rect">
            <a:avLst/>
          </a:prstGeom>
          <a:solidFill>
            <a:srgbClr val="080B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36576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0A500"/>
                </a:solidFill>
                <a:latin typeface="Calibri"/>
              </a:rPr>
              <a:t>Coloquio de Avance · UJAT ·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292608"/>
            <a:ext cx="116128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Implementación: Código Clave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868680"/>
            <a:ext cx="5577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B4D8"/>
                </a:solidFill>
                <a:latin typeface="Calibri"/>
              </a:rPr>
              <a:t>src/models.py — Arquitectura SIREN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261872"/>
            <a:ext cx="5577840" cy="5074920"/>
          </a:xfrm>
          <a:prstGeom prst="rect">
            <a:avLst/>
          </a:prstGeom>
          <a:solidFill>
            <a:srgbClr val="080C18"/>
          </a:solidFill>
          <a:ln w="12700">
            <a:solidFill>
              <a:srgbClr val="2A3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399032"/>
            <a:ext cx="52120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50" b="0">
                <a:solidFill>
                  <a:srgbClr val="C792EA"/>
                </a:solidFill>
                <a:latin typeface="Consolas"/>
              </a:rPr>
              <a:t>class </a:t>
            </a:r>
            <a:r>
              <a:rPr sz="1150" b="0">
                <a:solidFill>
                  <a:srgbClr val="82AAFF"/>
                </a:solidFill>
                <a:latin typeface="Consolas"/>
              </a:rPr>
              <a:t>PINN_2D_SIREN</a:t>
            </a:r>
            <a:r>
              <a:rPr sz="1150" b="0">
                <a:solidFill>
                  <a:srgbClr val="FFFFFF"/>
                </a:solidFill>
                <a:latin typeface="Consolas"/>
              </a:rPr>
              <a:t>(nn.Module):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783080"/>
            <a:ext cx="52120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50" b="0">
                <a:solidFill>
                  <a:srgbClr val="FFFFFF"/>
                </a:solidFill>
                <a:latin typeface="Consolas"/>
              </a:rPr>
              <a:t> 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167128"/>
            <a:ext cx="52120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50" b="0">
                <a:solidFill>
                  <a:srgbClr val="C792EA"/>
                </a:solidFill>
                <a:latin typeface="Consolas"/>
              </a:rPr>
              <a:t>  def </a:t>
            </a:r>
            <a:r>
              <a:rPr sz="1150" b="0">
                <a:solidFill>
                  <a:srgbClr val="82AAFF"/>
                </a:solidFill>
                <a:latin typeface="Consolas"/>
              </a:rPr>
              <a:t>__init__</a:t>
            </a:r>
            <a:r>
              <a:rPr sz="1150" b="0">
                <a:solidFill>
                  <a:srgbClr val="FFFFFF"/>
                </a:solidFill>
                <a:latin typeface="Consolas"/>
              </a:rPr>
              <a:t>(self, hidden, layers, omega):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551176"/>
            <a:ext cx="52120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50" b="0">
                <a:solidFill>
                  <a:srgbClr val="FFFFFF"/>
                </a:solidFill>
                <a:latin typeface="Consolas"/>
              </a:rPr>
              <a:t>    self</a:t>
            </a:r>
            <a:r>
              <a:rPr sz="1150" b="0">
                <a:solidFill>
                  <a:srgbClr val="82AAFF"/>
                </a:solidFill>
                <a:latin typeface="Consolas"/>
              </a:rPr>
              <a:t>.omega_0</a:t>
            </a:r>
            <a:r>
              <a:rPr sz="1150" b="0">
                <a:solidFill>
                  <a:srgbClr val="FFFFFF"/>
                </a:solidFill>
                <a:latin typeface="Consolas"/>
              </a:rPr>
              <a:t> = omega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2935224"/>
            <a:ext cx="52120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50" b="0">
                <a:solidFill>
                  <a:srgbClr val="FFFFFF"/>
                </a:solidFill>
                <a:latin typeface="Consolas"/>
              </a:rPr>
              <a:t>    self</a:t>
            </a:r>
            <a:r>
              <a:rPr sz="1150" b="0">
                <a:solidFill>
                  <a:srgbClr val="82AAFF"/>
                </a:solidFill>
                <a:latin typeface="Consolas"/>
              </a:rPr>
              <a:t>.fc_in</a:t>
            </a:r>
            <a:r>
              <a:rPr sz="1150" b="0">
                <a:solidFill>
                  <a:srgbClr val="FFFFFF"/>
                </a:solidFill>
                <a:latin typeface="Consolas"/>
              </a:rPr>
              <a:t>  = nn.Linear(</a:t>
            </a:r>
            <a:r>
              <a:rPr sz="1150" b="0">
                <a:solidFill>
                  <a:srgbClr val="F78C6C"/>
                </a:solidFill>
                <a:latin typeface="Consolas"/>
              </a:rPr>
              <a:t>2</a:t>
            </a:r>
            <a:r>
              <a:rPr sz="1150" b="0">
                <a:solidFill>
                  <a:srgbClr val="FFFFFF"/>
                </a:solidFill>
                <a:latin typeface="Consolas"/>
              </a:rPr>
              <a:t>,hidden)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3319272"/>
            <a:ext cx="52120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50" b="0">
                <a:solidFill>
                  <a:srgbClr val="FFFFFF"/>
                </a:solidFill>
                <a:latin typeface="Consolas"/>
              </a:rPr>
              <a:t>    self</a:t>
            </a:r>
            <a:r>
              <a:rPr sz="1150" b="0">
                <a:solidFill>
                  <a:srgbClr val="82AAFF"/>
                </a:solidFill>
                <a:latin typeface="Consolas"/>
              </a:rPr>
              <a:t>.hidden</a:t>
            </a:r>
            <a:r>
              <a:rPr sz="1150" b="0">
                <a:solidFill>
                  <a:srgbClr val="FFFFFF"/>
                </a:solidFill>
                <a:latin typeface="Consolas"/>
              </a:rPr>
              <a:t> = nn.ModuleList([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3703320"/>
            <a:ext cx="52120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50" b="0">
                <a:solidFill>
                  <a:srgbClr val="FFFFFF"/>
                </a:solidFill>
                <a:latin typeface="Consolas"/>
              </a:rPr>
              <a:t>        nn.Linear(hidden,hidden) </a:t>
            </a:r>
            <a:r>
              <a:rPr sz="1150" b="0">
                <a:solidFill>
                  <a:srgbClr val="C792EA"/>
                </a:solidFill>
                <a:latin typeface="Consolas"/>
              </a:rPr>
              <a:t>for</a:t>
            </a:r>
            <a:r>
              <a:rPr sz="1150" b="0">
                <a:solidFill>
                  <a:srgbClr val="FFFFFF"/>
                </a:solidFill>
                <a:latin typeface="Consolas"/>
              </a:rPr>
              <a:t> _ </a:t>
            </a:r>
            <a:r>
              <a:rPr sz="1150" b="0">
                <a:solidFill>
                  <a:srgbClr val="C792EA"/>
                </a:solidFill>
                <a:latin typeface="Consolas"/>
              </a:rPr>
              <a:t>in</a:t>
            </a:r>
            <a:r>
              <a:rPr sz="1150" b="0">
                <a:solidFill>
                  <a:srgbClr val="FFFFFF"/>
                </a:solidFill>
                <a:latin typeface="Consolas"/>
              </a:rPr>
              <a:t> range(layers)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4087368"/>
            <a:ext cx="52120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50" b="0">
                <a:solidFill>
                  <a:srgbClr val="FFFFFF"/>
                </a:solidFill>
                <a:latin typeface="Consolas"/>
              </a:rPr>
              <a:t>    ])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4471416"/>
            <a:ext cx="52120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50" b="0">
                <a:solidFill>
                  <a:srgbClr val="FFFFFF"/>
                </a:solidFill>
                <a:latin typeface="Consolas"/>
              </a:rPr>
              <a:t>    self</a:t>
            </a:r>
            <a:r>
              <a:rPr sz="1150" b="0">
                <a:solidFill>
                  <a:srgbClr val="82AAFF"/>
                </a:solidFill>
                <a:latin typeface="Consolas"/>
              </a:rPr>
              <a:t>.fc_out</a:t>
            </a:r>
            <a:r>
              <a:rPr sz="1150" b="0">
                <a:solidFill>
                  <a:srgbClr val="FFFFFF"/>
                </a:solidFill>
                <a:latin typeface="Consolas"/>
              </a:rPr>
              <a:t> = nn.Linear(hidden,</a:t>
            </a:r>
            <a:r>
              <a:rPr sz="1150" b="0">
                <a:solidFill>
                  <a:srgbClr val="F78C6C"/>
                </a:solidFill>
                <a:latin typeface="Consolas"/>
              </a:rPr>
              <a:t>2</a:t>
            </a:r>
            <a:r>
              <a:rPr sz="1150" b="0">
                <a:solidFill>
                  <a:srgbClr val="FFFFFF"/>
                </a:solidFill>
                <a:latin typeface="Consolas"/>
              </a:rPr>
              <a:t>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4855464"/>
            <a:ext cx="52120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50" b="0">
                <a:solidFill>
                  <a:srgbClr val="FFFFFF"/>
                </a:solidFill>
                <a:latin typeface="Consolas"/>
              </a:rPr>
              <a:t> 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5239512"/>
            <a:ext cx="52120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50" b="0">
                <a:solidFill>
                  <a:srgbClr val="C792EA"/>
                </a:solidFill>
                <a:latin typeface="Consolas"/>
              </a:rPr>
              <a:t>  def </a:t>
            </a:r>
            <a:r>
              <a:rPr sz="1150" b="0">
                <a:solidFill>
                  <a:srgbClr val="82AAFF"/>
                </a:solidFill>
                <a:latin typeface="Consolas"/>
              </a:rPr>
              <a:t>forward</a:t>
            </a:r>
            <a:r>
              <a:rPr sz="1150" b="0">
                <a:solidFill>
                  <a:srgbClr val="FFFFFF"/>
                </a:solidFill>
                <a:latin typeface="Consolas"/>
              </a:rPr>
              <a:t>(self, x):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5623560"/>
            <a:ext cx="52120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50" b="0">
                <a:solidFill>
                  <a:srgbClr val="FFFFFF"/>
                </a:solidFill>
                <a:latin typeface="Consolas"/>
              </a:rPr>
              <a:t>    x  = torch.sin(self.omega_0 * self.fc_in(x))</a:t>
            </a:r>
            <a:r>
              <a:rPr sz="1150" b="0">
                <a:solidFill>
                  <a:srgbClr val="546E7A"/>
                </a:solidFill>
                <a:latin typeface="Consolas"/>
              </a:rPr>
              <a:t>  # ← SIREN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6007608"/>
            <a:ext cx="52120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50" b="0">
                <a:solidFill>
                  <a:srgbClr val="C792EA"/>
                </a:solidFill>
                <a:latin typeface="Consolas"/>
              </a:rPr>
              <a:t>    for</a:t>
            </a:r>
            <a:r>
              <a:rPr sz="1150" b="0">
                <a:solidFill>
                  <a:srgbClr val="FFFFFF"/>
                </a:solidFill>
                <a:latin typeface="Consolas"/>
              </a:rPr>
              <a:t> layer </a:t>
            </a:r>
            <a:r>
              <a:rPr sz="1150" b="0">
                <a:solidFill>
                  <a:srgbClr val="C792EA"/>
                </a:solidFill>
                <a:latin typeface="Consolas"/>
              </a:rPr>
              <a:t>in</a:t>
            </a:r>
            <a:r>
              <a:rPr sz="1150" b="0">
                <a:solidFill>
                  <a:srgbClr val="FFFFFF"/>
                </a:solidFill>
                <a:latin typeface="Consolas"/>
              </a:rPr>
              <a:t> self.hidden: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6391656"/>
            <a:ext cx="52120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50" b="0">
                <a:solidFill>
                  <a:srgbClr val="FFFFFF"/>
                </a:solidFill>
                <a:latin typeface="Consolas"/>
              </a:rPr>
              <a:t>        x = torch.sin(self.omega_0 * layer(x))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6775704"/>
            <a:ext cx="52120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50" b="0">
                <a:solidFill>
                  <a:srgbClr val="C792EA"/>
                </a:solidFill>
                <a:latin typeface="Consolas"/>
              </a:rPr>
              <a:t>    return</a:t>
            </a:r>
            <a:r>
              <a:rPr sz="1150" b="0">
                <a:solidFill>
                  <a:srgbClr val="FFFFFF"/>
                </a:solidFill>
                <a:latin typeface="Consolas"/>
              </a:rPr>
              <a:t> self.fc_out(x)</a:t>
            </a:r>
            <a:r>
              <a:rPr sz="1150" b="0">
                <a:solidFill>
                  <a:srgbClr val="546E7A"/>
                </a:solidFill>
                <a:latin typeface="Consolas"/>
              </a:rPr>
              <a:t>   # (E_real, E_imag)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126480" y="868680"/>
            <a:ext cx="578815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0A500"/>
                </a:solidFill>
                <a:latin typeface="Calibri"/>
              </a:rPr>
              <a:t>src/losses.py + training — Pérdida y Optimización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126480" y="1261872"/>
            <a:ext cx="5788152" cy="2377440"/>
          </a:xfrm>
          <a:prstGeom prst="rect">
            <a:avLst/>
          </a:prstGeom>
          <a:solidFill>
            <a:srgbClr val="080C18"/>
          </a:solidFill>
          <a:ln w="12700">
            <a:solidFill>
              <a:srgbClr val="2A3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309360" y="1399032"/>
            <a:ext cx="542239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50" b="0">
                <a:solidFill>
                  <a:srgbClr val="C792EA"/>
                </a:solidFill>
                <a:latin typeface="Consolas"/>
              </a:rPr>
              <a:t>def </a:t>
            </a:r>
            <a:r>
              <a:rPr sz="1150" b="0">
                <a:solidFill>
                  <a:srgbClr val="82AAFF"/>
                </a:solidFill>
                <a:latin typeface="Consolas"/>
              </a:rPr>
              <a:t>pinn_loss_2d</a:t>
            </a:r>
            <a:r>
              <a:rPr sz="1150" b="0">
                <a:solidFill>
                  <a:srgbClr val="FFFFFF"/>
                </a:solidFill>
                <a:latin typeface="Consolas"/>
              </a:rPr>
              <a:t>(model, xy_int, xy_bc, E_bc, k, lam):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09360" y="1783080"/>
            <a:ext cx="542239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50" b="0">
                <a:solidFill>
                  <a:srgbClr val="FFFFFF"/>
                </a:solidFill>
                <a:latin typeface="Consolas"/>
              </a:rPr>
              <a:t>    L_data</a:t>
            </a:r>
            <a:r>
              <a:rPr sz="1150" b="0">
                <a:solidFill>
                  <a:srgbClr val="FFFFFF"/>
                </a:solidFill>
                <a:latin typeface="Consolas"/>
              </a:rPr>
              <a:t> = MSE(model(xy_bc), E_bc)</a:t>
            </a:r>
            <a:r>
              <a:rPr sz="1150" b="0">
                <a:solidFill>
                  <a:srgbClr val="546E7A"/>
                </a:solidFill>
                <a:latin typeface="Consolas"/>
              </a:rPr>
              <a:t>     # frontera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09360" y="2167128"/>
            <a:ext cx="542239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50" b="0">
                <a:solidFill>
                  <a:srgbClr val="FFFFFF"/>
                </a:solidFill>
                <a:latin typeface="Consolas"/>
              </a:rPr>
              <a:t>    k_sq </a:t>
            </a:r>
            <a:r>
              <a:rPr sz="1150" b="0">
                <a:solidFill>
                  <a:srgbClr val="FFFFFF"/>
                </a:solidFill>
                <a:latin typeface="Consolas"/>
              </a:rPr>
              <a:t> = float(k)**</a:t>
            </a:r>
            <a:r>
              <a:rPr sz="1150" b="0">
                <a:solidFill>
                  <a:srgbClr val="F78C6C"/>
                </a:solidFill>
                <a:latin typeface="Consolas"/>
              </a:rPr>
              <a:t>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09360" y="2551176"/>
            <a:ext cx="542239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50" b="0">
                <a:solidFill>
                  <a:srgbClr val="546E7A"/>
                </a:solidFill>
                <a:latin typeface="Consolas"/>
              </a:rPr>
              <a:t>    # Residuo de Helmholtz via autodiferenciación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09360" y="2935224"/>
            <a:ext cx="542239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50" b="0">
                <a:solidFill>
                  <a:srgbClr val="FFFFFF"/>
                </a:solidFill>
                <a:latin typeface="Consolas"/>
              </a:rPr>
              <a:t>    E_xx+E_yy + k_sq*E</a:t>
            </a:r>
            <a:r>
              <a:rPr sz="1150" b="0">
                <a:solidFill>
                  <a:srgbClr val="C3E88D"/>
                </a:solidFill>
                <a:latin typeface="Consolas"/>
              </a:rPr>
              <a:t> == 0</a:t>
            </a:r>
            <a:r>
              <a:rPr sz="1150" b="0">
                <a:solidFill>
                  <a:srgbClr val="546E7A"/>
                </a:solidFill>
                <a:latin typeface="Consolas"/>
              </a:rPr>
              <a:t>  # ← L_física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09360" y="3319272"/>
            <a:ext cx="542239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50" b="0">
                <a:solidFill>
                  <a:srgbClr val="C792EA"/>
                </a:solidFill>
                <a:latin typeface="Consolas"/>
              </a:rPr>
              <a:t>    return</a:t>
            </a:r>
            <a:r>
              <a:rPr sz="1150" b="0">
                <a:solidFill>
                  <a:srgbClr val="FFFFFF"/>
                </a:solidFill>
                <a:latin typeface="Consolas"/>
              </a:rPr>
              <a:t> L_data + </a:t>
            </a:r>
            <a:r>
              <a:rPr sz="1150" b="0">
                <a:solidFill>
                  <a:srgbClr val="F78C6C"/>
                </a:solidFill>
                <a:latin typeface="Consolas"/>
              </a:rPr>
              <a:t>lam</a:t>
            </a:r>
            <a:r>
              <a:rPr sz="1150" b="0">
                <a:solidFill>
                  <a:srgbClr val="FFFFFF"/>
                </a:solidFill>
                <a:latin typeface="Consolas"/>
              </a:rPr>
              <a:t> * L_fisica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126480" y="3840480"/>
            <a:ext cx="5788152" cy="2496312"/>
          </a:xfrm>
          <a:prstGeom prst="rect">
            <a:avLst/>
          </a:prstGeom>
          <a:solidFill>
            <a:srgbClr val="080C18"/>
          </a:solidFill>
          <a:ln w="12700">
            <a:solidFill>
              <a:srgbClr val="2A3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309360" y="3977640"/>
            <a:ext cx="542239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50" b="0">
                <a:solidFill>
                  <a:srgbClr val="546E7A"/>
                </a:solidFill>
                <a:latin typeface="Consolas"/>
              </a:rPr>
              <a:t># Fase 1 — Adam: exploración global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309360" y="4361688"/>
            <a:ext cx="542239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50" b="0">
                <a:solidFill>
                  <a:srgbClr val="C792EA"/>
                </a:solidFill>
                <a:latin typeface="Consolas"/>
              </a:rPr>
              <a:t>for</a:t>
            </a:r>
            <a:r>
              <a:rPr sz="1150" b="0">
                <a:solidFill>
                  <a:srgbClr val="FFFFFF"/>
                </a:solidFill>
                <a:latin typeface="Consolas"/>
              </a:rPr>
              <a:t> epoch </a:t>
            </a:r>
            <a:r>
              <a:rPr sz="1150" b="0">
                <a:solidFill>
                  <a:srgbClr val="C792EA"/>
                </a:solidFill>
                <a:latin typeface="Consolas"/>
              </a:rPr>
              <a:t>in</a:t>
            </a:r>
            <a:r>
              <a:rPr sz="1150" b="0">
                <a:solidFill>
                  <a:srgbClr val="FFFFFF"/>
                </a:solidFill>
                <a:latin typeface="Consolas"/>
              </a:rPr>
              <a:t> range(</a:t>
            </a:r>
            <a:r>
              <a:rPr sz="1150" b="0">
                <a:solidFill>
                  <a:srgbClr val="F78C6C"/>
                </a:solidFill>
                <a:latin typeface="Consolas"/>
              </a:rPr>
              <a:t>15000</a:t>
            </a:r>
            <a:r>
              <a:rPr sz="1150" b="0">
                <a:solidFill>
                  <a:srgbClr val="FFFFFF"/>
                </a:solidFill>
                <a:latin typeface="Consolas"/>
              </a:rPr>
              <a:t>):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309360" y="4745736"/>
            <a:ext cx="542239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50" b="0">
                <a:solidFill>
                  <a:srgbClr val="FFFFFF"/>
                </a:solidFill>
                <a:latin typeface="Consolas"/>
              </a:rPr>
              <a:t>    loss = pinn_loss_2d(model, xy_int, xy_bc, E_bc, K, </a:t>
            </a:r>
            <a:r>
              <a:rPr sz="1150" b="0">
                <a:solidFill>
                  <a:srgbClr val="F78C6C"/>
                </a:solidFill>
                <a:latin typeface="Consolas"/>
              </a:rPr>
              <a:t>0.1</a:t>
            </a:r>
            <a:r>
              <a:rPr sz="1150" b="0">
                <a:solidFill>
                  <a:srgbClr val="FFFFFF"/>
                </a:solidFill>
                <a:latin typeface="Consolas"/>
              </a:rPr>
              <a:t>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309360" y="5129784"/>
            <a:ext cx="542239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50" b="0">
                <a:solidFill>
                  <a:srgbClr val="FFFFFF"/>
                </a:solidFill>
                <a:latin typeface="Consolas"/>
              </a:rPr>
              <a:t>    loss.backward(); optimizer.step()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309360" y="5513832"/>
            <a:ext cx="542239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50" b="0">
                <a:solidFill>
                  <a:srgbClr val="FFFFFF"/>
                </a:solidFill>
                <a:latin typeface="Consolas"/>
              </a:rPr>
              <a:t> 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309360" y="5897880"/>
            <a:ext cx="542239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50" b="0">
                <a:solidFill>
                  <a:srgbClr val="546E7A"/>
                </a:solidFill>
                <a:latin typeface="Consolas"/>
              </a:rPr>
              <a:t># Fase 2 — L-BFGS: refinamiento con curvatura 2°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309360" y="6281928"/>
            <a:ext cx="542239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50" b="0">
                <a:solidFill>
                  <a:srgbClr val="C792EA"/>
                </a:solidFill>
                <a:latin typeface="Consolas"/>
              </a:rPr>
              <a:t>def </a:t>
            </a:r>
            <a:r>
              <a:rPr sz="1150" b="0">
                <a:solidFill>
                  <a:srgbClr val="82AAFF"/>
                </a:solidFill>
                <a:latin typeface="Consolas"/>
              </a:rPr>
              <a:t>closure</a:t>
            </a:r>
            <a:r>
              <a:rPr sz="1150" b="0">
                <a:solidFill>
                  <a:srgbClr val="FFFFFF"/>
                </a:solidFill>
                <a:latin typeface="Consolas"/>
              </a:rPr>
              <a:t>():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309360" y="6665976"/>
            <a:ext cx="542239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50" b="0">
                <a:solidFill>
                  <a:srgbClr val="FFFFFF"/>
                </a:solidFill>
                <a:latin typeface="Consolas"/>
              </a:rPr>
              <a:t>    loss = pinn_loss_2d(...)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309360" y="7050024"/>
            <a:ext cx="542239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50" b="0">
                <a:solidFill>
                  <a:srgbClr val="FFFFFF"/>
                </a:solidFill>
                <a:latin typeface="Consolas"/>
              </a:rPr>
              <a:t>    loss.backward(); return loss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309360" y="7434072"/>
            <a:ext cx="542239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50" b="0">
                <a:solidFill>
                  <a:srgbClr val="82AAFF"/>
                </a:solidFill>
                <a:latin typeface="Consolas"/>
              </a:rPr>
              <a:t>lbfgs.step(closure)</a:t>
            </a:r>
            <a:r>
              <a:rPr sz="1150" b="0">
                <a:solidFill>
                  <a:srgbClr val="546E7A"/>
                </a:solidFill>
                <a:latin typeface="Consolas"/>
              </a:rPr>
              <a:t>  # strong Wolfe line search</a:t>
            </a:r>
          </a:p>
        </p:txBody>
      </p:sp>
      <p:sp>
        <p:nvSpPr>
          <p:cNvPr id="41" name="Rectangle 40"/>
          <p:cNvSpPr/>
          <p:nvPr/>
        </p:nvSpPr>
        <p:spPr>
          <a:xfrm>
            <a:off x="274320" y="6473952"/>
            <a:ext cx="2834640" cy="320040"/>
          </a:xfrm>
          <a:prstGeom prst="rect">
            <a:avLst/>
          </a:prstGeom>
          <a:solidFill>
            <a:srgbClr val="141928"/>
          </a:solidFill>
          <a:ln w="12700">
            <a:solidFill>
              <a:srgbClr val="2A3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365760" y="6492240"/>
            <a:ext cx="2651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0B4D8"/>
                </a:solidFill>
                <a:latin typeface="Calibri"/>
              </a:rPr>
              <a:t>66,690  ·  Parámetros</a:t>
            </a:r>
          </a:p>
        </p:txBody>
      </p:sp>
      <p:sp>
        <p:nvSpPr>
          <p:cNvPr id="43" name="Rectangle 42"/>
          <p:cNvSpPr/>
          <p:nvPr/>
        </p:nvSpPr>
        <p:spPr>
          <a:xfrm>
            <a:off x="3200400" y="6473952"/>
            <a:ext cx="2834640" cy="320040"/>
          </a:xfrm>
          <a:prstGeom prst="rect">
            <a:avLst/>
          </a:prstGeom>
          <a:solidFill>
            <a:srgbClr val="141928"/>
          </a:solidFill>
          <a:ln w="12700">
            <a:solidFill>
              <a:srgbClr val="2A3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3291840" y="6492240"/>
            <a:ext cx="2651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0A500"/>
                </a:solidFill>
                <a:latin typeface="Calibri"/>
              </a:rPr>
              <a:t>Adam→L-BFGS  ·  Estrategia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126480" y="6473952"/>
            <a:ext cx="2834640" cy="320040"/>
          </a:xfrm>
          <a:prstGeom prst="rect">
            <a:avLst/>
          </a:prstGeom>
          <a:solidFill>
            <a:srgbClr val="141928"/>
          </a:solidFill>
          <a:ln w="12700">
            <a:solidFill>
              <a:srgbClr val="2A3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217920" y="6492240"/>
            <a:ext cx="2651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B700"/>
                </a:solidFill>
                <a:latin typeface="Calibri"/>
              </a:rPr>
              <a:t>λ=0.1  ·  Peso física</a:t>
            </a:r>
          </a:p>
        </p:txBody>
      </p:sp>
      <p:sp>
        <p:nvSpPr>
          <p:cNvPr id="47" name="Rectangle 46"/>
          <p:cNvSpPr/>
          <p:nvPr/>
        </p:nvSpPr>
        <p:spPr>
          <a:xfrm>
            <a:off x="9052560" y="6473952"/>
            <a:ext cx="2834640" cy="320040"/>
          </a:xfrm>
          <a:prstGeom prst="rect">
            <a:avLst/>
          </a:prstGeom>
          <a:solidFill>
            <a:srgbClr val="141928"/>
          </a:solidFill>
          <a:ln w="12700">
            <a:solidFill>
              <a:srgbClr val="2A3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9144000" y="6492240"/>
            <a:ext cx="2651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0C87A"/>
                </a:solidFill>
                <a:latin typeface="Calibri"/>
              </a:rPr>
              <a:t>float(k)²  ·  Fix dtype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D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0"/>
          </a:xfrm>
          <a:prstGeom prst="rect">
            <a:avLst/>
          </a:prstGeom>
          <a:solidFill>
            <a:srgbClr val="080B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36576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0A500"/>
                </a:solidFill>
                <a:latin typeface="Calibri"/>
              </a:rPr>
              <a:t>Coloquio de Avance · UJAT ·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292608"/>
            <a:ext cx="116128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NB01: Validación 1D — Helmholtz Analítico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960120"/>
            <a:ext cx="11612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1">
                <a:solidFill>
                  <a:srgbClr val="B0B8CC"/>
                </a:solidFill>
                <a:latin typeface="Calibri"/>
              </a:rPr>
              <a:t>E_exacta(x) = cos(kx),  k = 2π,  x ∈ [0,1]  →  SIREN 5×64, ω₀=1.0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508760"/>
            <a:ext cx="2834640" cy="1234440"/>
          </a:xfrm>
          <a:prstGeom prst="rect">
            <a:avLst/>
          </a:prstGeom>
          <a:solidFill>
            <a:srgbClr val="141928"/>
          </a:solidFill>
          <a:ln w="25400">
            <a:solidFill>
              <a:srgbClr val="00C8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1554480"/>
            <a:ext cx="283464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00C87A"/>
                </a:solidFill>
                <a:latin typeface="Calibri"/>
              </a:rPr>
              <a:t>0.006%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2240280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B0B8CC"/>
                </a:solidFill>
                <a:latin typeface="Calibri"/>
              </a:rPr>
              <a:t>Error L²</a:t>
            </a:r>
          </a:p>
        </p:txBody>
      </p:sp>
      <p:sp>
        <p:nvSpPr>
          <p:cNvPr id="9" name="Rectangle 8"/>
          <p:cNvSpPr/>
          <p:nvPr/>
        </p:nvSpPr>
        <p:spPr>
          <a:xfrm>
            <a:off x="3264408" y="1508760"/>
            <a:ext cx="2834640" cy="1234440"/>
          </a:xfrm>
          <a:prstGeom prst="rect">
            <a:avLst/>
          </a:prstGeom>
          <a:solidFill>
            <a:srgbClr val="141928"/>
          </a:solidFill>
          <a:ln w="25400">
            <a:solidFill>
              <a:srgbClr val="00C8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264408" y="1554480"/>
            <a:ext cx="283464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00C87A"/>
                </a:solidFill>
                <a:latin typeface="Calibri"/>
              </a:rPr>
              <a:t>1.000000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64408" y="2240280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B0B8CC"/>
                </a:solidFill>
                <a:latin typeface="Calibri"/>
              </a:rPr>
              <a:t>R²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54496" y="1508760"/>
            <a:ext cx="2834640" cy="1234440"/>
          </a:xfrm>
          <a:prstGeom prst="rect">
            <a:avLst/>
          </a:prstGeom>
          <a:solidFill>
            <a:srgbClr val="141928"/>
          </a:solidFill>
          <a:ln w="25400">
            <a:solidFill>
              <a:srgbClr val="FFB7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54496" y="1554480"/>
            <a:ext cx="283464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FFB700"/>
                </a:solidFill>
                <a:latin typeface="Calibri"/>
              </a:rPr>
              <a:t>×415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54496" y="2240280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B0B8CC"/>
                </a:solidFill>
                <a:latin typeface="Calibri"/>
              </a:rPr>
              <a:t>vs. Schoder 2024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244584" y="1508760"/>
            <a:ext cx="2834640" cy="1234440"/>
          </a:xfrm>
          <a:prstGeom prst="rect">
            <a:avLst/>
          </a:prstGeom>
          <a:solidFill>
            <a:srgbClr val="141928"/>
          </a:solidFill>
          <a:ln w="2540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244584" y="1554480"/>
            <a:ext cx="283464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00B4D8"/>
                </a:solidFill>
                <a:latin typeface="Calibri"/>
              </a:rPr>
              <a:t>251 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244584" y="2240280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B0B8CC"/>
                </a:solidFill>
                <a:latin typeface="Calibri"/>
              </a:rPr>
              <a:t>Tiempo total</a:t>
            </a:r>
          </a:p>
        </p:txBody>
      </p:sp>
      <p:pic>
        <p:nvPicPr>
          <p:cNvPr id="18" name="Picture 17" descr="resultados_pinn_1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2834640"/>
            <a:ext cx="5303520" cy="3768496"/>
          </a:xfrm>
          <a:prstGeom prst="rect">
            <a:avLst/>
          </a:prstGeom>
        </p:spPr>
      </p:pic>
      <p:sp>
        <p:nvSpPr>
          <p:cNvPr id="19" name="Rectangle 18"/>
          <p:cNvSpPr/>
          <p:nvPr/>
        </p:nvSpPr>
        <p:spPr>
          <a:xfrm>
            <a:off x="5852160" y="2834640"/>
            <a:ext cx="6035040" cy="3657600"/>
          </a:xfrm>
          <a:prstGeom prst="rect">
            <a:avLst/>
          </a:prstGeom>
          <a:solidFill>
            <a:srgbClr val="141928"/>
          </a:solidFill>
          <a:ln w="19050">
            <a:solidFill>
              <a:srgbClr val="2A3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035040" y="2926080"/>
            <a:ext cx="5669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Métricas clave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035040" y="3383280"/>
            <a:ext cx="3017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B8CC"/>
                </a:solidFill>
                <a:latin typeface="Calibri"/>
              </a:rPr>
              <a:t>MSE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0" y="3383280"/>
            <a:ext cx="2560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 i="0">
                <a:solidFill>
                  <a:srgbClr val="B0B8CC"/>
                </a:solidFill>
                <a:latin typeface="Calibri"/>
              </a:rPr>
              <a:t>1.5×10⁻⁹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035040" y="3886200"/>
            <a:ext cx="3017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B8CC"/>
                </a:solidFill>
                <a:latin typeface="Calibri"/>
              </a:rPr>
              <a:t>MAE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0" y="3886200"/>
            <a:ext cx="2560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 i="0">
                <a:solidFill>
                  <a:srgbClr val="B0B8CC"/>
                </a:solidFill>
                <a:latin typeface="Calibri"/>
              </a:rPr>
              <a:t>3.50×10⁻⁵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035040" y="4389120"/>
            <a:ext cx="3017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B8CC"/>
                </a:solidFill>
                <a:latin typeface="Calibri"/>
              </a:rPr>
              <a:t>Pearson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44000" y="4389120"/>
            <a:ext cx="2560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 i="0">
                <a:solidFill>
                  <a:srgbClr val="00C87A"/>
                </a:solidFill>
                <a:latin typeface="Calibri"/>
              </a:rPr>
              <a:t>1.000000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035040" y="4892040"/>
            <a:ext cx="3017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B8CC"/>
                </a:solidFill>
                <a:latin typeface="Calibri"/>
              </a:rPr>
              <a:t>L-BFGS iters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44000" y="4892040"/>
            <a:ext cx="2560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 i="0">
                <a:solidFill>
                  <a:srgbClr val="B0B8CC"/>
                </a:solidFill>
                <a:latin typeface="Calibri"/>
              </a:rPr>
              <a:t>202/500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852160" y="5349240"/>
            <a:ext cx="6035040" cy="1097280"/>
          </a:xfrm>
          <a:prstGeom prst="rect">
            <a:avLst/>
          </a:prstGeom>
          <a:solidFill>
            <a:srgbClr val="2008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035040" y="5413248"/>
            <a:ext cx="5669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4444"/>
                </a:solidFill>
                <a:latin typeface="Calibri"/>
              </a:rPr>
              <a:t>Schoder &amp; Kraxberger (2024)  →  L² = 2.49%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852160" y="6492240"/>
            <a:ext cx="6035040" cy="347472"/>
          </a:xfrm>
          <a:prstGeom prst="rect">
            <a:avLst/>
          </a:prstGeom>
          <a:solidFill>
            <a:srgbClr val="0218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035040" y="6510528"/>
            <a:ext cx="5669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C87A"/>
                </a:solidFill>
                <a:latin typeface="Calibri"/>
              </a:rPr>
              <a:t>PINN-SIREN  →  L² = 0.006%   (×415 de mejora)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D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0"/>
          </a:xfrm>
          <a:prstGeom prst="rect">
            <a:avLst/>
          </a:prstGeom>
          <a:solidFill>
            <a:srgbClr val="080B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36576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0A500"/>
                </a:solidFill>
                <a:latin typeface="Calibri"/>
              </a:rPr>
              <a:t>Coloquio de Avance · UJAT ·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292608"/>
            <a:ext cx="116128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NB02: Validación 2D — Campo Complejo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960120"/>
            <a:ext cx="11612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1">
                <a:solidFill>
                  <a:srgbClr val="B0B8CC"/>
                </a:solidFill>
                <a:latin typeface="Calibri"/>
              </a:rPr>
              <a:t>E = exp(i(k_x·x + k_y·y)),  k_x=k_y=k/√2,  SIREN 5×128, LHS N_c=3000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463040"/>
            <a:ext cx="2834640" cy="1143000"/>
          </a:xfrm>
          <a:prstGeom prst="rect">
            <a:avLst/>
          </a:prstGeom>
          <a:solidFill>
            <a:srgbClr val="141928"/>
          </a:solidFill>
          <a:ln w="25400">
            <a:solidFill>
              <a:srgbClr val="00C8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1508760"/>
            <a:ext cx="28346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00C87A"/>
                </a:solidFill>
                <a:latin typeface="Calibri"/>
              </a:rPr>
              <a:t>0.171%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2103120"/>
            <a:ext cx="2834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B0B8CC"/>
                </a:solidFill>
                <a:latin typeface="Calibri"/>
              </a:rPr>
              <a:t>L² Promedio</a:t>
            </a:r>
          </a:p>
        </p:txBody>
      </p:sp>
      <p:sp>
        <p:nvSpPr>
          <p:cNvPr id="9" name="Rectangle 8"/>
          <p:cNvSpPr/>
          <p:nvPr/>
        </p:nvSpPr>
        <p:spPr>
          <a:xfrm>
            <a:off x="3264408" y="1463040"/>
            <a:ext cx="2834640" cy="1143000"/>
          </a:xfrm>
          <a:prstGeom prst="rect">
            <a:avLst/>
          </a:prstGeom>
          <a:solidFill>
            <a:srgbClr val="141928"/>
          </a:solidFill>
          <a:ln w="2540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264408" y="1508760"/>
            <a:ext cx="28346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00B4D8"/>
                </a:solidFill>
                <a:latin typeface="Calibri"/>
              </a:rPr>
              <a:t>0.214%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64408" y="2103120"/>
            <a:ext cx="2834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B0B8CC"/>
                </a:solidFill>
                <a:latin typeface="Calibri"/>
              </a:rPr>
              <a:t>L² E_real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54496" y="1463040"/>
            <a:ext cx="2834640" cy="1143000"/>
          </a:xfrm>
          <a:prstGeom prst="rect">
            <a:avLst/>
          </a:prstGeom>
          <a:solidFill>
            <a:srgbClr val="141928"/>
          </a:solidFill>
          <a:ln w="2540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54496" y="1508760"/>
            <a:ext cx="28346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00B4D8"/>
                </a:solidFill>
                <a:latin typeface="Calibri"/>
              </a:rPr>
              <a:t>0.127%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54496" y="2103120"/>
            <a:ext cx="2834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B0B8CC"/>
                </a:solidFill>
                <a:latin typeface="Calibri"/>
              </a:rPr>
              <a:t>L² E_imag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244584" y="1463040"/>
            <a:ext cx="2834640" cy="1143000"/>
          </a:xfrm>
          <a:prstGeom prst="rect">
            <a:avLst/>
          </a:prstGeom>
          <a:solidFill>
            <a:srgbClr val="141928"/>
          </a:solidFill>
          <a:ln w="25400">
            <a:solidFill>
              <a:srgbClr val="FFB7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244584" y="1508760"/>
            <a:ext cx="28346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FFB700"/>
                </a:solidFill>
                <a:latin typeface="Calibri"/>
              </a:rPr>
              <a:t>×11.2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244584" y="2103120"/>
            <a:ext cx="2834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B0B8CC"/>
                </a:solidFill>
                <a:latin typeface="Calibri"/>
              </a:rPr>
              <a:t>vs. Schoder 2D</a:t>
            </a:r>
          </a:p>
        </p:txBody>
      </p:sp>
      <p:pic>
        <p:nvPicPr>
          <p:cNvPr id="18" name="Picture 17" descr="resultados_pinn_2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2606040"/>
            <a:ext cx="4663440" cy="4106133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5166360" y="2606040"/>
            <a:ext cx="6720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B700"/>
                </a:solidFill>
                <a:latin typeface="Calibri"/>
              </a:rPr>
              <a:t>Convergencia Adam → L-BFGS (curva de pérdida)</a:t>
            </a:r>
          </a:p>
        </p:txBody>
      </p:sp>
      <p:pic>
        <p:nvPicPr>
          <p:cNvPr id="20" name="Picture 19" descr="metricas_adicionales_2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66360" y="3035808"/>
            <a:ext cx="6720840" cy="3852412"/>
          </a:xfrm>
          <a:prstGeom prst="rect">
            <a:avLst/>
          </a:prstGeom>
        </p:spPr>
      </p:pic>
      <p:sp>
        <p:nvSpPr>
          <p:cNvPr id="21" name="Rectangle 20"/>
          <p:cNvSpPr/>
          <p:nvPr/>
        </p:nvSpPr>
        <p:spPr>
          <a:xfrm>
            <a:off x="274320" y="6510528"/>
            <a:ext cx="11612880" cy="347472"/>
          </a:xfrm>
          <a:prstGeom prst="rect">
            <a:avLst/>
          </a:prstGeom>
          <a:solidFill>
            <a:srgbClr val="141928"/>
          </a:solidFill>
          <a:ln w="19050">
            <a:solidFill>
              <a:srgbClr val="2A3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7200" y="6537960"/>
            <a:ext cx="11247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0C87A"/>
                </a:solidFill>
                <a:latin typeface="Calibri"/>
              </a:rPr>
              <a:t>Multi-seed {42,123,777}:  L²=0.155±0.020%   |   R²&gt;0.9999   |   Adam 8,737 ep. + L-BFGS 1,035 it.   |   299 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D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0"/>
          </a:xfrm>
          <a:prstGeom prst="rect">
            <a:avLst/>
          </a:prstGeom>
          <a:solidFill>
            <a:srgbClr val="080B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36576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0A500"/>
                </a:solidFill>
                <a:latin typeface="Calibri"/>
              </a:rPr>
              <a:t>Coloquio de Avance · UJAT ·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292608"/>
            <a:ext cx="116128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Ablación del Peso de Física λ_phys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960120"/>
            <a:ext cx="11612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B0B8CC"/>
                </a:solidFill>
                <a:latin typeface="Calibri"/>
              </a:rPr>
              <a:t>¿Cómo afecta el balance datos/física al error L²?  —  SIREN 5×128, SEED=42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63040" y="1554480"/>
            <a:ext cx="2011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0A500"/>
                </a:solidFill>
                <a:latin typeface="Calibri"/>
              </a:rPr>
              <a:t>λ_phys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0" y="1554480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0A500"/>
                </a:solidFill>
                <a:latin typeface="Calibri"/>
              </a:rPr>
              <a:t>Error L² prom. (%)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040880" y="1554480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0A500"/>
                </a:solidFill>
                <a:latin typeface="Calibri"/>
              </a:rPr>
              <a:t>Converge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052560" y="1554480"/>
            <a:ext cx="3017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0A500"/>
                </a:solidFill>
                <a:latin typeface="Calibri"/>
              </a:rPr>
              <a:t>Observación</a:t>
            </a:r>
          </a:p>
        </p:txBody>
      </p:sp>
      <p:sp>
        <p:nvSpPr>
          <p:cNvPr id="10" name="Rectangle 9"/>
          <p:cNvSpPr/>
          <p:nvPr/>
        </p:nvSpPr>
        <p:spPr>
          <a:xfrm>
            <a:off x="1097280" y="2148840"/>
            <a:ext cx="10789920" cy="1143000"/>
          </a:xfrm>
          <a:prstGeom prst="rect">
            <a:avLst/>
          </a:prstGeom>
          <a:solidFill>
            <a:srgbClr val="141928"/>
          </a:solidFill>
          <a:ln w="19050">
            <a:solidFill>
              <a:srgbClr val="2A3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463040" y="2404872"/>
            <a:ext cx="2011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B0B8CC"/>
                </a:solidFill>
                <a:latin typeface="Calibri"/>
              </a:rPr>
              <a:t>0.01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0" y="2404872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00B4D8"/>
                </a:solidFill>
                <a:latin typeface="Calibri"/>
              </a:rPr>
              <a:t>0.163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040880" y="2404872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00C87A"/>
                </a:solidFill>
                <a:latin typeface="Calibri"/>
              </a:rPr>
              <a:t>Sí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052560" y="2404872"/>
            <a:ext cx="2834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0B8CC"/>
                </a:solidFill>
                <a:latin typeface="Calibri"/>
              </a:rPr>
              <a:t>Física subponderada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097280" y="3474720"/>
            <a:ext cx="10789920" cy="1143000"/>
          </a:xfrm>
          <a:prstGeom prst="rect">
            <a:avLst/>
          </a:prstGeom>
          <a:solidFill>
            <a:srgbClr val="102010"/>
          </a:solidFill>
          <a:ln w="31750">
            <a:solidFill>
              <a:srgbClr val="F0A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463040" y="3730752"/>
            <a:ext cx="2011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F0A500"/>
                </a:solidFill>
                <a:latin typeface="Calibri"/>
              </a:rPr>
              <a:t>0.1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7600" y="3730752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00C87A"/>
                </a:solidFill>
                <a:latin typeface="Calibri"/>
              </a:rPr>
              <a:t>0.171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040880" y="3730752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00C87A"/>
                </a:solidFill>
                <a:latin typeface="Calibri"/>
              </a:rPr>
              <a:t>Sí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052560" y="3730752"/>
            <a:ext cx="2834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0A500"/>
                </a:solidFill>
                <a:latin typeface="Calibri"/>
              </a:rPr>
              <a:t>✦ Configuración óptima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097280" y="4800600"/>
            <a:ext cx="10789920" cy="1143000"/>
          </a:xfrm>
          <a:prstGeom prst="rect">
            <a:avLst/>
          </a:prstGeom>
          <a:solidFill>
            <a:srgbClr val="200808"/>
          </a:solidFill>
          <a:ln w="19050">
            <a:solidFill>
              <a:srgbClr val="F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463040" y="5056632"/>
            <a:ext cx="2011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B0B8CC"/>
                </a:solidFill>
                <a:latin typeface="Calibri"/>
              </a:rPr>
              <a:t>1.0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57600" y="5056632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FF4444"/>
                </a:solidFill>
                <a:latin typeface="Calibri"/>
              </a:rPr>
              <a:t>&gt;5.0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5056632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4444"/>
                </a:solidFill>
                <a:latin typeface="Calibri"/>
              </a:rPr>
              <a:t>No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052560" y="5056632"/>
            <a:ext cx="2834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4444"/>
                </a:solidFill>
                <a:latin typeface="Calibri"/>
              </a:rPr>
              <a:t>No converge — gradiente explota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74320" y="6492240"/>
            <a:ext cx="11612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1">
                <a:solidFill>
                  <a:srgbClr val="B0B8CC"/>
                </a:solidFill>
                <a:latin typeface="Calibri"/>
              </a:rPr>
              <a:t>λ=1.0: dos residuos (real+imag) duplican el gradiente de física → explosión en float32.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D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0"/>
          </a:xfrm>
          <a:prstGeom prst="rect">
            <a:avLst/>
          </a:prstGeom>
          <a:solidFill>
            <a:srgbClr val="080B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36576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0A500"/>
                </a:solidFill>
                <a:latin typeface="Calibri"/>
              </a:rPr>
              <a:t>Coloquio de Avance · UJAT ·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292608"/>
            <a:ext cx="116128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NB03: Simulación de Speckle Óptico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960120"/>
            <a:ext cx="11612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1">
                <a:solidFill>
                  <a:srgbClr val="B0B8CC"/>
                </a:solidFill>
                <a:latin typeface="Calibri"/>
              </a:rPr>
              <a:t>Frontera: φ(x)~U(0,2π) en y=0  ·  Bordes libres en x=0,x=1,y=1  ·  SIREN 5×128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508760"/>
            <a:ext cx="3703320" cy="2103120"/>
          </a:xfrm>
          <a:prstGeom prst="rect">
            <a:avLst/>
          </a:prstGeom>
          <a:solidFill>
            <a:srgbClr val="141928"/>
          </a:solidFill>
          <a:ln w="25400">
            <a:solidFill>
              <a:srgbClr val="00C8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1600200"/>
            <a:ext cx="3703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00C87A"/>
                </a:solidFill>
                <a:latin typeface="Calibri"/>
              </a:rPr>
              <a:t>C = 1.025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2286000"/>
            <a:ext cx="3703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B0B8CC"/>
                </a:solidFill>
                <a:latin typeface="Calibri"/>
              </a:rPr>
              <a:t>σ_I/⟨I⟩  →  |C−1|=0.025 &lt; 0.1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2651760"/>
            <a:ext cx="37033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1">
                <a:solidFill>
                  <a:srgbClr val="FFFFFF"/>
                </a:solidFill>
                <a:latin typeface="Calibri"/>
              </a:rPr>
              <a:t>✅ Goodman cumplido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97680" y="1508760"/>
            <a:ext cx="3703320" cy="2103120"/>
          </a:xfrm>
          <a:prstGeom prst="rect">
            <a:avLst/>
          </a:prstGeom>
          <a:solidFill>
            <a:srgbClr val="141928"/>
          </a:solidFill>
          <a:ln w="2540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297680" y="1600200"/>
            <a:ext cx="3703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00B4D8"/>
                </a:solidFill>
                <a:latin typeface="Calibri"/>
              </a:rPr>
              <a:t>0.135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97680" y="2286000"/>
            <a:ext cx="3703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B0B8CC"/>
                </a:solidFill>
                <a:latin typeface="Calibri"/>
              </a:rPr>
              <a:t>Fracción I &gt; 2⟨I⟩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97680" y="2651760"/>
            <a:ext cx="37033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1">
                <a:solidFill>
                  <a:srgbClr val="FFFFFF"/>
                </a:solidFill>
                <a:latin typeface="Calibri"/>
              </a:rPr>
              <a:t>Teórico e⁻²≈0.1353 ✅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229600" y="1508760"/>
            <a:ext cx="3703320" cy="2103120"/>
          </a:xfrm>
          <a:prstGeom prst="rect">
            <a:avLst/>
          </a:prstGeom>
          <a:solidFill>
            <a:srgbClr val="141928"/>
          </a:solidFill>
          <a:ln w="25400">
            <a:solidFill>
              <a:srgbClr val="FFB7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0" y="1600200"/>
            <a:ext cx="3703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FFB700"/>
                </a:solidFill>
                <a:latin typeface="Calibri"/>
              </a:rPr>
              <a:t>p &lt; 0.0001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0" y="2286000"/>
            <a:ext cx="3703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B0B8CC"/>
                </a:solidFill>
                <a:latin typeface="Calibri"/>
              </a:rPr>
              <a:t>KS p-valor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0" y="2651760"/>
            <a:ext cx="37033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1">
                <a:solidFill>
                  <a:srgbClr val="FFFFFF"/>
                </a:solidFill>
                <a:latin typeface="Calibri"/>
              </a:rPr>
              <a:t>⚠ Alta potencia N=10,000</a:t>
            </a:r>
          </a:p>
        </p:txBody>
      </p:sp>
      <p:pic>
        <p:nvPicPr>
          <p:cNvPr id="18" name="Picture 17" descr="resultados_speckle_nb0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3703320"/>
            <a:ext cx="5029200" cy="4356375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274320" y="6400800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1">
                <a:solidFill>
                  <a:srgbClr val="B0B8CC"/>
                </a:solidFill>
                <a:latin typeface="Calibri"/>
              </a:rPr>
              <a:t>Patrón I(x,y) = |E|²  —  fase rugosa φ~U(0,2π)</a:t>
            </a:r>
          </a:p>
        </p:txBody>
      </p:sp>
      <p:pic>
        <p:nvPicPr>
          <p:cNvPr id="20" name="Picture 19" descr="estadistica_speckle_nb0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77840" y="3703320"/>
            <a:ext cx="6400800" cy="3542657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5577840" y="6400800"/>
            <a:ext cx="6400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1">
                <a:solidFill>
                  <a:srgbClr val="B0B8CC"/>
                </a:solidFill>
                <a:latin typeface="Calibri"/>
              </a:rPr>
              <a:t>Histograma p(I) vs. exponencial teórica  +  CDF  —  C=1.025 ✅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D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0"/>
          </a:xfrm>
          <a:prstGeom prst="rect">
            <a:avLst/>
          </a:prstGeom>
          <a:solidFill>
            <a:srgbClr val="080B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36576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0A500"/>
                </a:solidFill>
                <a:latin typeface="Calibri"/>
              </a:rPr>
              <a:t>Coloquio de Avance · UJAT ·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292608"/>
            <a:ext cx="116128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Resumen de Avance — Estado del Proyecto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051560"/>
            <a:ext cx="11612880" cy="1188720"/>
          </a:xfrm>
          <a:prstGeom prst="rect">
            <a:avLst/>
          </a:prstGeom>
          <a:solidFill>
            <a:srgbClr val="141928"/>
          </a:solidFill>
          <a:ln w="19050">
            <a:solidFill>
              <a:srgbClr val="00C8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74320" y="1051560"/>
            <a:ext cx="1097280" cy="1188720"/>
          </a:xfrm>
          <a:prstGeom prst="rect">
            <a:avLst/>
          </a:prstGeom>
          <a:solidFill>
            <a:srgbClr val="00C8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1371600"/>
            <a:ext cx="1097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00000"/>
                </a:solidFill>
                <a:latin typeface="Calibri"/>
              </a:rPr>
              <a:t>NB01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08760" y="1115568"/>
            <a:ext cx="6400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Helmholtz 1D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08760" y="1572767"/>
            <a:ext cx="6400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B8CC"/>
                </a:solidFill>
                <a:latin typeface="Calibri"/>
              </a:rPr>
              <a:t>L²=0.006%  R²=1.000000  ×415 vs SOTA
Arquitectura SIREN 5×64, 251 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0" y="132588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0C87A"/>
                </a:solidFill>
                <a:latin typeface="Calibri"/>
              </a:rPr>
              <a:t>✅ COMPLETO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2377439"/>
            <a:ext cx="11612880" cy="1188720"/>
          </a:xfrm>
          <a:prstGeom prst="rect">
            <a:avLst/>
          </a:prstGeom>
          <a:solidFill>
            <a:srgbClr val="141928"/>
          </a:solidFill>
          <a:ln w="19050">
            <a:solidFill>
              <a:srgbClr val="00C8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74320" y="2377439"/>
            <a:ext cx="1097280" cy="1188720"/>
          </a:xfrm>
          <a:prstGeom prst="rect">
            <a:avLst/>
          </a:prstGeom>
          <a:solidFill>
            <a:srgbClr val="00C8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74320" y="2697479"/>
            <a:ext cx="1097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00000"/>
                </a:solidFill>
                <a:latin typeface="Calibri"/>
              </a:rPr>
              <a:t>NB02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08760" y="2441447"/>
            <a:ext cx="6400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Helmholtz 2D Campo Complejo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08760" y="2898646"/>
            <a:ext cx="6400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B8CC"/>
                </a:solidFill>
                <a:latin typeface="Calibri"/>
              </a:rPr>
              <a:t>L²=0.171%  R²&gt;0.9999  ×11.2 vs SOTA
Multi-seed: 0.155±0.020%  (seeds 42,123,777)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326880" y="2651759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0C87A"/>
                </a:solidFill>
                <a:latin typeface="Calibri"/>
              </a:rPr>
              <a:t>✅ COMPLETO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74320" y="3703320"/>
            <a:ext cx="11612880" cy="1188720"/>
          </a:xfrm>
          <a:prstGeom prst="rect">
            <a:avLst/>
          </a:prstGeom>
          <a:solidFill>
            <a:srgbClr val="141928"/>
          </a:solidFill>
          <a:ln w="19050">
            <a:solidFill>
              <a:srgbClr val="00C8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74320" y="3703320"/>
            <a:ext cx="1097280" cy="1188720"/>
          </a:xfrm>
          <a:prstGeom prst="rect">
            <a:avLst/>
          </a:prstGeom>
          <a:solidFill>
            <a:srgbClr val="00C8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74320" y="4023360"/>
            <a:ext cx="1097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00000"/>
                </a:solidFill>
                <a:latin typeface="Calibri"/>
              </a:rPr>
              <a:t>NB03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08760" y="3767328"/>
            <a:ext cx="6400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Speckle Óptico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08760" y="4224527"/>
            <a:ext cx="6400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B8CC"/>
                </a:solidFill>
                <a:latin typeface="Calibri"/>
              </a:rPr>
              <a:t>C=1.025 ✅  Dist. exponencial ✅
KS p&lt;0.0001 (alta potencia estadística)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326880" y="397764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0C87A"/>
                </a:solidFill>
                <a:latin typeface="Calibri"/>
              </a:rPr>
              <a:t>✅ COMPLETO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74320" y="5029200"/>
            <a:ext cx="11612880" cy="1188720"/>
          </a:xfrm>
          <a:prstGeom prst="rect">
            <a:avLst/>
          </a:prstGeom>
          <a:solidFill>
            <a:srgbClr val="141928"/>
          </a:solidFill>
          <a:ln w="19050">
            <a:solidFill>
              <a:srgbClr val="F0A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274320" y="5029200"/>
            <a:ext cx="1097280" cy="1188720"/>
          </a:xfrm>
          <a:prstGeom prst="rect">
            <a:avLst/>
          </a:prstGeom>
          <a:solidFill>
            <a:srgbClr val="F0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74320" y="5349240"/>
            <a:ext cx="1097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00000"/>
                </a:solidFill>
                <a:latin typeface="Calibri"/>
              </a:rPr>
              <a:t>NB04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508760" y="5093208"/>
            <a:ext cx="6400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Benchmark FEM (FEniCSx)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508760" y="5550407"/>
            <a:ext cx="6400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B8CC"/>
                </a:solidFill>
                <a:latin typeface="Calibri"/>
              </a:rPr>
              <a:t>Speed-up Factor S=T_FEM/T_PINN
Comparación cuantitativa pendiente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326880" y="530352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0A500"/>
                </a:solidFill>
                <a:latin typeface="Calibri"/>
              </a:rPr>
              <a:t>📋 PENDIENTE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74320" y="6492240"/>
            <a:ext cx="11612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0C87A"/>
                </a:solidFill>
                <a:latin typeface="Calibri"/>
              </a:rPr>
              <a:t>Hipótesis verificada: L² &lt; 5%  ✅   Umbral superado por 2–3 órdenes de magnitud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D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0"/>
          </a:xfrm>
          <a:prstGeom prst="rect">
            <a:avLst/>
          </a:prstGeom>
          <a:solidFill>
            <a:srgbClr val="080B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36576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0A500"/>
                </a:solidFill>
                <a:latin typeface="Calibri"/>
              </a:rPr>
              <a:t>Coloquio de Avance · UJAT ·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292608"/>
            <a:ext cx="116128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Próximos Pasos y Trabajo Futuro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005840"/>
            <a:ext cx="3794760" cy="5303520"/>
          </a:xfrm>
          <a:prstGeom prst="rect">
            <a:avLst/>
          </a:prstGeom>
          <a:solidFill>
            <a:srgbClr val="141928"/>
          </a:solidFill>
          <a:ln w="25400">
            <a:solidFill>
              <a:srgbClr val="F0A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74320" y="1005840"/>
            <a:ext cx="3794760" cy="548640"/>
          </a:xfrm>
          <a:prstGeom prst="rect">
            <a:avLst/>
          </a:prstGeom>
          <a:solidFill>
            <a:srgbClr val="F0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1033271"/>
            <a:ext cx="36118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00000"/>
                </a:solidFill>
                <a:latin typeface="Calibri"/>
              </a:rPr>
              <a:t>NB04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691640"/>
            <a:ext cx="3429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0A500"/>
                </a:solidFill>
                <a:latin typeface="Calibri"/>
              </a:rPr>
              <a:t>Benchmark FEM
(Inmediato)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560320"/>
            <a:ext cx="34290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FEniCSx vs PINN-SIREN
Speed-up Factor S=T_FEM/T_PINN
Múltiples realizaciones de speckle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70248" y="1005840"/>
            <a:ext cx="3794760" cy="5303520"/>
          </a:xfrm>
          <a:prstGeom prst="rect">
            <a:avLst/>
          </a:prstGeom>
          <a:solidFill>
            <a:srgbClr val="141928"/>
          </a:solidFill>
          <a:ln w="2540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270248" y="1005840"/>
            <a:ext cx="3794760" cy="54864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361688" y="1033271"/>
            <a:ext cx="36118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00000"/>
                </a:solidFill>
                <a:latin typeface="Calibri"/>
              </a:rPr>
              <a:t>NB05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53128" y="1691640"/>
            <a:ext cx="3429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0B4D8"/>
                </a:solidFill>
                <a:latin typeface="Calibri"/>
              </a:rPr>
              <a:t>Condición de Sommerfeld
(Corto plazo)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53128" y="2560320"/>
            <a:ext cx="34290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∂E/∂n − ikE = 0 en y=1
Elimina reflexiones espurias
Mejora fidelidad KS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66176" y="1005840"/>
            <a:ext cx="3794760" cy="5303520"/>
          </a:xfrm>
          <a:prstGeom prst="rect">
            <a:avLst/>
          </a:prstGeom>
          <a:solidFill>
            <a:srgbClr val="141928"/>
          </a:solidFill>
          <a:ln w="25400">
            <a:solidFill>
              <a:srgbClr val="00C8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266176" y="1005840"/>
            <a:ext cx="3794760" cy="548640"/>
          </a:xfrm>
          <a:prstGeom prst="rect">
            <a:avLst/>
          </a:prstGeom>
          <a:solidFill>
            <a:srgbClr val="00C8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57616" y="1033271"/>
            <a:ext cx="36118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00000"/>
                </a:solidFill>
                <a:latin typeface="Calibri"/>
              </a:rPr>
              <a:t>NB06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49056" y="1691640"/>
            <a:ext cx="3429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0C87A"/>
                </a:solidFill>
                <a:latin typeface="Calibri"/>
              </a:rPr>
              <a:t>Medios Inhomogéneos
(Mediano plazo)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49056" y="2560320"/>
            <a:ext cx="34290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Extensión a n(r) variable
Speckle en tejidos biológicos
Materiales GRIN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74320" y="6492240"/>
            <a:ext cx="11612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1">
                <a:solidFill>
                  <a:srgbClr val="B0B8CC"/>
                </a:solidFill>
                <a:latin typeface="Calibri"/>
              </a:rPr>
              <a:t>GPU: NVIDIA RTX 5050 · PyTorch 2.4 · CUDA 12.6 · github.com/RobertoEstradah/pinn_speckle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D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0"/>
          </a:xfrm>
          <a:prstGeom prst="rect">
            <a:avLst/>
          </a:prstGeom>
          <a:solidFill>
            <a:srgbClr val="080B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36576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0A500"/>
                </a:solidFill>
                <a:latin typeface="Calibri"/>
              </a:rPr>
              <a:t>Coloquio de Avance · UJAT ·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292608"/>
            <a:ext cx="116128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Conclusiones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005840"/>
            <a:ext cx="5669280" cy="2423160"/>
          </a:xfrm>
          <a:prstGeom prst="rect">
            <a:avLst/>
          </a:prstGeom>
          <a:solidFill>
            <a:srgbClr val="141928"/>
          </a:solidFill>
          <a:ln w="25400">
            <a:solidFill>
              <a:srgbClr val="00C8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74320" y="1005840"/>
            <a:ext cx="640080" cy="2423160"/>
          </a:xfrm>
          <a:prstGeom prst="rect">
            <a:avLst/>
          </a:prstGeom>
          <a:solidFill>
            <a:srgbClr val="00C8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1828800"/>
            <a:ext cx="640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000000"/>
                </a:solidFill>
                <a:latin typeface="Calibri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114300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C87A"/>
                </a:solidFill>
                <a:latin typeface="Calibri"/>
              </a:rPr>
              <a:t>Precisión sin Malla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1691640"/>
            <a:ext cx="4754880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L²=0.006% (1D) y L²=0.171% (2D)
3 órdenes por debajo del umbral 5%
Mejora ×415 y ×11.2 sobre Schoder 2024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17920" y="1005840"/>
            <a:ext cx="5669280" cy="2423160"/>
          </a:xfrm>
          <a:prstGeom prst="rect">
            <a:avLst/>
          </a:prstGeom>
          <a:solidFill>
            <a:srgbClr val="141928"/>
          </a:solidFill>
          <a:ln w="2540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17920" y="1005840"/>
            <a:ext cx="640080" cy="242316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17920" y="1828800"/>
            <a:ext cx="640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000000"/>
                </a:solidFill>
                <a:latin typeface="Calibri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114300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B4D8"/>
                </a:solidFill>
                <a:latin typeface="Calibri"/>
              </a:rPr>
              <a:t>Arquitectura Agnóstica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1691640"/>
            <a:ext cx="4754880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Misma SIREN 5×128 para onda plana
y para frontera rugosa aleatoria
Sin modificar arquitectura ni pérdida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74320" y="3657600"/>
            <a:ext cx="5669280" cy="2423160"/>
          </a:xfrm>
          <a:prstGeom prst="rect">
            <a:avLst/>
          </a:prstGeom>
          <a:solidFill>
            <a:srgbClr val="141928"/>
          </a:solidFill>
          <a:ln w="25400">
            <a:solidFill>
              <a:srgbClr val="F0A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74320" y="3657600"/>
            <a:ext cx="640080" cy="2423160"/>
          </a:xfrm>
          <a:prstGeom prst="rect">
            <a:avLst/>
          </a:prstGeom>
          <a:solidFill>
            <a:srgbClr val="F0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74320" y="4480560"/>
            <a:ext cx="640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000000"/>
                </a:solidFill>
                <a:latin typeface="Calibri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51560" y="379476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0A500"/>
                </a:solidFill>
                <a:latin typeface="Calibri"/>
              </a:rPr>
              <a:t>Speckle Estadísticamente Válido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51560" y="4343400"/>
            <a:ext cx="4754880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C=1.025 cumple criterio Goodman
Dist. exponencial negativa verificada
KS: alta potencia con N=10,000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17920" y="3657600"/>
            <a:ext cx="5669280" cy="2423160"/>
          </a:xfrm>
          <a:prstGeom prst="rect">
            <a:avLst/>
          </a:prstGeom>
          <a:solidFill>
            <a:srgbClr val="141928"/>
          </a:solidFill>
          <a:ln w="25400">
            <a:solidFill>
              <a:srgbClr val="FFB7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17920" y="3657600"/>
            <a:ext cx="640080" cy="2423160"/>
          </a:xfrm>
          <a:prstGeom prst="rect">
            <a:avLst/>
          </a:prstGeom>
          <a:solidFill>
            <a:srgbClr val="FFB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217920" y="4480560"/>
            <a:ext cx="640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000000"/>
                </a:solidFill>
                <a:latin typeface="Calibri"/>
              </a:rPr>
              <a:t>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95160" y="379476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B700"/>
                </a:solidFill>
                <a:latin typeface="Calibri"/>
              </a:rPr>
              <a:t>Adam + L-BFGS Esencial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95160" y="4343400"/>
            <a:ext cx="4754880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Estrategia bifásica supera a ambos
optimizadores por separado
λ_phys=0.1 crítico para 2D complejo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D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F0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600" b="1" i="0">
                <a:solidFill>
                  <a:srgbClr val="FFFFFF"/>
                </a:solidFill>
                <a:latin typeface="Calibri"/>
              </a:rPr>
              <a:t>¡Gracias!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83464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F0A500"/>
                </a:solidFill>
                <a:latin typeface="Calibri"/>
              </a:rPr>
              <a:t>Preguntas y Comentarios</a:t>
            </a:r>
          </a:p>
        </p:txBody>
      </p:sp>
      <p:sp>
        <p:nvSpPr>
          <p:cNvPr id="5" name="Rectangle 4"/>
          <p:cNvSpPr/>
          <p:nvPr/>
        </p:nvSpPr>
        <p:spPr>
          <a:xfrm>
            <a:off x="2286000" y="3566160"/>
            <a:ext cx="7589520" cy="2103120"/>
          </a:xfrm>
          <a:prstGeom prst="rect">
            <a:avLst/>
          </a:prstGeom>
          <a:solidFill>
            <a:srgbClr val="141928"/>
          </a:solidFill>
          <a:ln w="19050">
            <a:solidFill>
              <a:srgbClr val="2A3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468880" y="3703320"/>
            <a:ext cx="7223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Roberto Hernández Estrada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468880" y="4160520"/>
            <a:ext cx="7223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00B4D8"/>
                </a:solidFill>
                <a:latin typeface="Calibri"/>
              </a:rPr>
              <a:t>robertohernandezestrd@gmail.com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468880" y="4526280"/>
            <a:ext cx="7223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B0B8CC"/>
                </a:solidFill>
                <a:latin typeface="Calibri"/>
              </a:rPr>
              <a:t>Maestría en Ciencias de la Computación · UJAT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468880" y="4892040"/>
            <a:ext cx="7223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B0B8CC"/>
                </a:solidFill>
                <a:latin typeface="Calibri"/>
              </a:rPr>
              <a:t>Director: Dr. José Adán Hernández Nolasco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9436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00B4D8"/>
                </a:solidFill>
                <a:latin typeface="Calibri"/>
              </a:rPr>
              <a:t>github.com/RobertoEstradah/pinn_speckle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