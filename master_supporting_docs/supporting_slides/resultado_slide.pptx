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  <a:latin typeface="Calibri"/>
              </a:rPr>
              <a:t>UJAT · Maestría en Ciencias de la Computación · Junio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Simulación Acelerada de Speckle Óptico
mediante PINN-SIREN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  <a:latin typeface="Calibri"/>
              </a:rPr>
              <a:t>Coloquio de Avance de 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206240"/>
            <a:ext cx="5303520" cy="16459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Roberto Hernández Estrada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Director: Dr. José Adán Hernández Nolasco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División Académica de Ciencias Básicas · UJAT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Resultados Obtenidos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92024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568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0.006%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Error L² — 1D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92608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9626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0.171%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456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Error L² — 2D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93192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96849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  <a:latin typeface="Calibri"/>
              </a:rPr>
              <a:t>×415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622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Mejora vs. Schoder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937760"/>
            <a:ext cx="3017520" cy="868680"/>
          </a:xfrm>
          <a:prstGeom prst="rect">
            <a:avLst/>
          </a:prstGeom>
          <a:solidFill>
            <a:srgbClr val="18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9743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C=1.025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468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Contraste Speckle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124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Motivación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¿Por qué FEM es insuficiente?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124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Hipótesis y Objetivos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819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Marco de validación — NB01–NB04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39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505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Marco Teórico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077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Helmholtz · PINNs · SIREN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77439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603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505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90779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Arquitectura · LHS · Adam+L-BFGS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86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Resultados NB01–NB03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1D, 2D y Speckle Óptico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0332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86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Ablación λ_phys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Sensibilidad al peso de física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56692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A500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102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Resumen · Próximos Pasos ·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Cuello de Botella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00" cy="5394960"/>
          </a:xfrm>
          <a:prstGeom prst="rect">
            <a:avLst/>
          </a:prstGeom>
          <a:solidFill>
            <a:srgbClr val="1419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444"/>
                </a:solidFill>
                <a:latin typeface="Calibri"/>
              </a:rPr>
              <a:t>Problema con FEM Clásico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Resolución &lt; λ láser → millones de nodos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4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Nuevo perfil rugoso → resolver desde cero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Miles de realizaciones = costo intratable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029200" cy="5486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✕  Alta memoria pico por realización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5760720" cy="539496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7A"/>
                </a:solidFill>
                <a:latin typeface="Calibri"/>
              </a:rPr>
              <a:t>Solución PINN-SIREN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190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Libre de malla (mesh-free)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3317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Inferencia en ≈ 1.3 ms (GPU RTX 5050)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90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Misma red → cualquier frontera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5394960" cy="548640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76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FFC0"/>
                </a:solidFill>
                <a:latin typeface="Calibri"/>
              </a:rPr>
              <a:t>✓  Entrenamiento único → ∞ realizaciones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0A500"/>
                </a:solidFill>
                <a:latin typeface="Calibri"/>
              </a:rPr>
              <a:t>Ecuación: ∇²E + k²E = 0  con  k = 2π  (dominio adimensional [0,1]²)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Hipótesis y Objetivos de Investigación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960120"/>
          </a:xfrm>
          <a:prstGeom prst="rect">
            <a:avLst/>
          </a:prstGeom>
          <a:solidFill>
            <a:srgbClr val="0F1A2A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HIPÓTESIS: PINN-SIREN puede simular speckle con L² &lt; 5% vs. referencia y factor de aceleración S = T_FEM / T_PINN &gt;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13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134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1D vs. solución analítica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40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L²=0.006%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4107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10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2D campo complejo (E_real,E_imag)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L²=0.171%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1005840" cy="9601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5079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07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Speckle con frontera rugosa φ~U(0,2π)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434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C=1.025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1612880" cy="960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349240"/>
            <a:ext cx="1005840" cy="9601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6052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052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FEM — Speed-up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532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📋 Pendiente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Marco Teórico: Helmholtz · PINNs · SIREN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947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Ecuación de Helmholtz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∇²E + k²E = 0
E = E_real + i·E_imag
k = 2π  (dominio [0,1]²)
I(x,y) = E_real² + E_imag²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914400"/>
            <a:ext cx="3794760" cy="502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Función de Pérdida PINN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 = L_datos + λ·L_física
L_datos: error en frontera
L_física: residuo de Helmholtz
λ_phys = 0.1 (calibrado)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7888" y="914400"/>
            <a:ext cx="3794760" cy="557784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914400"/>
            <a:ext cx="3794760" cy="5029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94183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Arquitectura SIREN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554480"/>
            <a:ext cx="3429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φ(z) = sin(ω₀·z),  ω₀ = 1.0
5 capas × 128 neuronas
66,690 parámetros
Inic. Sitzmann et al. 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Metodología: Arquitectura · LHS · Optimización Bifásica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93192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Arquitectura SIREN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Entrada: (x,y) ∈ [0,1]²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5 capas ocultas × 128 neuronas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φ(z) = sin(ω₀z),  ω₀=1.0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Salida lineal: (E_real, E_imag)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66,690 parámetros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914400"/>
            <a:ext cx="347472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978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Muestreo LHS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N_c = 3,000 puntos interiores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Hipercubo Latino (LHS)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968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Cobertura uniforme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638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sin redundancia cartesiana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97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N_b = 300 pts / borde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64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bordes del dominio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914400"/>
            <a:ext cx="3794760" cy="54864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9784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Optimización Bifásica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463040"/>
            <a:ext cx="3246120" cy="347472"/>
          </a:xfrm>
          <a:prstGeom prst="rect">
            <a:avLst/>
          </a:prstGeom>
          <a:solidFill>
            <a:srgbClr val="0F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6304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Fase 1 — Adam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92024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lr = 1×10⁻³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3957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Hasta 15,000 épocas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87121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Early stopping (pat=800)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474720"/>
            <a:ext cx="3246120" cy="347472"/>
          </a:xfrm>
          <a:prstGeom prst="rect">
            <a:avLst/>
          </a:prstGeom>
          <a:solidFill>
            <a:srgbClr val="1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Fase 2 — L-BFGS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319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Strong Wolfe line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407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Max 1,000 iteraciones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88289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History size =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760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0A500"/>
                </a:solidFill>
                <a:latin typeface="Calibri"/>
              </a:rPr>
              <a:t>Adam explora → L-BFGS refina con curvatura de 2° orden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Implementación: Código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src/models.py — Arquitectura SIREN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577840" cy="5074920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class </a:t>
            </a:r>
            <a:r>
              <a:rPr sz="1150" b="0">
                <a:solidFill>
                  <a:srgbClr val="82AAFF"/>
                </a:solidFill>
                <a:latin typeface="Consolas"/>
              </a:rPr>
              <a:t>PINN_2D_SIREN</a:t>
            </a:r>
            <a:r>
              <a:rPr sz="1150" b="0">
                <a:solidFill>
                  <a:srgbClr val="FFFFFF"/>
                </a:solidFill>
                <a:latin typeface="Consolas"/>
              </a:rPr>
              <a:t>(nn.Module):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__init__</a:t>
            </a:r>
            <a:r>
              <a:rPr sz="1150" b="0">
                <a:solidFill>
                  <a:srgbClr val="FFFFFF"/>
                </a:solidFill>
                <a:latin typeface="Consolas"/>
              </a:rPr>
              <a:t>(self, hidden, layers, omega):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5117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.omega_0</a:t>
            </a:r>
            <a:r>
              <a:rPr sz="1150" b="0">
                <a:solidFill>
                  <a:srgbClr val="FFFFFF"/>
                </a:solidFill>
                <a:latin typeface="Consolas"/>
              </a:rPr>
              <a:t> = omega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522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.fc_in</a:t>
            </a:r>
            <a:r>
              <a:rPr sz="1150" b="0">
                <a:solidFill>
                  <a:srgbClr val="FFFFFF"/>
                </a:solidFill>
                <a:latin typeface="Consolas"/>
              </a:rPr>
              <a:t>  = nn.Linear(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  <a:r>
              <a:rPr sz="1150" b="0">
                <a:solidFill>
                  <a:srgbClr val="FFFFFF"/>
                </a:solidFill>
                <a:latin typeface="Consolas"/>
              </a:rPr>
              <a:t>,hidden)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927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.hidden</a:t>
            </a:r>
            <a:r>
              <a:rPr sz="1150" b="0">
                <a:solidFill>
                  <a:srgbClr val="FFFFFF"/>
                </a:solidFill>
                <a:latin typeface="Consolas"/>
              </a:rPr>
              <a:t> = nn.ModuleList([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    nn.Linear(hidden,hidden) </a:t>
            </a:r>
            <a:r>
              <a:rPr sz="1150" b="0">
                <a:solidFill>
                  <a:srgbClr val="C792EA"/>
                </a:solidFill>
                <a:latin typeface="Consolas"/>
              </a:rPr>
              <a:t>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_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range(layers)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8736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7141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self</a:t>
            </a:r>
            <a:r>
              <a:rPr sz="1150" b="0">
                <a:solidFill>
                  <a:srgbClr val="82AAFF"/>
                </a:solidFill>
                <a:latin typeface="Consolas"/>
              </a:rPr>
              <a:t>.fc_out</a:t>
            </a:r>
            <a:r>
              <a:rPr sz="1150" b="0">
                <a:solidFill>
                  <a:srgbClr val="FFFFFF"/>
                </a:solidFill>
                <a:latin typeface="Consolas"/>
              </a:rPr>
              <a:t> = nn.Linear(hidden,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  <a:r>
              <a:rPr sz="1150" b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5546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951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forward</a:t>
            </a:r>
            <a:r>
              <a:rPr sz="1150" b="0">
                <a:solidFill>
                  <a:srgbClr val="FFFFFF"/>
                </a:solidFill>
                <a:latin typeface="Consolas"/>
              </a:rPr>
              <a:t>(self, x):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x  = torch.sin(self.omega_0 * self.fc_in(x))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← SIREN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0760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layer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self.hidden: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91656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    x = torch.sin(self.omega_0 * layer(x))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77570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return</a:t>
            </a:r>
            <a:r>
              <a:rPr sz="1150" b="0">
                <a:solidFill>
                  <a:srgbClr val="FFFFFF"/>
                </a:solidFill>
                <a:latin typeface="Consolas"/>
              </a:rPr>
              <a:t> self.fc_out(x)</a:t>
            </a:r>
            <a:r>
              <a:rPr sz="1150" b="0">
                <a:solidFill>
                  <a:srgbClr val="546E7A"/>
                </a:solidFill>
                <a:latin typeface="Consolas"/>
              </a:rPr>
              <a:t>   # (E_real, E_imag)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868680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src/losses.py + training — Pérdida y Optimización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261872"/>
            <a:ext cx="5788152" cy="2377440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9903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pinn_loss_2d</a:t>
            </a:r>
            <a:r>
              <a:rPr sz="1150" b="0">
                <a:solidFill>
                  <a:srgbClr val="FFFFFF"/>
                </a:solidFill>
                <a:latin typeface="Consolas"/>
              </a:rPr>
              <a:t>(model, xy_int, xy_bc, E_bc, k, lam):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78308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L_data</a:t>
            </a:r>
            <a:r>
              <a:rPr sz="1150" b="0">
                <a:solidFill>
                  <a:srgbClr val="FFFFFF"/>
                </a:solidFill>
                <a:latin typeface="Consolas"/>
              </a:rPr>
              <a:t> = MSE(model(xy_bc), E_bc)</a:t>
            </a:r>
            <a:r>
              <a:rPr sz="1150" b="0">
                <a:solidFill>
                  <a:srgbClr val="546E7A"/>
                </a:solidFill>
                <a:latin typeface="Consolas"/>
              </a:rPr>
              <a:t>     # frontera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6712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k_sq </a:t>
            </a:r>
            <a:r>
              <a:rPr sz="1150" b="0">
                <a:solidFill>
                  <a:srgbClr val="FFFFFF"/>
                </a:solidFill>
                <a:latin typeface="Consolas"/>
              </a:rPr>
              <a:t> = float(k)**</a:t>
            </a:r>
            <a:r>
              <a:rPr sz="1150" b="0">
                <a:solidFill>
                  <a:srgbClr val="F78C6C"/>
                </a:solidFill>
                <a:latin typeface="Consola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5117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    # Residuo de Helmholtz via autodiferenciación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3522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E_xx+E_yy + k_sq*E</a:t>
            </a:r>
            <a:r>
              <a:rPr sz="1150" b="0">
                <a:solidFill>
                  <a:srgbClr val="C3E88D"/>
                </a:solidFill>
                <a:latin typeface="Consolas"/>
              </a:rPr>
              <a:t> == 0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← L_física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1927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    return</a:t>
            </a:r>
            <a:r>
              <a:rPr sz="1150" b="0">
                <a:solidFill>
                  <a:srgbClr val="FFFFFF"/>
                </a:solidFill>
                <a:latin typeface="Consolas"/>
              </a:rPr>
              <a:t> L_data + </a:t>
            </a:r>
            <a:r>
              <a:rPr sz="1150" b="0">
                <a:solidFill>
                  <a:srgbClr val="F78C6C"/>
                </a:solidFill>
                <a:latin typeface="Consolas"/>
              </a:rPr>
              <a:t>lam</a:t>
            </a:r>
            <a:r>
              <a:rPr sz="1150" b="0">
                <a:solidFill>
                  <a:srgbClr val="FFFFFF"/>
                </a:solidFill>
                <a:latin typeface="Consolas"/>
              </a:rPr>
              <a:t> * L_fisica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840480"/>
            <a:ext cx="5788152" cy="2496312"/>
          </a:xfrm>
          <a:prstGeom prst="rect">
            <a:avLst/>
          </a:prstGeom>
          <a:solidFill>
            <a:srgbClr val="080C1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7764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# Fase 1 — Adam: exploración 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6168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for</a:t>
            </a:r>
            <a:r>
              <a:rPr sz="1150" b="0">
                <a:solidFill>
                  <a:srgbClr val="FFFFFF"/>
                </a:solidFill>
                <a:latin typeface="Consolas"/>
              </a:rPr>
              <a:t> epoch </a:t>
            </a:r>
            <a:r>
              <a:rPr sz="1150" b="0">
                <a:solidFill>
                  <a:srgbClr val="C792EA"/>
                </a:solidFill>
                <a:latin typeface="Consolas"/>
              </a:rPr>
              <a:t>in</a:t>
            </a:r>
            <a:r>
              <a:rPr sz="1150" b="0">
                <a:solidFill>
                  <a:srgbClr val="FFFFFF"/>
                </a:solidFill>
                <a:latin typeface="Consolas"/>
              </a:rPr>
              <a:t> range(</a:t>
            </a:r>
            <a:r>
              <a:rPr sz="1150" b="0">
                <a:solidFill>
                  <a:srgbClr val="F78C6C"/>
                </a:solidFill>
                <a:latin typeface="Consolas"/>
              </a:rPr>
              <a:t>15000</a:t>
            </a:r>
            <a:r>
              <a:rPr sz="1150" b="0">
                <a:solidFill>
                  <a:srgbClr val="FFFFFF"/>
                </a:solidFill>
                <a:latin typeface="Consolas"/>
              </a:rPr>
              <a:t>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4573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 = pinn_loss_2d(model, xy_int, xy_bc, E_bc, K, </a:t>
            </a:r>
            <a:r>
              <a:rPr sz="1150" b="0">
                <a:solidFill>
                  <a:srgbClr val="F78C6C"/>
                </a:solidFill>
                <a:latin typeface="Consolas"/>
              </a:rPr>
              <a:t>0.1</a:t>
            </a:r>
            <a:r>
              <a:rPr sz="1150" b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12978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loss.backward(); optimizer.step()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51383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97880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546E7A"/>
                </a:solidFill>
                <a:latin typeface="Consolas"/>
              </a:rPr>
              <a:t># Fase 2 — L-BFGS: refinamiento con curvatura 2°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281928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C792EA"/>
                </a:solidFill>
                <a:latin typeface="Consolas"/>
              </a:rPr>
              <a:t>def </a:t>
            </a:r>
            <a:r>
              <a:rPr sz="1150" b="0">
                <a:solidFill>
                  <a:srgbClr val="82AAFF"/>
                </a:solidFill>
                <a:latin typeface="Consolas"/>
              </a:rPr>
              <a:t>closure</a:t>
            </a:r>
            <a:r>
              <a:rPr sz="1150" b="0">
                <a:solidFill>
                  <a:srgbClr val="FFFFFF"/>
                </a:solidFill>
                <a:latin typeface="Consolas"/>
              </a:rPr>
              <a:t>():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665976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 = pinn_loss_2d(...)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7050024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Consolas"/>
              </a:rPr>
              <a:t>    loss.backward(); return loss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7434072"/>
            <a:ext cx="54223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>
                <a:solidFill>
                  <a:srgbClr val="82AAFF"/>
                </a:solidFill>
                <a:latin typeface="Consolas"/>
              </a:rPr>
              <a:t>lbfgs.step(closure)</a:t>
            </a:r>
            <a:r>
              <a:rPr sz="1150" b="0">
                <a:solidFill>
                  <a:srgbClr val="546E7A"/>
                </a:solidFill>
                <a:latin typeface="Consolas"/>
              </a:rPr>
              <a:t>  # strong Wolfe line 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66,690  ·  Parámetros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  <a:latin typeface="Calibri"/>
              </a:rPr>
              <a:t>Adam→L-BFGS  ·  Estrategia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700"/>
                </a:solidFill>
                <a:latin typeface="Calibri"/>
              </a:rPr>
              <a:t>λ=0.1  ·  Peso física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6473952"/>
            <a:ext cx="2834640" cy="320040"/>
          </a:xfrm>
          <a:prstGeom prst="rect">
            <a:avLst/>
          </a:prstGeom>
          <a:solidFill>
            <a:srgbClr val="141928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6492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7A"/>
                </a:solidFill>
                <a:latin typeface="Calibri"/>
              </a:rPr>
              <a:t>float(k)²  ·  Fix dtype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NB01: Validación 1D — Helmholtz Analítico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C"/>
                </a:solidFill>
                <a:latin typeface="Calibri"/>
              </a:rPr>
              <a:t>E_exacta(x) = cos(kx),  k = 2π,  x ∈ [0,1]  →  SIREN 5×64, ω₀=1.0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7A"/>
                </a:solidFill>
                <a:latin typeface="Calibri"/>
              </a:rPr>
              <a:t>0.006%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Error L²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7A"/>
                </a:solidFill>
                <a:latin typeface="Calibri"/>
              </a:rPr>
              <a:t>1.000000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700"/>
                </a:solidFill>
                <a:latin typeface="Calibri"/>
              </a:rPr>
              <a:t>×415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vs. Schoder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1508760"/>
            <a:ext cx="2834640" cy="123444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55448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251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Tiempo total</a:t>
            </a:r>
          </a:p>
        </p:txBody>
      </p:sp>
      <p:pic>
        <p:nvPicPr>
          <p:cNvPr id="18" name="Picture 17" descr="resultados_pinn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5303520" cy="376849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852160" y="2834640"/>
            <a:ext cx="6035040" cy="36576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926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Métricas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3832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83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1.5×10⁻⁹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8862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86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3.50×10⁻⁵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3891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Pearson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89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87A"/>
                </a:solidFill>
                <a:latin typeface="Calibri"/>
              </a:rPr>
              <a:t>1.000000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892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L-BFGS iters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892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C"/>
                </a:solidFill>
                <a:latin typeface="Calibri"/>
              </a:rPr>
              <a:t>202/500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5349240"/>
            <a:ext cx="6035040" cy="109728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4132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444"/>
                </a:solidFill>
                <a:latin typeface="Calibri"/>
              </a:rPr>
              <a:t>Schoder &amp; Kraxberger (2024)  →  L² = 2.49%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6492240"/>
            <a:ext cx="6035040" cy="347472"/>
          </a:xfrm>
          <a:prstGeom prst="rect">
            <a:avLst/>
          </a:prstGeom>
          <a:solidFill>
            <a:srgbClr val="0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65105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7A"/>
                </a:solidFill>
                <a:latin typeface="Calibri"/>
              </a:rPr>
              <a:t>PINN-SIREN  →  L² = 0.006%   (×415 de mejora)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NB02: Validación 2D — Campo Complejo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C"/>
                </a:solidFill>
                <a:latin typeface="Calibri"/>
              </a:rPr>
              <a:t>E = exp(i(k_x·x + k_y·y)),  k_x=k_y=k/√2,  SIREN 5×128, LHS N_c=3000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7A"/>
                </a:solidFill>
                <a:latin typeface="Calibri"/>
              </a:rPr>
              <a:t>0.171%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Promedio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0.214%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E_real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0.127%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L² E_imag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4584" y="1463040"/>
            <a:ext cx="2834640" cy="114300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508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700"/>
                </a:solidFill>
                <a:latin typeface="Calibri"/>
              </a:rPr>
              <a:t>×11.2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103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CC"/>
                </a:solidFill>
                <a:latin typeface="Calibri"/>
              </a:rPr>
              <a:t>vs. Schoder 2D</a:t>
            </a:r>
          </a:p>
        </p:txBody>
      </p:sp>
      <p:pic>
        <p:nvPicPr>
          <p:cNvPr id="18" name="Picture 17" descr="resultados_pinn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7132320" cy="627996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680960" y="2651760"/>
            <a:ext cx="4206240" cy="18288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Entrenamiento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00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Adam: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200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8,737 épocas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02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L-BFGS: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602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1,035 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05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Tiempo: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0050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299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663440"/>
            <a:ext cx="4206240" cy="14173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Multi-Seed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166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SEED ∈ {42, 123, 777}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53212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A"/>
                </a:solidFill>
                <a:latin typeface="Calibri"/>
              </a:rPr>
              <a:t>0.155 ± 0.020%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6172200"/>
            <a:ext cx="4206240" cy="59436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6263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R²: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6263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4D8"/>
                </a:solidFill>
                <a:latin typeface="Calibri"/>
              </a:rPr>
              <a:t>0.999995 / 0.999998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Ablación del Peso de Física λ_phys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C"/>
                </a:solidFill>
                <a:latin typeface="Calibri"/>
              </a:rPr>
              <a:t>¿Cómo afecta el balance datos/física al error L²?  —  SIREN 5×128, SEED=42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λ_phys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Error L² prom.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Converge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Observación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48840"/>
            <a:ext cx="10789920" cy="114300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04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0B8CC"/>
                </a:solidFill>
                <a:latin typeface="Calibri"/>
              </a:rPr>
              <a:t>0.01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487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0.163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A"/>
                </a:solidFill>
                <a:latin typeface="Calibri"/>
              </a:rPr>
              <a:t>Sí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048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Física subponderada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474720"/>
            <a:ext cx="10789920" cy="1143000"/>
          </a:xfrm>
          <a:prstGeom prst="rect">
            <a:avLst/>
          </a:prstGeom>
          <a:solidFill>
            <a:srgbClr val="102010"/>
          </a:solidFill>
          <a:ln w="317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73075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  <a:latin typeface="Calibri"/>
              </a:rPr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30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87A"/>
                </a:solidFill>
                <a:latin typeface="Calibri"/>
              </a:rPr>
              <a:t>0.171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307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A"/>
                </a:solidFill>
                <a:latin typeface="Calibri"/>
              </a:rPr>
              <a:t>Sí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73075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A500"/>
                </a:solidFill>
                <a:latin typeface="Calibri"/>
              </a:rPr>
              <a:t>✦ Configuración óptima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00600"/>
            <a:ext cx="10789920" cy="1143000"/>
          </a:xfrm>
          <a:prstGeom prst="rect">
            <a:avLst/>
          </a:prstGeom>
          <a:solidFill>
            <a:srgbClr val="20080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0B8CC"/>
                </a:solidFill>
                <a:latin typeface="Calibri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56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4444"/>
                </a:solidFill>
                <a:latin typeface="Calibri"/>
              </a:rPr>
              <a:t>&gt;5.0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0566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50566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444"/>
                </a:solidFill>
                <a:latin typeface="Calibri"/>
              </a:rPr>
              <a:t>No converge — gradiente explota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8CC"/>
                </a:solidFill>
                <a:latin typeface="Calibri"/>
              </a:rPr>
              <a:t>λ=1.0: dos residuos (real+imag) duplican el gradiente de física → explosión en float32.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NB03: Simulación de Speckle Óptico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C"/>
                </a:solidFill>
                <a:latin typeface="Calibri"/>
              </a:rPr>
              <a:t>Frontera: φ(x)~U(0,2π) en y=0  ·  Bordes libres en x=0,x=1,y=1  ·  SIREN 5×128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7A"/>
                </a:solidFill>
                <a:latin typeface="Calibri"/>
              </a:rPr>
              <a:t>C = 1.025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σ_I/⟨I⟩  →  |C−1|=0.025 &lt; 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✅ Goodman cumplido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/>
              </a:rPr>
              <a:t>0.135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Fracción I &gt; 2⟨I⟩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Teórico e⁻²≈0.1353 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703320" cy="210312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  <a:latin typeface="Calibri"/>
              </a:rPr>
              <a:t>p &lt; 0.0001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CC"/>
                </a:solidFill>
                <a:latin typeface="Calibri"/>
              </a:rPr>
              <a:t>KS p-valor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⚠ Alta potencia N=10,000</a:t>
            </a:r>
          </a:p>
        </p:txBody>
      </p:sp>
      <p:pic>
        <p:nvPicPr>
          <p:cNvPr id="18" name="Picture 17" descr="resultados_speckle_n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03320"/>
            <a:ext cx="5029200" cy="43563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" y="6400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8CC"/>
                </a:solidFill>
                <a:latin typeface="Calibri"/>
              </a:rPr>
              <a:t>Patrón I(x,y) = |E|²  —  fase rugosa φ~U(0,2π)</a:t>
            </a:r>
          </a:p>
        </p:txBody>
      </p:sp>
      <p:pic>
        <p:nvPicPr>
          <p:cNvPr id="20" name="Picture 19" descr="estadistica_speckle_nb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703320"/>
            <a:ext cx="6400800" cy="35426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64008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8CC"/>
                </a:solidFill>
                <a:latin typeface="Calibri"/>
              </a:rPr>
              <a:t>Histograma p(I) vs. exponencial teórica  +  CDF  —  C=1.025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Resumen de Avance — Estado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15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7276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L²=0.006%  R²=1.000000  ×415 vs SOTA
Arquitectura SIREN 5×64, 251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325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39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77439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9747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414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Helmholtz 2D Campo Complejo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L²=0.171%  R²&gt;0.9999  ×11.2 vs SOTA
Multi-seed: 0.155±0.020%  (seeds 42,123,777)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1097280" cy="11887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233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673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Speckle Óptico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2452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C=1.025 ✅  Dist. exponencial ✅
KS p&lt;0.0001 (alta potencia estadística)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A"/>
                </a:solidFill>
                <a:latin typeface="Calibri"/>
              </a:rPr>
              <a:t>✅ COMPLETO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11612880" cy="1188720"/>
          </a:xfrm>
          <a:prstGeom prst="rect">
            <a:avLst/>
          </a:prstGeom>
          <a:solidFill>
            <a:srgbClr val="141928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1097280" cy="1188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49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093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FEM (FEniCSx)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550407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C"/>
                </a:solidFill>
                <a:latin typeface="Calibri"/>
              </a:rPr>
              <a:t>Speed-up Factor S=T_FEM/T_PINN
Comparación cuantitativa pendiente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  <a:latin typeface="Calibri"/>
              </a:rPr>
              <a:t>📋 PENDIENTE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7A"/>
                </a:solidFill>
                <a:latin typeface="Calibri"/>
              </a:rPr>
              <a:t>Hipótesis verificada: L² &lt; 5%  ✅   Umbral superado por 2–3 órdenes de magnitud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Próximos Pasos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94760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  <a:latin typeface="Calibri"/>
              </a:rPr>
              <a:t>Benchmark FEM
(Inmediato)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FEniCSx vs PINN-SIREN
Speed-up Factor S=T_FEM/T_PINN
Múltiples realizaciones de speckle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005840"/>
            <a:ext cx="379476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Condición de Sommerfeld
(Corto plazo)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∂E/∂n − ikE = 0 en y=1
Elimina reflexiones espurias
Mejora fidelidad 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005840"/>
            <a:ext cx="3794760" cy="530352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005840"/>
            <a:ext cx="3794760" cy="54864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033271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NB06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6916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7A"/>
                </a:solidFill>
                <a:latin typeface="Calibri"/>
              </a:rPr>
              <a:t>Medios Inhomogéneos
(Mediano plazo)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56032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Extensión a n(r) variable
Speckle en tejidos biológicos
Materiales GRIN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8CC"/>
                </a:solidFill>
                <a:latin typeface="Calibri"/>
              </a:rPr>
              <a:t>GPU: NVIDIA RTX 5050 · PyTorch 2.4 · CUDA 12.6 · github.com/RobertoEstradah/pinn_speckle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  <a:latin typeface="Calibri"/>
              </a:rPr>
              <a:t>Coloquio de Avance · UJAT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00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640080" cy="24231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43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7A"/>
                </a:solidFill>
                <a:latin typeface="Calibri"/>
              </a:rPr>
              <a:t>Precisión sin Malla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L²=0.006% (1D) y L²=0.171% (2D)
3 órdenes por debajo del umbral 5%
Mejora ×415 y ×11.2 sobre Schoder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640080" cy="2423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143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Arquitectura Agnóstica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4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Misma SIREN 5×128 para onda plana
y para frontera rugosa aleatoria
Sin modificar arquitectura ni pérdida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640080" cy="24231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480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Speckle Estadísticamente Válido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C=1.025 cumple criterio Goodman
Dist. exponencial negativa verificada
KS: alta potencia con N=10,000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669280" cy="2423160"/>
          </a:xfrm>
          <a:prstGeom prst="rect">
            <a:avLst/>
          </a:prstGeom>
          <a:solidFill>
            <a:srgbClr val="141928"/>
          </a:solidFill>
          <a:ln w="254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0" cy="24231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480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Adam + L-BFGS Esencial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34340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Estrategia bifásica supera a ambos
optimizadores por separado
λ_phys=0.1 crítico para 2D complejo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A500"/>
                </a:solidFill>
                <a:latin typeface="Calibri"/>
              </a:rPr>
              <a:t>Preguntas y Comentarios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566160"/>
            <a:ext cx="7589520" cy="2103120"/>
          </a:xfrm>
          <a:prstGeom prst="rect">
            <a:avLst/>
          </a:prstGeom>
          <a:solidFill>
            <a:srgbClr val="141928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70332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Roberto Hernández Estrada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1605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"/>
              </a:rPr>
              <a:t>robertohernandezestrd@gmail.com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52628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Maestría en Ciencias de la Computación · UJAT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89204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C"/>
                </a:solidFill>
                <a:latin typeface="Calibri"/>
              </a:rPr>
              <a:t>Director: Dr. José Adán Hernández Nolasco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Calibri"/>
              </a:rPr>
              <a:t>github.com/RobertoEstradah/pinn_speckle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