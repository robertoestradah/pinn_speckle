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91625"/>
          </a:solidFill>
          <a:ln w="12700">
            <a:solidFill>
              <a:srgbClr val="0916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JUÁREZ AUTÓNOMA DE TABASCO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Académica de Ciencias y Tecnologías de la Información  |  Maestría en Ciencias de la Computación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87552"/>
            <a:ext cx="4572000" cy="2743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acelerada de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óptico mediante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PINN-SIREN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Coloquio de Avance de Tesis  —  Resultados experimentales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Hernández Estrada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Adán Hernández Nolasco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Jurado: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Pablo Pancardo García  |  Dr. Miguel A. Wister Ovando  |  Dr. Oscar A. Chávez Bosquez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75488" cy="47548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contexto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simular speckle es costoso?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1828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65376"/>
            <a:ext cx="475488" cy="47548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883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y objetivos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12140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propusimos en el protocolo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40864"/>
            <a:ext cx="1828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42032"/>
            <a:ext cx="475488" cy="47548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27980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Helmholtz · PINNs · SIREN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1828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18688"/>
            <a:ext cx="475488" cy="47548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2369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34747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LHS · Adam + L-BFGS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94176"/>
            <a:ext cx="1828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95344"/>
            <a:ext cx="475488" cy="47548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9136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NB01 a NB03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15137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1D, 2D y speckle óptico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370832"/>
            <a:ext cx="1828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572000"/>
            <a:ext cx="475488" cy="47548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572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4590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 y trabajo futuro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pendiente: benchmark FEM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5047488"/>
            <a:ext cx="1828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5248656"/>
            <a:ext cx="475488" cy="47548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5248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4400" y="52669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¿Por qué simular speckle es costoso?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cuello de botella del FEM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53949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612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con los métodos de malla (FEM)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malla ≪ 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385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λ = 638 nm, la malla necesita millones de nodos por dominio.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532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realización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de rugosidad requiere resolver el sistema completo desde cero.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0156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401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estadísticos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6758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realizaciones → costo computacional intratable.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270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270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masiva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5445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dispersas de millones × millones de incógnitas.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1143000"/>
            <a:ext cx="5852160" cy="4343400"/>
          </a:xfrm>
          <a:prstGeom prst="rect">
            <a:avLst/>
          </a:prstGeom>
          <a:solidFill>
            <a:srgbClr val="EBF5FB"/>
          </a:solidFill>
          <a:ln w="25400">
            <a:solidFill>
              <a:srgbClr val="1A6F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143000"/>
            <a:ext cx="5852160" cy="38404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1612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propuesta: PINN-SIREN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16642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1664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de malla (mesh-free)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19385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discretización espacial → sin restricción de λ.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5328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2532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red, múltiples BC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28072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solo la condición de frontera, no la arquitectura.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340156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3401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en microsegundos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36758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entrenada, genera campos instantáneamente.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4270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42702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&lt; 0.2% L2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45445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el umbral de tesis (&lt; 5%) por factor ×30.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de Investigación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1548872" cy="1280160"/>
          </a:xfrm>
          <a:prstGeom prst="rect">
            <a:avLst/>
          </a:prstGeom>
          <a:solidFill>
            <a:srgbClr val="0A2A4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11183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PINNs con activación sinusoidal (SIREN) pueden simular el campo eléctrico</a:t>
            </a:r>
            <a:endParaRPr lang="en-US" sz="3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speckle óptico resolviendo la ecuación de Helmholtz 2D con </a:t>
            </a:r>
            <a:endParaRPr lang="en-US" sz="3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L₂ &lt; 5%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respecto</a:t>
            </a:r>
            <a:endParaRPr lang="en-US" sz="3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solución de referencia, y con un </a:t>
            </a:r>
            <a:endParaRPr lang="en-US" sz="3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Factor S = T_FEM / T_PINN &gt; 1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respecto al FEM."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3127248"/>
            <a:ext cx="8229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1272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3127248"/>
            <a:ext cx="25603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12724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3154680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SIREN en Helmholtz 1D con solución analítica exacta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877056"/>
            <a:ext cx="8229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87705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3877056"/>
            <a:ext cx="25603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877056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72768" y="3904488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Helmholtz 2D con campo complejo y muestreo LHS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626864"/>
            <a:ext cx="8229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6268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34440" y="4626864"/>
            <a:ext cx="25603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62686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72768" y="4654296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speckle óptico con BC de fase aleatoria y validar estadísticamente (C ≈ 1, KS test)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5376672"/>
            <a:ext cx="822960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3766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34440" y="5376672"/>
            <a:ext cx="256032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537667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72768" y="5404104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Speed-up Factor S = T_FEM / T_PINN contra FEniCSx (pendiente)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Helmholtz · PINNs · SIREN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36576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Helmholtz 2D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∇²E + k²E = 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∂²E/∂x² + ∂²E/∂y² + (2π)²E =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k̃ = 2π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(adimensional, λ = 638 nm)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3291840" cy="1828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358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Ω = [0,1]²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rojo, λ = 638 nm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Normalización: x̃ = x/λ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14300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143000"/>
            <a:ext cx="3657600" cy="34747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Neural Nets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L_datos + λ·L_física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43400" y="2176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L_datos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 condiciones de frontera (BC)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28620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L_física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2862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 PDE en puntos de colocación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43400" y="35478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λ_fís = 0.1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calibrado — crítico para 2D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3400" y="42336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 + L-BFGS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bifásica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14300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143000"/>
            <a:ext cx="36576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— Activación Sinusoidal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φ(z) = sin(ω₀·z)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2104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ω₀ = 1.0  (dominio [0,1]²)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0" y="2468880"/>
            <a:ext cx="3291840" cy="1828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2578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Derivadas de orden arbitrario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30540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Inicialización Sitzmann (2020)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Estable con L-BFGS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4005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Supera sesgo espectral de tanh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SIREN · LHS · Adam + L-BFGS · Función de pérdida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557784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612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SIREN 5×128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594360" cy="8686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544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1892808"/>
            <a:ext cx="17373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9576" y="1554480"/>
            <a:ext cx="594360" cy="86868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15544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73936" y="1892808"/>
            <a:ext cx="17373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7672" y="1554480"/>
            <a:ext cx="594360" cy="86868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15544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1892808"/>
            <a:ext cx="17373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15768" y="1554480"/>
            <a:ext cx="594360" cy="86868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15544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1892808"/>
            <a:ext cx="17373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3864" y="1554480"/>
            <a:ext cx="594360" cy="86868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3864" y="15544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78224" y="1892808"/>
            <a:ext cx="17373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1554480"/>
            <a:ext cx="594360" cy="86868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15544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892808"/>
            <a:ext cx="17373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0056" y="1554480"/>
            <a:ext cx="59436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0056" y="15544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(E_r, E_i)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24963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capas ocultas × 128 neuronas · sin(ω₀·z), ω₀=1.0 · 66,690 parámetros · Init. Sitzmann (2020)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1143000"/>
            <a:ext cx="5669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1143000"/>
            <a:ext cx="5669280" cy="32918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por Hipercubo Latino (LHS)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1554480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 = 3,000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puntos de colocación interior
</a:t>
            </a:r>
            <a:pPr indent="0" marL="0">
              <a:buNone/>
            </a:pPr>
            <a:r>
              <a:rPr lang="en-US" sz="1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N_b = 300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puntos/borde (frontera)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N_φ = 256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puntos de fase rugosa (speckle)
</a:t>
            </a:r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uniforme sin patrones redundantes de malla cartesiana.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56616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566160"/>
            <a:ext cx="5577840" cy="329184"/>
          </a:xfrm>
          <a:prstGeom prst="rect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84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Adam + L-BFGS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1480" y="4005072"/>
            <a:ext cx="2468880" cy="1737360"/>
          </a:xfrm>
          <a:prstGeom prst="rect">
            <a:avLst/>
          </a:prstGeom>
          <a:solidFill>
            <a:srgbClr val="EBF5FB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Adam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352544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1×10⁻³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15,000 épocas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paciencia 800 épocas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44368" y="4754880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44368" y="46268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337560" y="4005072"/>
            <a:ext cx="237744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L-BFGS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83280" y="4352544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Wolfe line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1,000 iter.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Historial: 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de alta precisión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3566160"/>
            <a:ext cx="56692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3566160"/>
            <a:ext cx="5669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584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Pérdida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263640" y="40050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L_datos  +  λ_fís · (L_R_real + L_R_imag)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263640" y="4462272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λ_fís = 0.1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(crítico — duplica efectivamente el peso de la física si λ=1.0)
</a:t>
            </a:r>
            <a:pPr indent="0" marL="0">
              <a:buNone/>
            </a:pPr>
            <a:r>
              <a:rPr lang="en-US" sz="1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L_datos: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sobre condiciones de frontera (BC)
</a:t>
            </a:r>
            <a:pPr indent="0" marL="0">
              <a:buNone/>
            </a:pPr>
            <a:r>
              <a:rPr lang="en-US" sz="1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L_R: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 de Helmholtz en N_c puntos de colocación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NB01 — Validación Helmholtz 1D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SIREN 5×64  ·  k = 2π  ·  Solución analítica: E(x) = cos(kx)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560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743200" cy="5486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560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34440"/>
            <a:ext cx="2743200" cy="5486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71600"/>
            <a:ext cx="2560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3.50×10⁻⁵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7220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12344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52560" y="1234440"/>
            <a:ext cx="27432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371600"/>
            <a:ext cx="2560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9828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88920"/>
            <a:ext cx="539496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07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de entrenamiento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54680"/>
          <a:ext cx="5303520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Épocas 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 / 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Iteraciones L-BFGS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 /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máximo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5.77×10⁻⁵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3.9×10⁻⁵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Correlación Pearson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RTX 5050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989320" y="2788920"/>
            <a:ext cx="5852160" cy="3200400"/>
          </a:xfrm>
          <a:prstGeom prst="rect">
            <a:avLst/>
          </a:prstGeom>
          <a:solidFill>
            <a:srgbClr val="EBF5FB"/>
          </a:solidFill>
          <a:ln w="25400">
            <a:solidFill>
              <a:srgbClr val="1A6FA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89320" y="2788920"/>
            <a:ext cx="5852160" cy="32918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28072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vs Estado del Arte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154680"/>
          <a:ext cx="5760720" cy="118872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1887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A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Schoder &amp; Kraxberger (2024)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PINN-SIREN (este trabajo)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6080760" y="44348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Factor de mejora: ×415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6080760" y="49377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L₂ &lt; 5% se cumple con margen de casi 3 órdenes de magnitud.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1.000000 — ajuste prácticamente perfecto en toda la malla de evaluación.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NB02 — Helmholtz 2D con Campo Complejo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SIREN 5×128  ·  LHS 3,000 pts  ·  Onda plana E = e^{i(k_x·x + k_y·y)}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560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promedio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743200" cy="5486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560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E_real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344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71600"/>
            <a:ext cx="2560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0.127%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7220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E_imag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12344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52560" y="1234440"/>
            <a:ext cx="27432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371600"/>
            <a:ext cx="2560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9828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88920"/>
            <a:ext cx="539496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07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componente del campo complejo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54680"/>
          <a:ext cx="530352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508760"/>
                <a:gridCol w="150876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E_imag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L₂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Épocas 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8,737 / 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L-BFGS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1,035 iter.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989320" y="2788920"/>
            <a:ext cx="5852160" cy="3200400"/>
          </a:xfrm>
          <a:prstGeom prst="rect">
            <a:avLst/>
          </a:prstGeom>
          <a:solidFill>
            <a:srgbClr val="EBF5FB"/>
          </a:solidFill>
          <a:ln w="25400">
            <a:solidFill>
              <a:srgbClr val="1A6FA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89320" y="2788920"/>
            <a:ext cx="5852160" cy="32918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28072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080760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46520" y="3218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de capacidad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46520" y="3474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d = 64 → 128 redujo el error promedio de 0.436% a 0.171% (mejora ×2.5).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080760" y="3913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46520" y="39136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 vs malla uniforme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446520" y="41696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 redujo el error en regiones de baja densidad vs mallas cartesianas equivalentes.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080760" y="46085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446520" y="46085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λ_fís = 0.1 crítico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446520" y="48646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λ=1.0, la red no converge — dos residuos (real + imag) doblan el peso de la física.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080760" y="5303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446520" y="5303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vs Schoder 2D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46520" y="55595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0.171% vs 1.91% → factor ×11.2 de mejora. Meta &lt; 5% superada ampliamente.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NB03 — Simulación de Speckle Óptico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rugosa: φ(x) ~ U(0,2π) en y=0  ·  Bordes x=0, x=1, y=1: libres  ·  N_φ = 256 pts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9260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9260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74320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1.0253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10997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|C-1| = 0.025 &lt; 0.1  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331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 = σ_I/⟨I⟩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234440"/>
            <a:ext cx="25603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34440"/>
            <a:ext cx="25603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371600"/>
            <a:ext cx="23774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20440" y="210997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potencia estadística 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p-valor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5603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34440"/>
            <a:ext cx="2560320" cy="5486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71600"/>
            <a:ext cx="23774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7,976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09360" y="210997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15,000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 Adam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1234440"/>
            <a:ext cx="283464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06840" y="1234440"/>
            <a:ext cx="283464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371600"/>
            <a:ext cx="26517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98280" y="210997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RTX 5050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2880360"/>
            <a:ext cx="5029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880360"/>
            <a:ext cx="5029200" cy="329184"/>
          </a:xfrm>
          <a:prstGeom prst="rect">
            <a:avLst/>
          </a:prstGeom>
          <a:solidFill>
            <a:srgbClr val="0D4A3A"/>
          </a:solidFill>
          <a:ln w="12700">
            <a:solidFill>
              <a:srgbClr val="0D4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98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estadística — Criterio Goodman (2007)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46120"/>
          <a:ext cx="4937760" cy="2606040"/>
        </p:xfrm>
        <a:graphic>
          <a:graphicData uri="http://schemas.openxmlformats.org/drawingml/2006/table">
            <a:tbl>
              <a:tblPr/>
              <a:tblGrid>
                <a:gridCol w="2103120"/>
                <a:gridCol w="1508760"/>
                <a:gridCol w="13258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Teórico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σ_I/⟨I⟩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1.0253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|C - 1|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p-valor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 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Frac. I &gt; 2⟨I⟩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e⁻² ≈ 0.135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L-BFGS iter.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669280" y="2880360"/>
            <a:ext cx="6172200" cy="3108960"/>
          </a:xfrm>
          <a:prstGeom prst="rect">
            <a:avLst/>
          </a:prstGeom>
          <a:solidFill>
            <a:srgbClr val="E8FFF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9280" y="2880360"/>
            <a:ext cx="6172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2898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resultados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760720" y="3310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0760" y="33101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1.0253 confirma speckle totalmente desarrollado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080760" y="356616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Goodman cumplido: la distribución de intensidades sigue la ley exponencial negativa.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760720" y="3968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080760" y="3968496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agnóstica a la condición de frontera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080760" y="4224528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SIREN 5×128 de NB02 genera speckle cambiando solo la BC en y=0. Sin modificar la red.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760720" y="46268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080760" y="4626864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KS: alta potencia estadística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080760" y="488289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 = 10,000 puntos, el test KS rechaza H₀ ante desviaciones &lt; 1%. El fallo es del test, no del modelo.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760720" y="52852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080760" y="5285232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física: falta condición de Sommerfeld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080760" y="5541264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borde y=1 sin condición absorbente genera reflexiones espurias → trabajo futuro (NB04+).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con el Estado del Arte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PINN-SIREN vs Schoder &amp; Kraxberger (2024)  ·  arXiv:2403.06623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3200400"/>
        </p:xfrm>
        <a:graphic>
          <a:graphicData uri="http://schemas.openxmlformats.org/drawingml/2006/table">
            <a:tbl>
              <a:tblPr/>
              <a:tblGrid>
                <a:gridCol w="5029200"/>
                <a:gridCol w="1097280"/>
                <a:gridCol w="2286000"/>
                <a:gridCol w="2834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L₂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de mejora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Schoder &amp; Kraxberger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PINNs convencionales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Schoder &amp; Kraxberger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PINNs convencionales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PINN-SIREN (este trabajo)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415 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PINN-SIREN (este trabajo)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6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6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11.2 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17720"/>
            <a:ext cx="5303520" cy="1691640"/>
          </a:xfrm>
          <a:prstGeom prst="rect">
            <a:avLst/>
          </a:prstGeom>
          <a:solidFill>
            <a:srgbClr val="EBF5F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66344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×415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48640" y="54406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mejora en 1D sobre Schoder (2024)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solidFill>
            <a:srgbClr val="EBF5FB"/>
          </a:solidFill>
          <a:ln w="25400">
            <a:solidFill>
              <a:srgbClr val="1A6F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466344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×11.2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6492240" y="54406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mejora en 2D sobre Schoder (2024)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general a la fecha del coloquio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0058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Helmholtz 1D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= 0.006%  ·  R² = 1.000000  ·  t = 251 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1325880"/>
            <a:ext cx="237744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17320" y="1801368"/>
            <a:ext cx="7772400" cy="10972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1801368"/>
            <a:ext cx="77724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40280"/>
            <a:ext cx="10058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Helmholtz 2D Campo Complejo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560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L₂_avg = 0.171%  ·  Adam 8,737 épocas  ·  t = 299 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09760" y="2331720"/>
            <a:ext cx="237744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17320" y="2807208"/>
            <a:ext cx="7772400" cy="10972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2807208"/>
            <a:ext cx="77724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246120"/>
            <a:ext cx="10058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46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Óptico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5661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1.0253 ✅  ·  KS p&lt;0.001  ·  t = 227 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09760" y="3337560"/>
            <a:ext cx="237744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17320" y="3813048"/>
            <a:ext cx="7772400" cy="10972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3813048"/>
            <a:ext cx="77724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251960"/>
            <a:ext cx="100584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51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1732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FEM (FEniCSx)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17320" y="45720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Factor S = T_FEM / T_PINN  ·  Próxima etapa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09760" y="4343400"/>
            <a:ext cx="237744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17320" y="4818888"/>
            <a:ext cx="7772400" cy="10972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5257800"/>
            <a:ext cx="1005840" cy="54864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5257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41732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LaTeX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17320" y="55778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páginas  ·  Español + Abstract EN  ·  pdflatex + biber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509760" y="5349240"/>
            <a:ext cx="2377440" cy="36576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0" y="5349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17320" y="5824728"/>
            <a:ext cx="7772400" cy="10972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17320" y="5824728"/>
            <a:ext cx="7772400" cy="10972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1640312" cy="2057400"/>
          </a:xfrm>
          <a:prstGeom prst="rect">
            <a:avLst/>
          </a:prstGeom>
          <a:solidFill>
            <a:srgbClr val="0A2A45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1640312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11457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— Benchmark FEM: Cuantificar el Speed-up Factor  (prioridad inmediata)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T_FEM / T_PINN</a:t>
            </a:r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donde T_FEM se mide con FEniCSx (misma malla, misma BC, mismo dominio)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Linux/WSL2 con conda-forge (fenics-dolfinx)  ·  Comparación justa: PINN vs FEM en hardware idéntico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objetivo: tiempo de wall-clock, uso de memoria pico, error L₂ relativo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a mediano plazo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858768"/>
            <a:ext cx="1005840" cy="502920"/>
          </a:xfrm>
          <a:prstGeom prst="rect">
            <a:avLst/>
          </a:prstGeom>
          <a:solidFill>
            <a:srgbClr val="0A2A45"/>
          </a:solidFill>
          <a:ln w="12700">
            <a:solidFill>
              <a:srgbClr val="3A6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8587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NB05-06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3895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 inhomogéneos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413308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Helmholtz con índice de refracción variable n(r). Relevante para materiales GRIN y tejidos biológicos.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681728"/>
            <a:ext cx="1005840" cy="502920"/>
          </a:xfrm>
          <a:prstGeom prst="rect">
            <a:avLst/>
          </a:prstGeom>
          <a:solidFill>
            <a:srgbClr val="0A2A45"/>
          </a:solidFill>
          <a:ln w="12700">
            <a:solidFill>
              <a:srgbClr val="3A6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681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47183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en medios GRIN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956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en materiales con perfil de índice gradiente. Impacto en imágenes biomédicas y comunicaciones ópticas.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5504688"/>
            <a:ext cx="1005840" cy="502920"/>
          </a:xfrm>
          <a:prstGeom prst="rect">
            <a:avLst/>
          </a:prstGeom>
          <a:solidFill>
            <a:srgbClr val="0A2A45"/>
          </a:solidFill>
          <a:ln w="12700">
            <a:solidFill>
              <a:srgbClr val="3A6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55046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55412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Sommerfeld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77900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L_rad = |∂E/∂n − ikE|² en y=1 para modelar propagación libre. Elimina reflexiones espurias → mejora el test KS.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demostramos hasta ahora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10954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muy superior al umbral de la tesis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10954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SIREN-PINN alcanzó L₂ = 0.006% (1D) y L₂ = 0.171% (2D) — ambos con R² &gt; 0.9999. La meta de &lt; 5% se supera por factores ×415 y ×11.2 respecto a Schoder (2024).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67712"/>
            <a:ext cx="502920" cy="50292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10954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es agnóstica a la condición de frontera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569464"/>
            <a:ext cx="10954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SIREN 5×128 resuelve onda plana suave (NB02) y fase rugosa aleatoria (NB03) sin modificar la arquitectura ni la función de pérdida — solo cambia el dato en y=0.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46704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364992"/>
            <a:ext cx="10954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estadística del speckle (criterio Goodman)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648456"/>
            <a:ext cx="10954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1.0253 (|C−1| = 0.025 &lt; 0.1 ✅). El fallo del test KS se atribuye a la alta potencia estadística con N=10,000 puntos, no a un defecto del modelo.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425696"/>
            <a:ext cx="502920" cy="50292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443984"/>
            <a:ext cx="10954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Adam + L-BFGS y λ_fís = 0.1 son determinantes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727448"/>
            <a:ext cx="10954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bifase Adam (exploración global) + L-BFGS (refinamiento de 2.º orden) y el peso calibrado λ=0.1 fueron críticos para la convergencia en 2D. Cada componente es necesario.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5504688"/>
            <a:ext cx="502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5522976"/>
            <a:ext cx="10954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cuantificar el Speed-up Factor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5806440"/>
            <a:ext cx="10954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medirá S = T_FEM/T_PINN con FEniCSx. Este benchmark cerrará la hipótesis completa de la tesis y será el resultado central del artículo.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73175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091625"/>
          </a:solidFill>
          <a:ln w="12700">
            <a:solidFill>
              <a:srgbClr val="0916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Neuronales Informadas por Física para la Simulación de Speckle Óptico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114800" cy="2743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Hernández Estrada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robertohernandezestrd@gmail.com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Ciencias de la Computación — UJAT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Dr. José Adán Hernández Nolasco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0" y="2011680"/>
            <a:ext cx="3840480" cy="3886200"/>
          </a:xfrm>
          <a:prstGeom prst="rect">
            <a:avLst/>
          </a:prstGeom>
          <a:solidFill>
            <a:srgbClr val="09162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2084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resultados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83880" y="2468880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4688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15400" y="2514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= 0.006%  ·  ×415 vs Schoder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3127248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12724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15400" y="3172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= 0.171%  ·  ×11.2 vs Schoder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3880" y="3785616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7856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15400" y="3831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1.0253 ✅  ·  t = 227 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4443984"/>
            <a:ext cx="68580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44398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15400" y="44897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S = T_FEM/T_PINN  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5102352"/>
            <a:ext cx="685800" cy="347472"/>
          </a:xfrm>
          <a:prstGeom prst="rect">
            <a:avLst/>
          </a:prstGeom>
          <a:solidFill>
            <a:srgbClr val="1A6FA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51023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15400" y="5148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pp. LaTeX  ·  ES + EN Abstract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Juárez Autónoma de Tabasco  ·  DACTIE  ·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Coloquio de Avance — PINN-SIREN para Speckle Óptico</dc:title>
  <dc:subject>PptxGenJS Presentation</dc:subject>
  <dc:creator>Roberto Hernández Estrada</dc:creator>
  <cp:lastModifiedBy>Roberto Hernández Estrada</cp:lastModifiedBy>
  <cp:revision>1</cp:revision>
  <dcterms:created xsi:type="dcterms:W3CDTF">2026-05-31T22:34:27Z</dcterms:created>
  <dcterms:modified xsi:type="dcterms:W3CDTF">2026-05-31T22:34:27Z</dcterms:modified>
</cp:coreProperties>
</file>